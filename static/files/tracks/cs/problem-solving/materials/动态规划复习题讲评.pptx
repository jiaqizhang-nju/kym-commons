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3"/>
    <p:sldId id="311" r:id="rId4"/>
    <p:sldId id="304" r:id="rId5"/>
    <p:sldId id="305" r:id="rId6"/>
    <p:sldId id="312" r:id="rId7"/>
    <p:sldId id="306" r:id="rId8"/>
    <p:sldId id="307" r:id="rId9"/>
    <p:sldId id="309" r:id="rId10"/>
    <p:sldId id="310" r:id="rId11"/>
    <p:sldId id="314" r:id="rId12"/>
    <p:sldId id="316" r:id="rId13"/>
    <p:sldId id="315" r:id="rId14"/>
    <p:sldId id="317" r:id="rId15"/>
    <p:sldId id="313" r:id="rId16"/>
    <p:sldId id="296" r:id="rId17"/>
    <p:sldId id="297" r:id="rId18"/>
    <p:sldId id="299" r:id="rId19"/>
    <p:sldId id="300" r:id="rId20"/>
    <p:sldId id="301" r:id="rId21"/>
    <p:sldId id="302" r:id="rId22"/>
    <p:sldId id="330" r:id="rId23"/>
    <p:sldId id="331" r:id="rId24"/>
    <p:sldId id="332" r:id="rId25"/>
    <p:sldId id="333" r:id="rId26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FF6699"/>
    <a:srgbClr val="FFFF66"/>
    <a:srgbClr val="FFFFFF"/>
    <a:srgbClr val="FFFF99"/>
    <a:srgbClr val="00FFFF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80"/>
        <p:guide pos="293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457200"/>
            <a:r>
              <a:rPr lang="zh-CN" altLang="en-US"/>
              <a:t>第二级</a:t>
            </a:r>
            <a:endParaRPr lang="zh-CN" altLang="en-US"/>
          </a:p>
          <a:p>
            <a:pPr lvl="2" indent="914400"/>
            <a:r>
              <a:rPr lang="zh-CN" altLang="en-US"/>
              <a:t>第三级</a:t>
            </a:r>
            <a:endParaRPr lang="zh-CN" altLang="en-US"/>
          </a:p>
          <a:p>
            <a:pPr lvl="3" indent="1371600"/>
            <a:r>
              <a:rPr lang="zh-CN" altLang="en-US"/>
              <a:t>第四级</a:t>
            </a:r>
            <a:endParaRPr lang="zh-CN" altLang="en-US"/>
          </a:p>
          <a:p>
            <a:pPr lvl="4" indent="1828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/>
          <p:cNvPicPr>
            <a:picLocks noChangeAspect="1"/>
          </p:cNvPicPr>
          <p:nvPr/>
        </p:nvPicPr>
        <p:blipFill>
          <a:blip r:embed="rId2"/>
          <a:srcRect t="9244" b="10210"/>
          <a:stretch>
            <a:fillRect/>
          </a:stretch>
        </p:blipFill>
        <p:spPr>
          <a:xfrm>
            <a:off x="0" y="1092200"/>
            <a:ext cx="9144000" cy="5011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38400" y="2527300"/>
            <a:ext cx="5132700" cy="1108700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853689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27600" y="3913200"/>
            <a:ext cx="5146200" cy="6207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628650" y="1121434"/>
            <a:ext cx="7886700" cy="5176800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  <a:lvl2pPr marL="0" indent="0">
              <a:buNone/>
              <a:defRPr sz="1500" b="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H_Title"/>
          <p:cNvSpPr/>
          <p:nvPr/>
        </p:nvSpPr>
        <p:spPr>
          <a:xfrm>
            <a:off x="1925638" y="3024188"/>
            <a:ext cx="6188075" cy="80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0" rIns="0" bIns="0" rtlCol="0" anchor="ctr">
            <a:normAutofit/>
          </a:bodyPr>
          <a:lstStyle/>
          <a:p>
            <a:pPr fontAlgn="base"/>
            <a:endParaRPr lang="zh-CN" altLang="en-US" sz="3200" strike="noStrike" noProof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MH_Others_1"/>
          <p:cNvSpPr/>
          <p:nvPr/>
        </p:nvSpPr>
        <p:spPr>
          <a:xfrm>
            <a:off x="1030288" y="3078163"/>
            <a:ext cx="693738" cy="692150"/>
          </a:xfrm>
          <a:prstGeom prst="ellipse">
            <a:avLst/>
          </a:prstGeom>
          <a:noFill/>
          <a:ln w="31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400" strike="noStrike" noProof="1" dirty="0">
              <a:solidFill>
                <a:schemeClr val="accent1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MH_Others_2"/>
          <p:cNvSpPr/>
          <p:nvPr/>
        </p:nvSpPr>
        <p:spPr>
          <a:xfrm>
            <a:off x="1825625" y="3024188"/>
            <a:ext cx="100013" cy="8001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fontAlgn="base"/>
            <a:endParaRPr lang="zh-CN" altLang="en-US" sz="2400" strike="noStrike" noProof="1">
              <a:solidFill>
                <a:srgbClr val="1C97C2"/>
              </a:solidFill>
            </a:endParaRPr>
          </a:p>
        </p:txBody>
      </p:sp>
      <p:sp>
        <p:nvSpPr>
          <p:cNvPr id="10" name="MH_Number"/>
          <p:cNvSpPr/>
          <p:nvPr/>
        </p:nvSpPr>
        <p:spPr>
          <a:xfrm>
            <a:off x="1995488" y="3225800"/>
            <a:ext cx="371475" cy="53181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92500" lnSpcReduction="10000"/>
          </a:bodyPr>
          <a:lstStyle/>
          <a:p>
            <a:pPr algn="ctr" fontAlgn="base"/>
            <a:endParaRPr lang="zh-CN" altLang="en-US" sz="4050" strike="noStrike" noProof="1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926415" y="3024000"/>
            <a:ext cx="6187527" cy="800666"/>
          </a:xfrm>
        </p:spPr>
        <p:txBody>
          <a:bodyPr lIns="180000" tIns="0" rIns="0" bIns="0" anchor="ctr" anchorCtr="0">
            <a:normAutofit/>
          </a:bodyPr>
          <a:lstStyle>
            <a:lvl1pPr algn="l">
              <a:defRPr sz="2800" b="0">
                <a:solidFill>
                  <a:schemeClr val="accent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2790103" y="4408317"/>
            <a:ext cx="4245697" cy="494755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en-US" altLang="zh-CN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628650" y="1244602"/>
            <a:ext cx="3810000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694763" y="1244602"/>
            <a:ext cx="3820587" cy="4932363"/>
          </a:xfrm>
        </p:spPr>
        <p:txBody>
          <a:bodyPr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85800" indent="-342900">
              <a:buClrTx/>
              <a:buFont typeface="Arial" panose="020B0604020202020204" pitchFamily="34" charset="0"/>
              <a:buChar char="•"/>
              <a:defRPr sz="2000"/>
            </a:lvl2pPr>
            <a:lvl3pPr marL="971550" indent="-285750">
              <a:buFont typeface="Arial" panose="020B0604020202020204" pitchFamily="34" charset="0"/>
              <a:buChar char="•"/>
              <a:defRPr/>
            </a:lvl3pPr>
            <a:lvl4pPr marL="1314450" indent="-285750">
              <a:buFont typeface="Arial" panose="020B0604020202020204" pitchFamily="34" charset="0"/>
              <a:buChar char="•"/>
              <a:defRPr/>
            </a:lvl4pPr>
            <a:lvl5pPr marL="1657350" indent="-285750">
              <a:buFont typeface="Arial" panose="020B0604020202020204" pitchFamily="34" charset="0"/>
              <a:buChar char="•"/>
              <a:defRPr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38000" y="2750400"/>
            <a:ext cx="4468000" cy="780200"/>
          </a:xfrm>
        </p:spPr>
        <p:txBody>
          <a:bodyPr lIns="0" tIns="0" rIns="0" bIns="72000">
            <a:noAutofit/>
          </a:bodyPr>
          <a:lstStyle>
            <a:lvl1pPr>
              <a:defRPr sz="2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28650" y="954088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8650" y="2278063"/>
            <a:ext cx="7886700" cy="0"/>
          </a:xfrm>
          <a:prstGeom prst="line">
            <a:avLst/>
          </a:prstGeom>
          <a:ln>
            <a:solidFill>
              <a:srgbClr val="311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30000" y="2432795"/>
            <a:ext cx="7885350" cy="3729971"/>
          </a:xfrm>
        </p:spPr>
        <p:txBody>
          <a:bodyPr anchor="ctr" anchorCtr="0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fontAlgn="auto"/>
            <a:r>
              <a:rPr lang="zh-CN" altLang="en-US" strike="noStrike" noProof="1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628200" y="1040400"/>
            <a:ext cx="7887600" cy="11700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28650" y="166056"/>
            <a:ext cx="7886702" cy="719716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7B1873A2-D93D-4A0E-B684-E905E95F0B0B}" type="datetimeFigureOut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0EE969A2-5029-44B4-98D3-0CD658CAAE18}" type="slidenum">
              <a:rPr lang="zh-CN" altLang="en-US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7822" y="365124"/>
            <a:ext cx="886883" cy="5845175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26250" cy="5845175"/>
          </a:xfrm>
        </p:spPr>
        <p:txBody>
          <a:bodyPr vert="eaVert"/>
          <a:lstStyle>
            <a:lvl1pPr>
              <a:defRPr sz="2400"/>
            </a:lvl1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49" y="265113"/>
            <a:ext cx="7886701" cy="5995987"/>
          </a:xfrm>
        </p:spPr>
        <p:txBody>
          <a:bodyPr/>
          <a:lstStyle>
            <a:lvl1pPr>
              <a:defRPr sz="2400"/>
            </a:lvl1pPr>
            <a:lvl2pPr marL="257175" indent="-257175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628650" y="1120775"/>
            <a:ext cx="7886700" cy="517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5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628650" y="166688"/>
            <a:ext cx="7886700" cy="8382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7B1873A2-D93D-4A0E-B684-E905E95F0B0B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7698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769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fontAlgn="base"/>
            <a:fld id="{0EE969A2-5029-44B4-98D3-0CD658CAAE18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1780" indent="-271780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ebdings" panose="05030102010509060703" pitchFamily="18" charset="2"/>
        <a:buChar char="Ù"/>
        <a:defRPr lang="zh-CN" altLang="en-US" sz="24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None/>
        <a:defRPr sz="15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2056765" y="1932304"/>
            <a:ext cx="5132705" cy="1679575"/>
          </a:xfrm>
          <a:prstGeom prst="rect">
            <a:avLst/>
          </a:prstGeom>
          <a:effectLst>
            <a:glow rad="139700">
              <a:srgbClr val="00AEEF">
                <a:satMod val="175000"/>
                <a:alpha val="40000"/>
              </a:srgbClr>
            </a:glow>
          </a:effectLst>
        </p:spPr>
        <p:txBody>
          <a:bodyPr vert="horz" lIns="91440" tIns="45720" rIns="91440" bIns="45720" rtlCol="0" anchor="b">
            <a:normAutofit fontScale="80000"/>
          </a:bodyPr>
          <a:lstStyle>
            <a:lvl1pPr algn="ctr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baseline="0">
                <a:solidFill>
                  <a:srgbClr val="853689"/>
                </a:solidFill>
                <a:effectLst/>
                <a:latin typeface="Arial" panose="020B0604020202020204" pitchFamily="34" charset="0"/>
                <a:ea typeface="黑体" panose="02010600030101010101" charset="-122"/>
                <a:cs typeface="+mn-ea"/>
              </a:defRPr>
            </a:lvl1pPr>
          </a:lstStyle>
          <a:p>
            <a:pPr fontAlgn="base">
              <a:lnSpc>
                <a:spcPct val="110000"/>
              </a:lnSpc>
            </a:pPr>
            <a:r>
              <a:rPr lang="zh-CN" sz="72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动态规划</a:t>
            </a:r>
            <a:b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sz="4400" strike="noStrike" noProof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复习题讲评</a:t>
            </a:r>
            <a:endParaRPr lang="zh-CN" sz="4400" strike="noStrike" noProof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170" name="副标题 2"/>
          <p:cNvSpPr>
            <a:spLocks noGrp="1"/>
          </p:cNvSpPr>
          <p:nvPr/>
        </p:nvSpPr>
        <p:spPr>
          <a:xfrm>
            <a:off x="1855788" y="4071938"/>
            <a:ext cx="5689600" cy="7524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/>
          <a:p>
            <a:pPr lvl="0" indent="0" algn="ctr">
              <a:lnSpc>
                <a:spcPct val="110000"/>
              </a:lnSpc>
              <a:spcBef>
                <a:spcPts val="900"/>
              </a:spcBef>
              <a:buClr>
                <a:srgbClr val="2CBEBB"/>
              </a:buClr>
              <a:buSzPct val="80000"/>
              <a:buFont typeface="Webdings" panose="05030102010509060703" pitchFamily="18" charset="2"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NKOJ3787</a:t>
            </a:r>
            <a:r>
              <a:rPr lang="zh-CN" altLang="en-US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3790</a:t>
            </a:r>
            <a:r>
              <a:rPr lang="en-US" altLang="en-US" sz="24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3792, 3793, 3794</a:t>
            </a:r>
            <a:endParaRPr lang="en-US" altLang="en-US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礼物和糖果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NKOJ3793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礼物和糖果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NKOJ3793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1101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有M元钱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，有N种礼品，若第i种礼品买x(x&gt;0)件的话，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会获得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Ai*x+Bi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颗糖果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。现给出每种礼品的单价Wi、Ai值与Bi值，问最多能得到多少颗糖果？</a:t>
            </a:r>
            <a:b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1 ≤ M ≤ 2000      1 ≤ N ≤ 1000     0 ≤ Ai, Bi ≤ 2000     1 ≤ Wi ≤ 2000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4795" y="1831340"/>
            <a:ext cx="8434705" cy="685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这显然是一个</a:t>
            </a:r>
            <a:r>
              <a:rPr lang="zh-CN"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背包问题</a:t>
            </a: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，给定背包容量m，物品种类n，每种物品的体积w[i]，第</a:t>
            </a:r>
            <a:r>
              <a:rPr lang="en-US" alt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500" dirty="0" smtClean="0">
                <a:latin typeface="微软雅黑 Light" panose="020B0502040204020203" charset="-122"/>
                <a:ea typeface="微软雅黑 Light" panose="020B0502040204020203" charset="-122"/>
              </a:rPr>
              <a:t>种物品选</a:t>
            </a: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x个对应的价值a[i]*x+b[i]，求最大的价值。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2556510"/>
            <a:ext cx="8434705" cy="98298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对于第i件商品，如果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只买1个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，得到的价值是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Ai+Bi</a:t>
            </a:r>
            <a:endParaRPr sz="15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如果在买1个的基础上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再买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，得到的价值就是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Ai</a:t>
            </a:r>
            <a:endParaRPr sz="15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也就是说，除了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第一次是Ai+Bi，以后购买都是Ai</a:t>
            </a:r>
            <a:endParaRPr sz="15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3591560"/>
            <a:ext cx="8434705" cy="9829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我们能否将i号商品拆分成两种商品，其中两种商品的价格都是Wi,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第一种的价值是Ai+Bi，但是只允许买一个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第二种的价值是Ai，可以购买无限个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4795" y="4633595"/>
            <a:ext cx="8435340" cy="128016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我们讨论将商品拆分的正确性：</a:t>
            </a:r>
            <a:r>
              <a:rPr lang="zh-CN"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买第二种之前，必须要买第一种</a:t>
            </a:r>
            <a:endParaRPr lang="zh-CN" sz="15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对于这道题，由于Ai+Bi&gt;=Ai是必然的，因为Bi肯定是非负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所以对于体积相同，价值大的商品肯定会被先考虑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如果已经开始考虑第二种商品了，那么第一种商品就肯定已经被添加到背包里了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4795" y="5992495"/>
            <a:ext cx="8434705" cy="685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所以，我们把n件商品拆分成2*n件商品，对于第一种商品做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01背包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，对于第二种商品做</a:t>
            </a:r>
            <a:r>
              <a:rPr sz="1500" b="1" dirty="0" smtClean="0">
                <a:latin typeface="微软雅黑 Light" panose="020B0502040204020203" charset="-122"/>
                <a:ea typeface="微软雅黑 Light" panose="020B0502040204020203" charset="-122"/>
              </a:rPr>
              <a:t>完全背包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，这样就转换成了非常熟悉的</a:t>
            </a: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背包问题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轻松</a:t>
            </a:r>
            <a:r>
              <a:rPr sz="1500" dirty="0" smtClean="0">
                <a:latin typeface="微软雅黑 Light" panose="020B0502040204020203" charset="-122"/>
                <a:ea typeface="微软雅黑 Light" panose="020B0502040204020203" charset="-122"/>
              </a:rPr>
              <a:t>AC</a:t>
            </a:r>
            <a:r>
              <a:rPr lang="zh-CN" sz="1500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sz="15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" grpId="0" bldLvl="0" animBg="1"/>
      <p:bldP spid="3" grpId="0" bldLvl="0" animBg="1"/>
      <p:bldP spid="13" grpId="0" bldLvl="0" animBg="1"/>
      <p:bldP spid="1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礼物和糖果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NKOJ3793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5430" y="744220"/>
            <a:ext cx="8757920" cy="10420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dp[j]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表示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块钱能得到的最多糖果数。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dp[j]=max{  dp[j-w[i]]+a[i]+b[i],  dp[j-k*w[i]]+a[i] }       </a:t>
            </a:r>
            <a:endParaRPr lang="en-US" altLang="zh-CN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w[i]&lt;=j&lt;=m,  1&lt;=i&lt;=n,  1&lt;=k&lt;=j/w[i]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795" y="2125345"/>
            <a:ext cx="8759190" cy="19926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核心代码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for(i=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; i&lt;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n ; i++)    </a:t>
            </a:r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6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依次讨论每种物品，每种物品拆成两部分讨论</a:t>
            </a:r>
            <a:endParaRPr lang="zh-CN" altLang="en-US" sz="1600" dirty="0" smtClean="0">
              <a:solidFill>
                <a:schemeClr val="accent3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{  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for(j=m ; j&gt;=w[i] ; j--) dp[j]=max(dp[j] , dp[j-w[i]]+a[i]+b[i]); </a:t>
            </a:r>
            <a:r>
              <a:rPr sz="14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2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第一部分 逆向，每个物品用一次</a:t>
            </a:r>
            <a:r>
              <a:rPr sz="12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sz="1400" dirty="0" smtClean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endParaRPr sz="14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for(j=w[i] ; j&lt;=m ; j++) dp[j] = max(dp[j] , dp[j-w[i]] + a[i]);   </a:t>
            </a: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//</a:t>
            </a:r>
            <a:r>
              <a:rPr lang="zh-CN" altLang="en-US" sz="1200" dirty="0" smtClean="0">
                <a:solidFill>
                  <a:schemeClr val="accent3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第二部分 正向，每个物品用多次</a:t>
            </a:r>
            <a:endParaRPr lang="zh-CN" altLang="en-US" sz="1200" dirty="0" smtClean="0">
              <a:solidFill>
                <a:schemeClr val="accent3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} 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分糖果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NKOJ3792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NKOJ3792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1437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有n种糖果（编号1到n）,第i号糖果有Ai颗，现需要将所有糖果分给</a:t>
            </a:r>
            <a:r>
              <a:rPr 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甲乙</a:t>
            </a: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两个小朋友，要求两个小朋友得到糖果数量相等，问有多少种分法？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（可以不必将所有糖果分完。如全部都不分，每人的糖果数量为0，也算是一种分法）            1&lt;=n&lt;=200     1&lt;=Ai&lt;=200</a:t>
            </a:r>
            <a:endParaRPr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2445385"/>
            <a:ext cx="8434705" cy="80391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dp[i][j]表示</a:t>
            </a:r>
            <a:r>
              <a:rPr 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只分前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种糖果，甲比乙多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颗的方案总数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( j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可能为负 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dp[n][0]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即是问题的答案。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5105" y="4801235"/>
            <a:ext cx="3943350" cy="764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时间复杂度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O(4*n</a:t>
            </a:r>
            <a:r>
              <a:rPr lang="en-US" altLang="zh-CN" sz="1700" b="1" baseline="30000" dirty="0" smtClean="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    </a:t>
            </a:r>
            <a:endParaRPr lang="en-US" altLang="zh-CN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要降低时间复杂度，该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怎么优化？</a:t>
            </a:r>
            <a:endParaRPr lang="zh-CN" altLang="en-US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5105" y="3388360"/>
            <a:ext cx="8086090" cy="427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30000"/>
              </a:lnSpc>
            </a:pPr>
            <a:r>
              <a:rPr 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讨论第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i+1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种糖果，设甲分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颗，乙分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y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颗，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x+y&lt;=A</a:t>
            </a:r>
            <a:r>
              <a:rPr lang="en-US" altLang="zh-CN" sz="1700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i+1 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那么有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dp[i+1][x+j-y]+=dp[i][j]</a:t>
            </a:r>
            <a:endParaRPr lang="zh-CN" altLang="en-US" sz="17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5105" y="3874135"/>
            <a:ext cx="8158480" cy="764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因为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x-y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的范围是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[-A</a:t>
            </a:r>
            <a:r>
              <a:rPr lang="en-US" altLang="zh-CN" sz="1700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i+1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,A</a:t>
            </a:r>
            <a:r>
              <a:rPr lang="en-US" altLang="zh-CN" sz="1700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i+1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], 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所以我们得到递推方程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: </a:t>
            </a:r>
            <a:r>
              <a:rPr lang="en-US" altLang="zh-CN" sz="17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dp[i][j+k]+=dp[i-1][j] 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</a:t>
            </a:r>
            <a:b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1&lt;=i&lt;=n     -n*n&lt;=j&lt;=n*n      -Ai&lt;=k&lt;=Ai</a:t>
            </a:r>
            <a:endParaRPr lang="zh-CN" altLang="en-US" sz="17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/>
      <p:bldP spid="9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755015"/>
            <a:ext cx="8434705" cy="76454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dp[i][j]表示</a:t>
            </a:r>
            <a:r>
              <a:rPr 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只分前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种糖果，甲比乙多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颗的方案总数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( j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可能为负 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17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dp[i][j]=Sum{ dp[i-1][j-k]  }     1&lt;=i&lt;=n     -n*n&lt;=j&lt;=n*n      -Ai&lt;=k&lt;=Ai</a:t>
            </a:r>
            <a:endParaRPr lang="en-US" altLang="zh-CN" sz="17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1765935"/>
            <a:ext cx="7562850" cy="764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可供优化的变量有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endParaRPr lang="en-US" altLang="zh-CN" sz="17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看起来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没法优化，我们考虑能否优化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</a:rPr>
              <a:t>k,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把状态转移的时间复杂度降到O(1)</a:t>
            </a:r>
            <a:endParaRPr lang="zh-CN" altLang="en-US" sz="17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2085" y="2625725"/>
            <a:ext cx="8799830" cy="2388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讨论dp[i-1][j]对dp[i][...]的贡献：</a:t>
            </a:r>
            <a:endParaRPr lang="zh-CN" altLang="en-US" sz="17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b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</a:rPr>
              <a:t>其中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dp[i-1][j-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]*((A[i]-</a:t>
            </a:r>
            <a:r>
              <a:rPr lang="en-US" altLang="zh-CN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7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)/2+1)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表示原来甲乙相差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j-k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个糖，对于第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种糖：</a:t>
            </a:r>
            <a:b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</a:b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先拿出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个分给甲，剩下的平分，保证第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种糖分完后，甲乙两人相差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颗。</a:t>
            </a:r>
            <a:endParaRPr lang="zh-CN" altLang="en-US" sz="17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平分剩下糖果的情况有（</a:t>
            </a:r>
            <a:r>
              <a:rPr lang="en-US" altLang="zh-CN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17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i-k)/2+1种。+1是两个人人都分0个。</a:t>
            </a:r>
            <a:endParaRPr lang="zh-CN" altLang="en-US" sz="17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4795" y="5324475"/>
            <a:ext cx="3840480" cy="4476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观察上面式子，找规律，降复杂度！</a:t>
            </a:r>
            <a:endParaRPr lang="zh-CN" altLang="en-US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995" y="3086735"/>
            <a:ext cx="8970010" cy="685165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dp[i][j]=</a:t>
            </a:r>
            <a:endParaRPr lang="zh-CN" altLang="en-US" sz="16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]*((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A[i]-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)/2+1)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dp[i-1][j-(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-1)]*((A[i]-(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-1)/2+1))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+...+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dp[i-1][j]*(A[i]/2+1)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+...+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j+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]*((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A[i]-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)/2+1)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7" grpId="0" bldLvl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" y="677545"/>
            <a:ext cx="843470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dp[i][j]表示</a:t>
            </a: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只分前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种糖果，甲比乙多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颗的方案总数。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995" y="1768475"/>
            <a:ext cx="7880350" cy="1042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观察，找规律：</a:t>
            </a:r>
            <a:endParaRPr lang="zh-CN" altLang="en-US" sz="1600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当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[i] = 2时</a:t>
            </a:r>
            <a:b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dp[i][j]=dp[i-1][j-2]*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+dp[i-1][j-1]*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+dp[i-1][j-0]*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+dp[i-1][j+1]*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+dp[i-1][j+2]*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 sz="1600" b="1" dirty="0" smtClean="0">
              <a:solidFill>
                <a:schemeClr val="accent6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410" y="3535680"/>
            <a:ext cx="8951595" cy="665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当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[i] = 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endParaRPr lang="en-US" altLang="zh-CN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dp[i][j]=dp[i-1][j-3]*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+dp[i-1][j-2]*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+dp[i-1][j-1]*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+dp[i-1][j+0]*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+dp[i-1][j+1]*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+dp[i-1][j+2]*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+dp[i-1][j+3]*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 sz="1300" b="1" dirty="0" smtClean="0">
              <a:solidFill>
                <a:schemeClr val="accent6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995" y="2810510"/>
            <a:ext cx="8515350" cy="725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dp[i][j+1]=dp[i-1][j-1]*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+dp[i-1][j-0]*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+dp[i-1][j+1]*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+dp[i-1][j+2]*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+dp[i-1][j+3]*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endParaRPr lang="en-US" altLang="zh-CN" sz="1600" b="1" dirty="0" smtClean="0">
              <a:solidFill>
                <a:schemeClr val="accent6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=dp[i][j]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-0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-2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+1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+3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endParaRPr lang="en-US" altLang="zh-CN" sz="1600" b="1" dirty="0" smtClean="0">
              <a:solidFill>
                <a:schemeClr val="tx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6520" y="4236085"/>
            <a:ext cx="8951595" cy="665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dp[i][j+1]=dp[i-1][j-2]*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+dp[i-1][j-1]*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+dp[i-1][j+0]*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+dp[i-1][j+1]*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+dp[i-1][j+2]*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+dp[i-1][j+3]*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1</a:t>
            </a:r>
            <a:r>
              <a:rPr lang="en-US" altLang="zh-CN" sz="1300" b="1" dirty="0" smtClean="0">
                <a:latin typeface="微软雅黑 Light" panose="020B0502040204020203" charset="-122"/>
                <a:ea typeface="微软雅黑 Light" panose="020B0502040204020203" charset="-122"/>
              </a:rPr>
              <a:t>+dp[i-1][j+4]*</a:t>
            </a:r>
            <a: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br>
              <a:rPr lang="en-US" altLang="zh-CN" sz="13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sz="1400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       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=dp[i][j]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-3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FF0066"/>
                </a:solidFill>
                <a:latin typeface="微软雅黑 Light" panose="020B0502040204020203" charset="-122"/>
                <a:ea typeface="微软雅黑 Light" panose="020B0502040204020203" charset="-122"/>
              </a:rPr>
              <a:t>-1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+2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dp[i-1][j</a:t>
            </a:r>
            <a:r>
              <a:rPr lang="en-US" altLang="zh-CN" sz="1600" b="1" dirty="0" smtClean="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+4</a:t>
            </a:r>
            <a:r>
              <a:rPr lang="en-US" altLang="zh-CN" sz="1600" b="1" dirty="0" smtClean="0">
                <a:solidFill>
                  <a:schemeClr val="tx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endParaRPr lang="en-US" altLang="zh-CN" sz="1600" b="1" dirty="0" smtClean="0">
              <a:solidFill>
                <a:schemeClr val="tx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410" y="4853940"/>
            <a:ext cx="8515350" cy="1475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发现规律：</a:t>
            </a:r>
            <a:endParaRPr lang="zh-CN" altLang="en-US" sz="1400" dirty="0" smtClean="0">
              <a:solidFill>
                <a:schemeClr val="tx1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当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A[i]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为偶数</a:t>
            </a:r>
            <a:r>
              <a:rPr lang="zh-CN" altLang="en-US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时：</a:t>
            </a:r>
            <a:endParaRPr lang="zh-CN" altLang="en-US" sz="1400" dirty="0" smtClean="0">
              <a:solidFill>
                <a:schemeClr val="tx1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dp[i][j+1]=dp[i][j]-Sum{ dp[i-1][j-x] } + Sum{ dp[i-1][j+y] }   x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[0,A[i]]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的偶数，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[1,Ai+1]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的奇数</a:t>
            </a:r>
            <a:b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当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A[i]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为奇数</a:t>
            </a:r>
            <a:r>
              <a:rPr lang="zh-CN" altLang="en-US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时：</a:t>
            </a:r>
            <a:endParaRPr lang="zh-CN" altLang="en-US" sz="1400" dirty="0" smtClean="0">
              <a:solidFill>
                <a:schemeClr val="tx1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dp[i][j+1]=dp[i][j]-Sum{ dp[i-1][j-x] } + Sum{ dp[i-1][j+y] }   x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[1,A[i]]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的奇数，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为</a:t>
            </a:r>
            <a:r>
              <a:rPr lang="en-US" altLang="zh-CN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[2,Ai+1]</a:t>
            </a:r>
            <a:r>
              <a:rPr lang="zh-CN" altLang="en-US" sz="1400" b="1" dirty="0" smtClean="0">
                <a:solidFill>
                  <a:schemeClr val="tx1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的偶数</a:t>
            </a:r>
            <a:endParaRPr lang="zh-CN" altLang="en-US" sz="1400" b="1" dirty="0" smtClean="0">
              <a:solidFill>
                <a:schemeClr val="tx1">
                  <a:lumMod val="7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995" y="1045845"/>
            <a:ext cx="8970010" cy="685165"/>
          </a:xfrm>
          <a:prstGeom prst="rect">
            <a:avLst/>
          </a:prstGeom>
          <a:solidFill>
            <a:srgbClr val="FF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dp[i][j]=</a:t>
            </a:r>
            <a:endParaRPr lang="zh-CN" altLang="en-US" sz="16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]*((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A[i]-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)/2+1)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dp[i-1][j-(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-1)]*((A[i]-(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-1)/2+1))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+...+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dp[i-1][j]*(A[i]/2+1)</a:t>
            </a:r>
            <a:r>
              <a:rPr lang="zh-CN" altLang="en-US" sz="1400" b="1" dirty="0" smtClean="0">
                <a:solidFill>
                  <a:schemeClr val="accent6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+...+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dp[i-1][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j+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]*((</a:t>
            </a:r>
            <a:r>
              <a:rPr lang="zh-CN" altLang="en-US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A[i]-</a:t>
            </a:r>
            <a:r>
              <a:rPr lang="en-US" altLang="zh-CN" sz="1400" b="1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)/2+1)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2240" y="6421120"/>
            <a:ext cx="7139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这样我们就能把状态转移中的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这一维去掉，时间复杂度优化为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O(2n</a:t>
            </a:r>
            <a:r>
              <a:rPr lang="en-US" altLang="zh-CN" sz="1400" baseline="30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1" grpId="0"/>
      <p:bldP spid="14" grpId="0"/>
      <p:bldP spid="15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分糖果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解题小结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370" y="748665"/>
            <a:ext cx="8434705" cy="8039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将一堆物品分成两组，求最小差值，求方案数等等，</a:t>
            </a:r>
            <a:r>
              <a:rPr 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这种类型的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DP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成为差值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DP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b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典型例题还有 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NKOJ1017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Z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oj 3331，Uva562，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oj 4511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1587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学校食堂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NKOJ3790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学校食堂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NKOJ3790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3614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endParaRPr lang="en-US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学校有一食堂，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个同学排队打饭，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每个人的口味都可以用一个非负整数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Ti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表示。食堂每次只能为一个人做菜。做每道菜所需的时间和前一道菜有关的，若前一道菜的口味是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，这一道为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，则做这道菜所需的时间为（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|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）-（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&amp;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），做第一道菜是不需要计算时间的。    </a:t>
            </a:r>
            <a:endParaRPr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学校食堂不</a:t>
            </a:r>
            <a:r>
              <a:rPr 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一定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按照大家的排队顺序做菜，以缩短总的进餐时间。每个同学还是有一定容忍度的。队伍中的第i 个同学，最多允许紧跟他身后的Bi 个人先拿到饭菜。在满足所有人的容忍度这一前提下，学校食堂做完这些菜最少需要多少时间</a:t>
            </a:r>
            <a:r>
              <a:rPr 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？</a:t>
            </a:r>
            <a:br>
              <a:rPr 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1 ≤ N ≤ 1,000，0 ≤ Ti ≤ 1,000，0 ≤ Bi ≤ 7</a:t>
            </a:r>
            <a:endParaRPr lang="zh-CN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endParaRPr lang="zh-CN" sz="1700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学校食堂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360" y="730250"/>
            <a:ext cx="8482330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假如第i个人还没有打饭，则i+7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绝不可能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打过饭了，因为第i个人的最大容忍度不会超过7；</a:t>
            </a:r>
            <a:b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如果第i个人之前全部取完了，则目前为止最后一个打饭的人不可能是i-8之前的人，因为i-1不可能先于i-9及之前的人打饭。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第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个人最多与后面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个人产生关系，所以可以用一个集合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来记录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后面</a:t>
            </a:r>
            <a:r>
              <a:rPr lang="en-US" altLang="zh-CN" sz="1600" dirty="0" smtClean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个人中已经打过饭的人。</a:t>
            </a:r>
            <a:b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所以设计状态：</a:t>
            </a:r>
            <a:endParaRPr lang="zh-CN" altLang="en-US"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f [i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k]表示前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个人都打过饭了，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之后的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个人的已打饭者的集合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，上一个打饭的人与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的相对位置是k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可能为负</a:t>
            </a:r>
            <a:r>
              <a: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 smtClean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，在这种情况下的最优代价。</a:t>
            </a:r>
            <a:endParaRPr lang="zh-CN" altLang="en-US" sz="1600" dirty="0" smtClean="0">
              <a:solidFill>
                <a:schemeClr val="tx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4795" y="4031615"/>
            <a:ext cx="8482330" cy="803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如果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&amp;1=1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那么就表明第i个人已是打过饭的，所以可以转移到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f(i+1,j&gt;&gt;1,k−1)</a:t>
            </a:r>
            <a:b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否则就枚举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集合中没有吃饭的人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j(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的相对位置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，转移到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f(i,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+1&lt;&lt;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)  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3360" y="1263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学校食堂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核心代码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240" y="614045"/>
            <a:ext cx="8482330" cy="6111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for(i=1;i&lt;=n;i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++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for(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=0;j&lt;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1&lt;&lt;8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S++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for(k=-8;k&lt;=7;k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++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if(f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)&lt;inf)</a:t>
            </a:r>
            <a:b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{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if(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&amp;1)f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&gt;&gt;1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k-1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=min(f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i+1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&gt;&gt;1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k-1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,f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else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{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lim=inf;                   //lim是限制，就是防止超出了后面人的要求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for(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=0;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&lt;=7;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j++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if(!(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&amp;(1&lt;&lt;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)))</a:t>
            </a:r>
            <a:b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{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    if(i+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&gt;lim)break;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    lim=min(lim,i+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+b[i+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]);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    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+(1&lt;&lt;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][j]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=min(f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+(1&lt;&lt;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j)][j]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,f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][S][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k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Cal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(i+k,i+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 );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    }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    }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}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l">
              <a:lnSpc>
                <a:spcPct val="130000"/>
              </a:lnSpc>
            </a:pP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        for(int i=-8;i&lt;=7;++i)ans=min(ans,f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n+1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][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sz="1600" dirty="0" smtClean="0">
                <a:latin typeface="微软雅黑 Light" panose="020B0502040204020203" charset="-122"/>
                <a:ea typeface="微软雅黑 Light" panose="020B0502040204020203" charset="-122"/>
              </a:rPr>
              <a:t>]</a:t>
            </a:r>
            <a:r>
              <a:rPr sz="1600" dirty="0" smtClean="0">
                <a:latin typeface="微软雅黑 Light" panose="020B0502040204020203" charset="-122"/>
                <a:ea typeface="微软雅黑 Light" panose="020B0502040204020203" charset="-122"/>
              </a:rPr>
              <a:t>);</a:t>
            </a:r>
            <a:endParaRPr sz="16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1587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883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NKOJ3604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极为相似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0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801370"/>
            <a:ext cx="8543925" cy="1101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给定一个长度为n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数列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A，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选一个长度至少为K的连续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一段数字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，使得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该段数字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平均值最大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计算出这个最大平均值。</a:t>
            </a:r>
            <a:endParaRPr lang="zh-CN" altLang="en-US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7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序列中字符编号1到n,1&lt;=n&lt;=300000, 1&lt;=L&lt;=n, 1&lt;=Ai&lt;=2000 </a:t>
            </a:r>
            <a:endParaRPr lang="en-US" altLang="zh-CN" sz="1700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6915" y="2021840"/>
            <a:ext cx="5927725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区间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[i,j]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的平均值</a:t>
            </a: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Average(i,j)=(A</a:t>
            </a:r>
            <a:r>
              <a:rPr lang="en-US" altLang="zh-CN" b="1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+A</a:t>
            </a:r>
            <a:r>
              <a:rPr lang="en-US" altLang="zh-CN" b="1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i+1</a:t>
            </a: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+...+A</a:t>
            </a:r>
            <a:r>
              <a:rPr lang="en-US" altLang="zh-CN" b="1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)/(j-i+1)</a:t>
            </a:r>
            <a:endParaRPr lang="en-US" altLang="zh-CN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2469515"/>
            <a:ext cx="5927725" cy="679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设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表示前缀和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=A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+A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+...+A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6915" y="2839085"/>
            <a:ext cx="5927725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则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Average(i,j)=(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)/(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-(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58970" y="2841625"/>
            <a:ext cx="4554855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要求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j-(i-1)&gt;=K 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并且</a:t>
            </a:r>
            <a:r>
              <a:rPr lang="en-US" altLang="zh-CN" dirty="0" smtClean="0">
                <a:latin typeface="微软雅黑 Light" panose="020B0502040204020203" charset="-122"/>
                <a:ea typeface="微软雅黑 Light" panose="020B0502040204020203" charset="-122"/>
              </a:rPr>
              <a:t>Average(i,j)</a:t>
            </a:r>
            <a:r>
              <a:rPr lang="zh-CN" altLang="en-US" dirty="0" smtClean="0">
                <a:latin typeface="微软雅黑 Light" panose="020B0502040204020203" charset="-122"/>
                <a:ea typeface="微软雅黑 Light" panose="020B0502040204020203" charset="-122"/>
              </a:rPr>
              <a:t>尽可能大！</a:t>
            </a:r>
            <a:endParaRPr lang="zh-CN" altLang="en-US" b="1" baseline="-25000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" name="上箭头标注 9"/>
          <p:cNvSpPr/>
          <p:nvPr/>
        </p:nvSpPr>
        <p:spPr>
          <a:xfrm>
            <a:off x="2426335" y="3286760"/>
            <a:ext cx="1894840" cy="728980"/>
          </a:xfrm>
          <a:prstGeom prst="upArrowCallou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 Light" panose="020B0502040204020203" charset="-122"/>
                <a:ea typeface="微软雅黑 Light" panose="020B0502040204020203" charset="-122"/>
              </a:rPr>
              <a:t>观察！它像什么？</a:t>
            </a:r>
            <a:endParaRPr lang="zh-CN" altLang="en-US" sz="16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6915" y="4099560"/>
            <a:ext cx="7022465" cy="116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斜率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  <a:r>
              <a:rPr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Average(i,j)</a:t>
            </a:r>
            <a:r>
              <a:rPr lang="zh-CN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越大表示对应直线的斜率越大。</a:t>
            </a:r>
            <a:endParaRPr lang="zh-CN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设点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(i,S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表示平面中的一个点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它的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坐标为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 y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坐标为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b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则点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P</a:t>
            </a:r>
            <a:r>
              <a:rPr lang="en-US" altLang="zh-CN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与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P</a:t>
            </a:r>
            <a:r>
              <a:rPr lang="en-US" altLang="zh-CN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j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构成的直线的斜率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=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)/(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-(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</a:t>
            </a:r>
            <a:endParaRPr lang="zh-CN" altLang="en-US" b="1" dirty="0" smtClean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6915" y="5384165"/>
            <a:ext cx="7871460" cy="116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设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表示以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en-US" altLang="zh-CN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作为结束且长度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&gt;=K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的串的最大平均值</a:t>
            </a:r>
            <a:b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要求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DP[i],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我们需要找到一个点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i'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使得直线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baseline="-250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i'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的斜率达到最大。</a:t>
            </a:r>
            <a:b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DP[i]=max{ 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-S</a:t>
            </a:r>
            <a:r>
              <a:rPr lang="en-US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i'-1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)/(</a:t>
            </a:r>
            <a:r>
              <a:rPr 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-(</a:t>
            </a:r>
            <a:r>
              <a:rPr 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i'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     i'&lt;=i-K+1</a:t>
            </a:r>
            <a:endParaRPr lang="zh-CN" altLang="en-US" b="1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4795" y="677545"/>
            <a:ext cx="8505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表示以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作为结束且长度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&gt;=K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的串的最大平均值。</a:t>
            </a:r>
            <a:b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我们需要找到一个点</a:t>
            </a:r>
            <a:r>
              <a:rPr lang="en-US" altLang="zh-CN" sz="1400" b="1" dirty="0" smtClean="0">
                <a:solidFill>
                  <a:schemeClr val="accent6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i'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,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使得直线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="1" baseline="-250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i'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的斜率达到最大。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DP[i]=max{ </a:t>
            </a:r>
            <a:r>
              <a:rPr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sz="1400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-S</a:t>
            </a:r>
            <a:r>
              <a:rPr lang="en-US" sz="1400" b="1" baseline="-25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i'-1</a:t>
            </a:r>
            <a:r>
              <a:rPr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)/(</a:t>
            </a:r>
            <a:r>
              <a:rPr lang="en-US" sz="1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-(</a:t>
            </a:r>
            <a:r>
              <a:rPr lang="en-US" sz="1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i'</a:t>
            </a:r>
            <a:r>
              <a:rPr sz="1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 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     i'&lt;=i-K+1</a:t>
            </a:r>
            <a:endParaRPr lang="zh-CN" altLang="en-US" sz="1400" b="1" baseline="-25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1401445"/>
            <a:ext cx="8505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观察结论：对于点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P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(i,S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 表示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坐标的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是单调不下降的，也是就是一定有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&gt;=S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i-1</a:t>
            </a:r>
            <a:endParaRPr lang="zh-CN" altLang="en-US" sz="1400" b="1" baseline="-25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3317" name="直接连接符 13316"/>
          <p:cNvSpPr/>
          <p:nvPr/>
        </p:nvSpPr>
        <p:spPr>
          <a:xfrm flipV="1">
            <a:off x="1516380" y="6104890"/>
            <a:ext cx="388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8" name="文本框 13317"/>
          <p:cNvSpPr txBox="1"/>
          <p:nvPr/>
        </p:nvSpPr>
        <p:spPr>
          <a:xfrm>
            <a:off x="1219200" y="1884045"/>
            <a:ext cx="228600" cy="366713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直接连接符 13315"/>
          <p:cNvSpPr/>
          <p:nvPr/>
        </p:nvSpPr>
        <p:spPr>
          <a:xfrm flipV="1">
            <a:off x="1600200" y="2010410"/>
            <a:ext cx="635" cy="422529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9" name="文本框 13318"/>
          <p:cNvSpPr txBox="1"/>
          <p:nvPr/>
        </p:nvSpPr>
        <p:spPr>
          <a:xfrm>
            <a:off x="5250180" y="6028690"/>
            <a:ext cx="228600" cy="366713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8" name="文本框 13347"/>
          <p:cNvSpPr txBox="1"/>
          <p:nvPr/>
        </p:nvSpPr>
        <p:spPr>
          <a:xfrm>
            <a:off x="1219200" y="6104573"/>
            <a:ext cx="533400" cy="366712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1800" baseline="-25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19275" y="5480050"/>
            <a:ext cx="37846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981835" y="5873115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483485" y="4827270"/>
            <a:ext cx="37846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654935" y="5166995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151505" y="4641850"/>
            <a:ext cx="38481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3272155" y="496443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806950" y="3569335"/>
            <a:ext cx="32702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endParaRPr lang="en-US" altLang="zh-CN" sz="1400" baseline="-25000" dirty="0" smtClean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725670" y="370586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1620520" y="2849880"/>
            <a:ext cx="3456305" cy="3528695"/>
          </a:xfrm>
          <a:prstGeom prst="line">
            <a:avLst/>
          </a:prstGeom>
          <a:ln w="15875"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1692910" y="4291965"/>
            <a:ext cx="4319905" cy="1224280"/>
          </a:xfrm>
          <a:prstGeom prst="line">
            <a:avLst/>
          </a:prstGeom>
          <a:ln w="158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580255" y="2162810"/>
            <a:ext cx="32702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endParaRPr lang="en-US" altLang="zh-CN" sz="1400" baseline="-25000" dirty="0" smtClean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672330" y="253111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 flipH="1">
            <a:off x="4809490" y="4618990"/>
            <a:ext cx="37846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endParaRPr lang="en-US" altLang="zh-CN" sz="1400" baseline="-25000" dirty="0" smtClean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725670" y="4750435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187950" y="2081530"/>
            <a:ext cx="3493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i   </a:t>
            </a:r>
            <a:r>
              <a:rPr lang="zh-CN" altLang="en-US" sz="1400" baseline="-25000" dirty="0" smtClean="0">
                <a:ea typeface="微软雅黑" panose="020B0503020204020204" pitchFamily="34" charset="-122"/>
                <a:sym typeface="+mn-ea"/>
              </a:rPr>
              <a:t>，</a:t>
            </a: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比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好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3060700" y="4939665"/>
            <a:ext cx="3888740" cy="87630"/>
          </a:xfrm>
          <a:prstGeom prst="line">
            <a:avLst/>
          </a:prstGeom>
          <a:ln w="158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908175" y="6235700"/>
            <a:ext cx="349313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A&lt;B&lt;C&lt;i</a:t>
            </a:r>
            <a:endParaRPr 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186045" y="3385185"/>
            <a:ext cx="3493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i   </a:t>
            </a:r>
            <a:r>
              <a:rPr lang="zh-CN" altLang="en-US" sz="1400" baseline="-25000" dirty="0" smtClean="0">
                <a:ea typeface="微软雅黑" panose="020B0503020204020204" pitchFamily="34" charset="-122"/>
                <a:sym typeface="+mn-ea"/>
              </a:rPr>
              <a:t>，</a:t>
            </a: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比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好</a:t>
            </a:r>
            <a:br>
              <a:rPr lang="zh-CN" altLang="en-US" sz="1400" dirty="0" smtClean="0">
                <a:ea typeface="微软雅黑" panose="020B0503020204020204" pitchFamily="34" charset="-122"/>
                <a:sym typeface="+mn-ea"/>
              </a:rPr>
            </a:b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&gt;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i   </a:t>
            </a:r>
            <a:r>
              <a:rPr lang="zh-CN" altLang="en-US" sz="1400" baseline="-25000" dirty="0" smtClean="0">
                <a:ea typeface="微软雅黑" panose="020B0503020204020204" pitchFamily="34" charset="-122"/>
                <a:sym typeface="+mn-ea"/>
              </a:rPr>
              <a:t>，</a:t>
            </a: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比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好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186045" y="4571365"/>
            <a:ext cx="3493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斜率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1400" baseline="-25000" dirty="0" smtClean="0">
                <a:ea typeface="微软雅黑" panose="020B0503020204020204" pitchFamily="34" charset="-122"/>
                <a:sym typeface="+mn-ea"/>
              </a:rPr>
              <a:t>i   </a:t>
            </a:r>
            <a:r>
              <a:rPr lang="zh-CN" altLang="en-US" sz="1400" baseline="-25000" dirty="0" smtClean="0">
                <a:ea typeface="微软雅黑" panose="020B0503020204020204" pitchFamily="34" charset="-122"/>
                <a:sym typeface="+mn-ea"/>
              </a:rPr>
              <a:t>，</a:t>
            </a: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比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好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5" name="右大括号 34"/>
          <p:cNvSpPr/>
          <p:nvPr/>
        </p:nvSpPr>
        <p:spPr>
          <a:xfrm>
            <a:off x="5043805" y="1884045"/>
            <a:ext cx="144145" cy="965200"/>
          </a:xfrm>
          <a:prstGeom prst="rightBrace">
            <a:avLst>
              <a:gd name="adj1" fmla="val 79735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右大括号 36"/>
          <p:cNvSpPr/>
          <p:nvPr/>
        </p:nvSpPr>
        <p:spPr>
          <a:xfrm>
            <a:off x="5077460" y="4591050"/>
            <a:ext cx="144145" cy="373380"/>
          </a:xfrm>
          <a:prstGeom prst="rightBrace">
            <a:avLst>
              <a:gd name="adj1" fmla="val 79735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右大括号 37"/>
          <p:cNvSpPr/>
          <p:nvPr/>
        </p:nvSpPr>
        <p:spPr>
          <a:xfrm>
            <a:off x="5043805" y="2963545"/>
            <a:ext cx="144145" cy="1541145"/>
          </a:xfrm>
          <a:prstGeom prst="rightBrace">
            <a:avLst>
              <a:gd name="adj1" fmla="val 79735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717290" y="5166995"/>
            <a:ext cx="5354955" cy="605790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也就是不管</a:t>
            </a:r>
            <a:r>
              <a:rPr lang="en-US" altLang="zh-CN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落在哪个区域，</a:t>
            </a:r>
            <a:r>
              <a:rPr lang="en-US" altLang="zh-CN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都不是最好的，这样可以把</a:t>
            </a:r>
            <a:r>
              <a:rPr lang="en-US" altLang="zh-CN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删除不讨论。</a:t>
            </a:r>
            <a:b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也就是说，只要出现</a:t>
            </a:r>
            <a:r>
              <a:rPr lang="en-US" altLang="zh-CN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上凸</a:t>
            </a:r>
            <a:r>
              <a:rPr lang="en-US" altLang="zh-CN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3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的情况，上凸点可以忽略不计。</a:t>
            </a:r>
            <a:endParaRPr lang="zh-CN" altLang="en-US" sz="13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2411730" y="4940935"/>
            <a:ext cx="576580" cy="576580"/>
          </a:xfrm>
          <a:prstGeom prst="ellipse">
            <a:avLst/>
          </a:prstGeom>
          <a:noFill/>
          <a:ln>
            <a:solidFill>
              <a:srgbClr val="FF66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060440" y="6328410"/>
            <a:ext cx="2874645" cy="368300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留在图上点应该构成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下凸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形。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8770" y="741045"/>
            <a:ext cx="8505825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维护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b="1" dirty="0" smtClean="0">
                <a:latin typeface="微软雅黑 Light" panose="020B0502040204020203" charset="-122"/>
                <a:ea typeface="微软雅黑 Light" panose="020B0502040204020203" charset="-122"/>
              </a:rPr>
              <a:t>下凸</a:t>
            </a:r>
            <a:r>
              <a:rPr lang="en-US" alt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endParaRPr lang="en-US" altLang="zh-CN" b="1" baseline="-25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3317" name="直接连接符 13316"/>
          <p:cNvSpPr/>
          <p:nvPr/>
        </p:nvSpPr>
        <p:spPr>
          <a:xfrm flipV="1">
            <a:off x="846455" y="5201920"/>
            <a:ext cx="388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8" name="文本框 13317"/>
          <p:cNvSpPr txBox="1"/>
          <p:nvPr/>
        </p:nvSpPr>
        <p:spPr>
          <a:xfrm>
            <a:off x="549275" y="2057400"/>
            <a:ext cx="228600" cy="366713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直接连接符 13315"/>
          <p:cNvSpPr/>
          <p:nvPr/>
        </p:nvSpPr>
        <p:spPr>
          <a:xfrm flipV="1">
            <a:off x="930275" y="2183765"/>
            <a:ext cx="635" cy="315404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9" name="文本框 13318"/>
          <p:cNvSpPr txBox="1"/>
          <p:nvPr/>
        </p:nvSpPr>
        <p:spPr>
          <a:xfrm>
            <a:off x="4580255" y="5125720"/>
            <a:ext cx="228600" cy="366713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8" name="文本框 13347"/>
          <p:cNvSpPr txBox="1"/>
          <p:nvPr/>
        </p:nvSpPr>
        <p:spPr>
          <a:xfrm>
            <a:off x="549275" y="5201603"/>
            <a:ext cx="533400" cy="366712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1800" baseline="-25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41755" y="4483735"/>
            <a:ext cx="37846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504315" y="487680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176780" y="4392295"/>
            <a:ext cx="37846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432685" y="473964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799080" y="3464560"/>
            <a:ext cx="38481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3134995" y="3688080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255770" y="2308225"/>
            <a:ext cx="32702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endParaRPr lang="en-US" altLang="zh-CN" sz="1400" baseline="-25000" dirty="0" smtClean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347210" y="2676525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000250" y="5492750"/>
            <a:ext cx="139763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dirty="0" smtClean="0">
                <a:ea typeface="微软雅黑" panose="020B0503020204020204" pitchFamily="34" charset="-122"/>
                <a:sym typeface="+mn-ea"/>
              </a:rPr>
              <a:t>A&lt;B&lt;C&lt;D&lt;i</a:t>
            </a:r>
            <a:endParaRPr lang="en-US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86100" y="2741295"/>
            <a:ext cx="384810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1400" baseline="-25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</a:t>
            </a:r>
            <a:endParaRPr lang="en-US" altLang="zh-CN" sz="1400" baseline="-25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206750" y="3071495"/>
            <a:ext cx="143510" cy="144780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17" idx="6"/>
            <a:endCxn id="19" idx="3"/>
          </p:cNvCxnSpPr>
          <p:nvPr/>
        </p:nvCxnSpPr>
        <p:spPr>
          <a:xfrm flipV="1">
            <a:off x="1647825" y="4863465"/>
            <a:ext cx="805815" cy="85725"/>
          </a:xfrm>
          <a:prstGeom prst="line">
            <a:avLst/>
          </a:prstGeom>
          <a:ln w="12700">
            <a:solidFill>
              <a:srgbClr val="FF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9" idx="7"/>
            <a:endCxn id="21" idx="3"/>
          </p:cNvCxnSpPr>
          <p:nvPr/>
        </p:nvCxnSpPr>
        <p:spPr>
          <a:xfrm flipV="1">
            <a:off x="2555240" y="3811905"/>
            <a:ext cx="600710" cy="948690"/>
          </a:xfrm>
          <a:prstGeom prst="line">
            <a:avLst/>
          </a:prstGeom>
          <a:ln w="12700">
            <a:solidFill>
              <a:srgbClr val="FF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21" idx="0"/>
            <a:endCxn id="5" idx="4"/>
          </p:cNvCxnSpPr>
          <p:nvPr/>
        </p:nvCxnSpPr>
        <p:spPr>
          <a:xfrm flipV="1">
            <a:off x="3206750" y="3216275"/>
            <a:ext cx="71755" cy="471805"/>
          </a:xfrm>
          <a:prstGeom prst="line">
            <a:avLst/>
          </a:prstGeom>
          <a:ln w="12700">
            <a:solidFill>
              <a:srgbClr val="FF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19" idx="6"/>
            <a:endCxn id="27" idx="3"/>
          </p:cNvCxnSpPr>
          <p:nvPr/>
        </p:nvCxnSpPr>
        <p:spPr>
          <a:xfrm flipV="1">
            <a:off x="2576195" y="2800350"/>
            <a:ext cx="1791970" cy="2011680"/>
          </a:xfrm>
          <a:prstGeom prst="line">
            <a:avLst/>
          </a:prstGeom>
          <a:ln w="127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55950" y="3364865"/>
            <a:ext cx="454025" cy="72517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 dirty="0" smtClean="0">
                <a:solidFill>
                  <a:srgbClr val="FF00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endParaRPr lang="en-US" altLang="zh-CN" sz="3200" dirty="0" smtClean="0">
              <a:solidFill>
                <a:srgbClr val="FF0066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78505" y="2741295"/>
            <a:ext cx="454025" cy="72517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 dirty="0" smtClean="0">
                <a:solidFill>
                  <a:srgbClr val="FF0066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</a:t>
            </a:r>
            <a:endParaRPr lang="en-US" altLang="zh-CN" sz="3200" dirty="0" smtClean="0">
              <a:solidFill>
                <a:srgbClr val="FF0066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4795" y="1243330"/>
            <a:ext cx="8505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已经有一些维持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“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下凸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形的点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A,B,C,D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，现在又加入一点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，可能会使一些原本呈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下凸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形的点变为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“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上凸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，这时我们应把这些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“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上凸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点删除掉。注意，被删除的点一定位于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号点左边连续一段。</a:t>
            </a:r>
            <a:endParaRPr lang="zh-CN" altLang="en-US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41215" y="3601085"/>
            <a:ext cx="437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     </a:t>
            </a: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维护完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下凸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形后，对于点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400" b="1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与它构成斜率最大的点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i'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一定位于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“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下凸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形的切点上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(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如左图的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B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点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。</a:t>
            </a:r>
            <a:endParaRPr lang="zh-CN" altLang="en-US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6" name="直接连接符 13315"/>
          <p:cNvSpPr/>
          <p:nvPr/>
        </p:nvSpPr>
        <p:spPr>
          <a:xfrm flipV="1">
            <a:off x="1496695" y="2634615"/>
            <a:ext cx="0" cy="2971800"/>
          </a:xfrm>
          <a:prstGeom prst="line">
            <a:avLst/>
          </a:prstGeom>
          <a:ln w="12700" cap="flat" cmpd="sng">
            <a:solidFill>
              <a:schemeClr val="tx2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7" name="直接连接符 13316"/>
          <p:cNvSpPr/>
          <p:nvPr/>
        </p:nvSpPr>
        <p:spPr>
          <a:xfrm flipV="1">
            <a:off x="1496695" y="5606415"/>
            <a:ext cx="3886200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18" name="文本框 13317"/>
          <p:cNvSpPr txBox="1"/>
          <p:nvPr/>
        </p:nvSpPr>
        <p:spPr>
          <a:xfrm>
            <a:off x="1268095" y="2634615"/>
            <a:ext cx="228600" cy="366713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9" name="文本框 13318"/>
          <p:cNvSpPr txBox="1"/>
          <p:nvPr/>
        </p:nvSpPr>
        <p:spPr>
          <a:xfrm>
            <a:off x="5230495" y="5530215"/>
            <a:ext cx="228600" cy="366713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18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0" name="八边形 13319"/>
          <p:cNvSpPr>
            <a:spLocks noChangeAspect="1"/>
          </p:cNvSpPr>
          <p:nvPr/>
        </p:nvSpPr>
        <p:spPr>
          <a:xfrm flipH="1">
            <a:off x="1471295" y="55937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1" name="八边形 13320"/>
          <p:cNvSpPr>
            <a:spLocks noChangeAspect="1"/>
          </p:cNvSpPr>
          <p:nvPr/>
        </p:nvSpPr>
        <p:spPr>
          <a:xfrm flipH="1">
            <a:off x="3631883" y="38030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2" name="八边形 13321"/>
          <p:cNvSpPr>
            <a:spLocks noChangeAspect="1"/>
          </p:cNvSpPr>
          <p:nvPr/>
        </p:nvSpPr>
        <p:spPr>
          <a:xfrm flipH="1">
            <a:off x="3271520" y="38792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3" name="八边形 13322"/>
          <p:cNvSpPr>
            <a:spLocks noChangeAspect="1"/>
          </p:cNvSpPr>
          <p:nvPr/>
        </p:nvSpPr>
        <p:spPr>
          <a:xfrm flipH="1">
            <a:off x="2911158" y="44888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4" name="八边形 13323"/>
          <p:cNvSpPr>
            <a:spLocks noChangeAspect="1"/>
          </p:cNvSpPr>
          <p:nvPr/>
        </p:nvSpPr>
        <p:spPr>
          <a:xfrm flipH="1">
            <a:off x="2552383" y="49968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5" name="八边形 13324"/>
          <p:cNvSpPr>
            <a:spLocks noChangeAspect="1"/>
          </p:cNvSpPr>
          <p:nvPr/>
        </p:nvSpPr>
        <p:spPr>
          <a:xfrm flipH="1">
            <a:off x="2192020" y="53016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6" name="八边形 13325"/>
          <p:cNvSpPr>
            <a:spLocks noChangeAspect="1"/>
          </p:cNvSpPr>
          <p:nvPr/>
        </p:nvSpPr>
        <p:spPr>
          <a:xfrm flipH="1">
            <a:off x="1831658" y="54794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7" name="八边形 13326"/>
          <p:cNvSpPr>
            <a:spLocks noChangeAspect="1"/>
          </p:cNvSpPr>
          <p:nvPr/>
        </p:nvSpPr>
        <p:spPr>
          <a:xfrm flipH="1">
            <a:off x="3990658" y="33966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8" name="八边形 13327"/>
          <p:cNvSpPr>
            <a:spLocks noChangeAspect="1"/>
          </p:cNvSpPr>
          <p:nvPr/>
        </p:nvSpPr>
        <p:spPr>
          <a:xfrm flipH="1">
            <a:off x="4351020" y="32442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29" name="八边形 13328"/>
          <p:cNvSpPr>
            <a:spLocks noChangeAspect="1"/>
          </p:cNvSpPr>
          <p:nvPr/>
        </p:nvSpPr>
        <p:spPr>
          <a:xfrm flipH="1">
            <a:off x="4711383" y="2939415"/>
            <a:ext cx="50800" cy="50800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grpSp>
        <p:nvGrpSpPr>
          <p:cNvPr id="13330" name="组合 13329"/>
          <p:cNvGrpSpPr/>
          <p:nvPr/>
        </p:nvGrpSpPr>
        <p:grpSpPr>
          <a:xfrm>
            <a:off x="1501458" y="2482215"/>
            <a:ext cx="1076325" cy="3505200"/>
            <a:chOff x="1011" y="1776"/>
            <a:chExt cx="678" cy="2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331" name="直接连接符 13330"/>
            <p:cNvSpPr/>
            <p:nvPr/>
          </p:nvSpPr>
          <p:spPr>
            <a:xfrm>
              <a:off x="1011" y="1776"/>
              <a:ext cx="0" cy="240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332" name="直接连接符 13331"/>
            <p:cNvSpPr/>
            <p:nvPr/>
          </p:nvSpPr>
          <p:spPr>
            <a:xfrm>
              <a:off x="1689" y="1776"/>
              <a:ext cx="0" cy="2400"/>
            </a:xfrm>
            <a:prstGeom prst="line">
              <a:avLst/>
            </a:prstGeom>
            <a:ln w="12700" cap="flat" cmpd="sng">
              <a:solidFill>
                <a:srgbClr val="FF0066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13333" name="椭圆 13332"/>
          <p:cNvSpPr/>
          <p:nvPr/>
        </p:nvSpPr>
        <p:spPr>
          <a:xfrm>
            <a:off x="1739583" y="5392103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4" name="椭圆 13333"/>
          <p:cNvSpPr/>
          <p:nvPr/>
        </p:nvSpPr>
        <p:spPr>
          <a:xfrm>
            <a:off x="2106295" y="5211128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5" name="椭圆 13334"/>
          <p:cNvSpPr/>
          <p:nvPr/>
        </p:nvSpPr>
        <p:spPr>
          <a:xfrm>
            <a:off x="2453958" y="4906328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6" name="椭圆 13335"/>
          <p:cNvSpPr/>
          <p:nvPr/>
        </p:nvSpPr>
        <p:spPr>
          <a:xfrm>
            <a:off x="2820670" y="4401503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7" name="椭圆 13336"/>
          <p:cNvSpPr/>
          <p:nvPr/>
        </p:nvSpPr>
        <p:spPr>
          <a:xfrm>
            <a:off x="3187383" y="3791903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8" name="椭圆 13337"/>
          <p:cNvSpPr/>
          <p:nvPr/>
        </p:nvSpPr>
        <p:spPr>
          <a:xfrm>
            <a:off x="3539808" y="3701415"/>
            <a:ext cx="228600" cy="228600"/>
          </a:xfrm>
          <a:prstGeom prst="ellipse">
            <a:avLst/>
          </a:prstGeom>
          <a:noFill/>
          <a:ln w="12700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3339" name="直接连接符 13338"/>
          <p:cNvSpPr/>
          <p:nvPr/>
        </p:nvSpPr>
        <p:spPr>
          <a:xfrm flipV="1">
            <a:off x="1483995" y="5492115"/>
            <a:ext cx="377825" cy="136525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0" name="直接连接符 13339"/>
          <p:cNvSpPr/>
          <p:nvPr/>
        </p:nvSpPr>
        <p:spPr>
          <a:xfrm flipV="1">
            <a:off x="1852295" y="5327015"/>
            <a:ext cx="341313" cy="179388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1" name="直接连接符 13340"/>
          <p:cNvSpPr/>
          <p:nvPr/>
        </p:nvSpPr>
        <p:spPr>
          <a:xfrm flipV="1">
            <a:off x="2207895" y="5022215"/>
            <a:ext cx="381000" cy="304800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2" name="直接连接符 13341"/>
          <p:cNvSpPr/>
          <p:nvPr/>
        </p:nvSpPr>
        <p:spPr>
          <a:xfrm flipV="1">
            <a:off x="2576195" y="4514215"/>
            <a:ext cx="368300" cy="517525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3" name="直接连接符 13342"/>
          <p:cNvSpPr/>
          <p:nvPr/>
        </p:nvSpPr>
        <p:spPr>
          <a:xfrm flipV="1">
            <a:off x="2944495" y="3891915"/>
            <a:ext cx="331788" cy="630238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4" name="直接连接符 13343"/>
          <p:cNvSpPr/>
          <p:nvPr/>
        </p:nvSpPr>
        <p:spPr>
          <a:xfrm flipV="1">
            <a:off x="3325495" y="3815715"/>
            <a:ext cx="304800" cy="76200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5" name="直接连接符 13344"/>
          <p:cNvSpPr/>
          <p:nvPr/>
        </p:nvSpPr>
        <p:spPr>
          <a:xfrm flipV="1">
            <a:off x="2944495" y="3853815"/>
            <a:ext cx="685800" cy="635000"/>
          </a:xfrm>
          <a:prstGeom prst="line">
            <a:avLst/>
          </a:prstGeom>
          <a:ln w="12700" cap="flat" cmpd="sng">
            <a:solidFill>
              <a:srgbClr val="00B050"/>
            </a:solidFill>
            <a:prstDash val="dash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6" name="直接连接符 13345"/>
          <p:cNvSpPr/>
          <p:nvPr/>
        </p:nvSpPr>
        <p:spPr>
          <a:xfrm flipV="1">
            <a:off x="2563495" y="3853815"/>
            <a:ext cx="1066800" cy="1219200"/>
          </a:xfrm>
          <a:prstGeom prst="line">
            <a:avLst/>
          </a:prstGeom>
          <a:ln w="12700" cap="flat" cmpd="sng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7" name="直接连接符 13346"/>
          <p:cNvSpPr/>
          <p:nvPr/>
        </p:nvSpPr>
        <p:spPr>
          <a:xfrm flipV="1">
            <a:off x="2576195" y="3843655"/>
            <a:ext cx="1066800" cy="1219200"/>
          </a:xfrm>
          <a:prstGeom prst="line">
            <a:avLst/>
          </a:prstGeom>
          <a:ln w="1270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348" name="文本框 13347"/>
          <p:cNvSpPr txBox="1"/>
          <p:nvPr/>
        </p:nvSpPr>
        <p:spPr>
          <a:xfrm>
            <a:off x="1039495" y="5468303"/>
            <a:ext cx="533400" cy="366712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1800" baseline="-25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lang="en-US" altLang="zh-CN" sz="18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9" name="文本框 13348"/>
          <p:cNvSpPr txBox="1"/>
          <p:nvPr/>
        </p:nvSpPr>
        <p:spPr>
          <a:xfrm>
            <a:off x="2487295" y="4996815"/>
            <a:ext cx="533400" cy="36576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lvl="0"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1800" i="1" baseline="-25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endParaRPr lang="en-US" altLang="zh-CN" sz="1800" i="1" baseline="-25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565785"/>
            <a:ext cx="8505825" cy="6457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2800" b="1" dirty="0" smtClean="0">
                <a:latin typeface="微软雅黑 Light" panose="020B0502040204020203" charset="-122"/>
                <a:ea typeface="微软雅黑 Light" panose="020B0502040204020203" charset="-122"/>
              </a:rPr>
              <a:t>维护</a:t>
            </a:r>
            <a:r>
              <a:rPr lang="en-US" altLang="zh-CN" sz="2800" b="1" dirty="0" smtClean="0"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sz="2800" b="1" dirty="0" smtClean="0">
                <a:latin typeface="微软雅黑 Light" panose="020B0502040204020203" charset="-122"/>
                <a:ea typeface="微软雅黑 Light" panose="020B0502040204020203" charset="-122"/>
              </a:rPr>
              <a:t>下凸</a:t>
            </a:r>
            <a:r>
              <a:rPr lang="en-US" altLang="zh-CN" sz="2800" b="1" dirty="0" smtClean="0"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endParaRPr lang="en-US" altLang="zh-CN" sz="2800" b="1" baseline="-25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3375" y="1290955"/>
            <a:ext cx="6693535" cy="408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对于点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</a:t>
            </a:r>
            <a:r>
              <a:rPr lang="en-US" altLang="zh-CN" sz="1600" b="1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</a:t>
            </a: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，如何在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下凸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”</a:t>
            </a: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形上找出与它对应的斜率最大的切点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P</a:t>
            </a:r>
            <a:r>
              <a:rPr lang="en-US" altLang="zh-CN" sz="1600" b="1" baseline="-25000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i' </a:t>
            </a:r>
            <a:r>
              <a:rPr lang="en-US" altLang="zh-CN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?</a:t>
            </a:r>
            <a:endParaRPr lang="en-US" altLang="zh-CN" sz="16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3375" y="1699260"/>
            <a:ext cx="3250565" cy="408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单调队列：维护斜率单调递增</a:t>
            </a:r>
            <a:endParaRPr lang="zh-CN" altLang="en-US" sz="16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25495" y="1828800"/>
            <a:ext cx="430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每个点最多入队一次，出队一次。时间复杂度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O(n)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9.82659E-7 L 0.03959 9.82659E-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59 -2.48555E-6 L 0.0823 -2.48555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3 -2.48555E-6 L 0.11563 -2.48555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63 -2.48555E-6 L 0.15626 -2.48555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0"/>
                            </p:stCondLst>
                            <p:childTnLst>
                              <p:par>
                                <p:cTn id="5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26 -2.48555E-6 L 0.19896 -2.48555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4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0"/>
                            </p:stCondLst>
                            <p:childTnLst>
                              <p:par>
                                <p:cTn id="63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5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0"/>
                            </p:stCondLst>
                            <p:childTnLst>
                              <p:par>
                                <p:cTn id="7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96 -2.48555E-6 L 0.23959 -2.48555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700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5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2000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20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2000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20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2000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20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2000"/>
                                        <p:tgtEl>
                                          <p:spTgt spid="13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/>
                                        <p:tgtEl>
                                          <p:spTgt spid="13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2000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20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2000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20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3835" y="2595245"/>
            <a:ext cx="8477885" cy="2583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for(i=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;i&lt;=N;i++)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while((L+1&lt;R) &amp;&amp; (Slope(Q[L],Q[L+1])&lt;Slope(Q[L+1],i)))L++;</a:t>
            </a:r>
            <a:r>
              <a:rPr lang="zh-CN" alt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en-US" altLang="zh-CN" sz="10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0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从队首找出与</a:t>
            </a:r>
            <a:r>
              <a:rPr lang="en-US" altLang="zh-CN" sz="10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zh-CN" altLang="en-US" sz="10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号配对点斜率最大的点</a:t>
            </a:r>
            <a:endParaRPr lang="zh-CN" altLang="en-US" sz="10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ans=max(ans,Slope(Q[L],i));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	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t=i-K+1;                                                       </a:t>
            </a:r>
            <a:r>
              <a:rPr lang="zh-CN" altLang="en-US" sz="12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//为了保证长度不低于K，每次只将K个之前的点入队。</a:t>
            </a:r>
            <a:endParaRPr lang="zh-CN" altLang="en-US" sz="12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while((L+1&lt;R) &amp;&amp; (Slope(Q[R-2],Q[R-1])&gt;Slope(Q[R-1],t)))R--;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Q[R++]=t;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734695"/>
            <a:ext cx="6445250" cy="1358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double Slope(int i, int j)  </a:t>
            </a:r>
            <a:r>
              <a:rPr lang="zh-CN" altLang="en-US" sz="16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//计算斜率 </a:t>
            </a:r>
            <a:endParaRPr lang="zh-CN" altLang="en-US" sz="16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return (S[j] - S[i]) / (j - i);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22269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int 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Q[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300005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;    </a:t>
            </a:r>
            <a:r>
              <a:rPr lang="en-US" altLang="zh-CN" sz="14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400" dirty="0" smtClean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单调队列</a:t>
            </a:r>
            <a:endParaRPr lang="zh-CN" altLang="en-US" sz="1400" dirty="0" smtClean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4795" y="677545"/>
            <a:ext cx="8505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dp[i]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表示以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en-US" altLang="zh-CN" sz="1400" b="1" baseline="-25000" dirty="0" smtClean="0">
                <a:latin typeface="微软雅黑 Light" panose="020B0502040204020203" charset="-122"/>
                <a:ea typeface="微软雅黑 Light" panose="020B0502040204020203" charset="-122"/>
              </a:rPr>
              <a:t>i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作为结束且长度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&gt;=K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的最大连续和。</a:t>
            </a:r>
            <a:b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n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</a:rPr>
              <a:t>um</a:t>
            </a:r>
            <a:r>
              <a:rPr 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[i]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表示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dp[i]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中包含了多少头牛。</a:t>
            </a:r>
            <a:endParaRPr lang="zh-CN" altLang="en-US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dp[i] = 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(S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[i] - 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S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[i-f]) 或者 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(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dp[i-1] + 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A</a:t>
            </a: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[i]</a:t>
            </a:r>
            <a:r>
              <a:rPr lang="en-US" altLang="zh-CN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 </a:t>
            </a:r>
            <a:endParaRPr lang="en-US" altLang="zh-CN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决策时看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(S[i] - S[i-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])/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 和 (dp[i-1] + </a:t>
            </a:r>
            <a:r>
              <a:rPr lang="en-US" altLang="zh-CN" sz="1400" dirty="0" smtClean="0"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400" dirty="0" smtClean="0">
                <a:ea typeface="微软雅黑" panose="020B0503020204020204" pitchFamily="34" charset="-122"/>
                <a:sym typeface="+mn-ea"/>
              </a:rPr>
              <a:t>[i])/ (num[i-1] +1)谁更大</a:t>
            </a:r>
            <a:endParaRPr lang="zh-CN" altLang="en-US" sz="1400" b="1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最大平均值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NKOJ3794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20495" y="2055495"/>
            <a:ext cx="4301490" cy="39674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for(i=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+1;i&lt;=n;i++)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if ((S[i] - S[i-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])/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&gt; (dp[i-1] +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[i])/ (num[i-1] +1))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{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dp[i] = S[i] - S[i-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   num[i] =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}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else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{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dp[i] = dp[i-1] +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[i];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    num[i] = num[i-1] +1;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}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ans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= max(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ans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,dp[i]*1000/num[i]);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}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21985" y="5861050"/>
            <a:ext cx="2719070" cy="447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b="1" dirty="0" smtClean="0">
                <a:latin typeface="微软雅黑 Light" panose="020B0502040204020203" charset="-122"/>
                <a:ea typeface="微软雅黑 Light" panose="020B0502040204020203" charset="-122"/>
              </a:rPr>
              <a:t>其他方法：二分</a:t>
            </a:r>
            <a:endParaRPr lang="zh-CN" b="1" baseline="-25000" dirty="0" smtClean="0">
              <a:latin typeface="微软雅黑 Light" panose="020B0502040204020203" charset="-122"/>
              <a:ea typeface="微软雅黑 Light" panose="020B0502040204020203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01290" y="2508250"/>
            <a:ext cx="374015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</a:t>
            </a:r>
            <a:r>
              <a:rPr lang="zh-CN" altLang="en-US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8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NKOJ3787</a:t>
            </a:r>
            <a:endParaRPr lang="en-US" altLang="zh-CN" sz="28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NKOJ3787</a:t>
            </a:r>
            <a:endParaRPr lang="en-US" altLang="zh-CN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795" y="684530"/>
            <a:ext cx="8543925" cy="32975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一个由小写字母组成的字符串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S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，我们可以用一种简单的方法来压缩其中的重复信息。压缩后的字符串除了小写字母外还可以（但不必）包含大写字母R与M，其中M标记重复串的开始，R重复从上一个M。 </a:t>
            </a:r>
            <a:b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例如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“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bcdcdcdcd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可以压缩为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bM</a:t>
            </a:r>
            <a:r>
              <a:rPr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cd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RR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endParaRPr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“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abcabcdabcabcdxyxyz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可以被压缩为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abcRd</a:t>
            </a:r>
            <a:r>
              <a:rPr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RMxyRz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b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</a:b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“bcdcdcdcdxcdcdcdcd”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可以被压缩为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”b</a:t>
            </a:r>
            <a:r>
              <a:rPr lang="en-US" altLang="zh-CN" dirty="0" smtClean="0">
                <a:solidFill>
                  <a:schemeClr val="accent4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McdRR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xMcdRR”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计算出字符串压缩后的最小长度。</a:t>
            </a: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30000"/>
              </a:lnSpc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1&lt;=n&lt;=50</a:t>
            </a:r>
            <a:endParaRPr lang="zh-CN" sz="1700" dirty="0" smtClean="0">
              <a:solidFill>
                <a:schemeClr val="bg1">
                  <a:lumMod val="50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4795" y="4220210"/>
            <a:ext cx="33743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考虑区间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DP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dp[i][j]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表示区间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被压缩后的最小长度。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39185" y="4497070"/>
            <a:ext cx="2672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但我们发现没发转移，怎么办？</a:t>
            </a:r>
            <a:endParaRPr 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33490" y="4497070"/>
            <a:ext cx="894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加一维！</a:t>
            </a:r>
            <a:endParaRPr 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690" y="5894070"/>
            <a:ext cx="71970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重新定义状态：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dp[i][j][p]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表示区间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被压缩后的最小长度，其中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p=1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中有含有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“M”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p=0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表示不含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'M'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690" y="4972050"/>
            <a:ext cx="75361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本题的压缩方法是翻倍，意味着如果有一个子串左右两半相同，那么我们就可以压缩，</a:t>
            </a:r>
            <a:b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但如果要利用“前一半的压缩结果”的前提是除了串的开头有 M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其余位置是不能有 M 的。这启发我们定三维状态。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  <p:bldP spid="8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解题分析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8610" y="751205"/>
            <a:ext cx="8199120" cy="7251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dp[i][j][p]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表示区间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被压缩后的最小长度，其中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p=1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中有加入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“M”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p=0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表示不含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'M'</a:t>
            </a:r>
            <a:endParaRPr lang="en-US" altLang="zh-CN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我们认为每个区间的左端点有一个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‘M’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，也就是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i-1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位置是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‘M’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8610" y="1654175"/>
            <a:ext cx="6324600" cy="10420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讨论f[i][j][1]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:</a:t>
            </a:r>
            <a:endParaRPr lang="en-US" altLang="zh-CN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因为它必定含有M，所以可以枚举M放在哪一个位置，然后分段求解</a:t>
            </a:r>
            <a:b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1475" y="2348230"/>
            <a:ext cx="9022715" cy="408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f[i][j][1]=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min{min(f[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][0],f[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][1])+1+min(f[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+1][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][0],f[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k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+1][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][1])}      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i&lt;=k&lt;j   </a:t>
            </a:r>
            <a:r>
              <a:rPr 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//+1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就是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占用的位置</a:t>
            </a:r>
            <a:endParaRPr lang="zh-CN" altLang="en-US" sz="1400" dirty="0" smtClean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8610" y="2907665"/>
            <a:ext cx="8714105" cy="725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讨论f[i][j][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:</a:t>
            </a:r>
            <a:endParaRPr lang="en-US" altLang="zh-CN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情况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：若s[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mid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]==s[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mid+1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    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mid=(i+j)/2        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区间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[i,j]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恰好能分成相等的两段，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j-i+1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为偶数</a:t>
            </a:r>
            <a:endParaRPr lang="zh-CN" altLang="en-US" sz="1400" dirty="0" smtClean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30300" y="3552825"/>
            <a:ext cx="7813675" cy="408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f[i][j][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]=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f[i][mid][0]+1                                   </a:t>
            </a:r>
            <a:r>
              <a:rPr 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//+1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就是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占用的位置</a:t>
            </a:r>
            <a:r>
              <a:rPr 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endParaRPr lang="en-US" sz="1400" dirty="0" smtClean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5140" y="4058920"/>
            <a:ext cx="7813675" cy="408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情况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：将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[i,k]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压缩，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[k+1,j]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保持原样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endParaRPr 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0300" y="4467225"/>
            <a:ext cx="7813675" cy="408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f[i][j][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]=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min{ </a:t>
            </a:r>
            <a:r>
              <a:rPr 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f[i][k][0]+j-k }                     </a:t>
            </a:r>
            <a:r>
              <a:rPr 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//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只</a:t>
            </a:r>
            <a:r>
              <a:rPr 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压缩左边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k,k+1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</a:t>
            </a:r>
            <a:r>
              <a:rPr lang="zh-CN" alt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保持原样</a:t>
            </a:r>
            <a:r>
              <a:rPr lang="en-US" sz="1400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endParaRPr lang="en-US" sz="1400" dirty="0" smtClean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4795" y="189865"/>
            <a:ext cx="7075805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</a:t>
            </a:r>
            <a:r>
              <a:rPr lang="zh-CN" altLang="en-US" sz="20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参考代码</a:t>
            </a:r>
            <a:endParaRPr lang="zh-CN" altLang="en-US" sz="20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" y="3110230"/>
            <a:ext cx="8007350" cy="25831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for (int i=n;i&gt;=1;i--)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for (int j=i;j&lt;=n;j++)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{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f[i][j][0]=f[i][j][1]=j-i+1;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for (k=i;k&lt;j;k++)  f[i][j][1]=min(f[i][j][1],min(f[i][k][0],f[i][k][1])+1+min(f[k+1][j][0],f[k+1][j][1]));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for (k=i;k&lt;j;k++)  f[i][j][0]=min(f[i][j][0],f[i][k][0]+j-k);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if ((j-i+1)%2==0 &amp;&amp; check(i,j)) f[i][j][0]=f[i][(i+j)/2][0]+1;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	if (j-i+1==1) f[i][j][1]=n+1;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}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6710" y="737235"/>
            <a:ext cx="3284220" cy="20294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bool check(int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,int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{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int mid=(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)/2;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for (int i=1;i&lt;=mid-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+1;i++)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    if (s[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+i-1]!=s[mid+i]) return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false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return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true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; 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 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5、9、12、15、20、25、26、27"/>
  <p:tag name="KSO_WM_TEMPLATE_CATEGORY" val="custom"/>
  <p:tag name="KSO_WM_TEMPLATE_INDEX" val="247"/>
  <p:tag name="KSO_WM_TAG_VERSION" val="1.0"/>
  <p:tag name="KSO_WM_SLIDE_ID" val="custom24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自定义 63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2CBEBB"/>
      </a:accent1>
      <a:accent2>
        <a:srgbClr val="00AEEF"/>
      </a:accent2>
      <a:accent3>
        <a:srgbClr val="00989D"/>
      </a:accent3>
      <a:accent4>
        <a:srgbClr val="5277C2"/>
      </a:accent4>
      <a:accent5>
        <a:srgbClr val="853689"/>
      </a:accent5>
      <a:accent6>
        <a:srgbClr val="E33F61"/>
      </a:accent6>
      <a:hlink>
        <a:srgbClr val="00B0F0"/>
      </a:hlink>
      <a:folHlink>
        <a:srgbClr val="7F7F7F"/>
      </a:folHlink>
    </a:clrScheme>
    <a:fontScheme name="自定义 10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7865</Words>
  <Application>WPS 演示</Application>
  <PresentationFormat/>
  <Paragraphs>357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Webdings</vt:lpstr>
      <vt:lpstr>幼圆</vt:lpstr>
      <vt:lpstr>Times New Roman</vt:lpstr>
      <vt:lpstr>黑体</vt:lpstr>
      <vt:lpstr>微软雅黑 Light</vt:lpstr>
      <vt:lpstr>Calibri</vt:lpstr>
      <vt:lpstr>1_A000120140530A99PPBG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何浪</dc:creator>
  <cp:lastModifiedBy>Administrator</cp:lastModifiedBy>
  <cp:revision>770</cp:revision>
  <dcterms:created xsi:type="dcterms:W3CDTF">2016-06-22T03:39:00Z</dcterms:created>
  <dcterms:modified xsi:type="dcterms:W3CDTF">2003-12-31T22:04:07Z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2052-10.1.0.5973</vt:lpwstr>
  </property>
</Properties>
</file>