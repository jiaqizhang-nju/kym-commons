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342" r:id="rId4"/>
    <p:sldId id="343" r:id="rId5"/>
    <p:sldId id="344" r:id="rId6"/>
    <p:sldId id="311" r:id="rId7"/>
    <p:sldId id="337" r:id="rId8"/>
    <p:sldId id="334" r:id="rId9"/>
    <p:sldId id="335" r:id="rId10"/>
    <p:sldId id="336" r:id="rId11"/>
    <p:sldId id="338" r:id="rId12"/>
    <p:sldId id="339" r:id="rId13"/>
    <p:sldId id="340" r:id="rId14"/>
    <p:sldId id="341" r:id="rId15"/>
    <p:sldId id="354" r:id="rId16"/>
    <p:sldId id="355" r:id="rId17"/>
    <p:sldId id="356" r:id="rId18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FF"/>
    <a:srgbClr val="FF6699"/>
    <a:srgbClr val="FFFF66"/>
    <a:srgbClr val="FFFFFF"/>
    <a:srgbClr val="FFFF99"/>
    <a:srgbClr val="00FFFF"/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330"/>
        <p:guide pos="293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457200"/>
            <a:r>
              <a:rPr lang="zh-CN" altLang="en-US"/>
              <a:t>第二级</a:t>
            </a:r>
            <a:endParaRPr lang="zh-CN" altLang="en-US"/>
          </a:p>
          <a:p>
            <a:pPr lvl="2" indent="914400"/>
            <a:r>
              <a:rPr lang="zh-CN" altLang="en-US"/>
              <a:t>第三级</a:t>
            </a:r>
            <a:endParaRPr lang="zh-CN" altLang="en-US"/>
          </a:p>
          <a:p>
            <a:pPr lvl="3" indent="1371600"/>
            <a:r>
              <a:rPr lang="zh-CN" altLang="en-US"/>
              <a:t>第四级</a:t>
            </a:r>
            <a:endParaRPr lang="zh-CN" altLang="en-US"/>
          </a:p>
          <a:p>
            <a:pPr lvl="4" indent="1828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/>
          <p:cNvPicPr>
            <a:picLocks noChangeAspect="1"/>
          </p:cNvPicPr>
          <p:nvPr/>
        </p:nvPicPr>
        <p:blipFill>
          <a:blip r:embed="rId2"/>
          <a:srcRect t="9244" b="10210"/>
          <a:stretch>
            <a:fillRect/>
          </a:stretch>
        </p:blipFill>
        <p:spPr>
          <a:xfrm>
            <a:off x="0" y="1092200"/>
            <a:ext cx="9144000" cy="5011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38400" y="2527300"/>
            <a:ext cx="5132700" cy="1108700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853689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27600" y="3913200"/>
            <a:ext cx="5146200" cy="6207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628650" y="1121434"/>
            <a:ext cx="7886700" cy="5176800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  <a:lvl2pPr marL="0" indent="0">
              <a:buNone/>
              <a:defRPr sz="1500" b="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H_Title"/>
          <p:cNvSpPr/>
          <p:nvPr/>
        </p:nvSpPr>
        <p:spPr>
          <a:xfrm>
            <a:off x="1925638" y="3024188"/>
            <a:ext cx="6188075" cy="80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0" rIns="0" bIns="0" rtlCol="0" anchor="ctr">
            <a:normAutofit/>
          </a:bodyPr>
          <a:lstStyle/>
          <a:p>
            <a:pPr fontAlgn="base"/>
            <a:endParaRPr lang="zh-CN" altLang="en-US" sz="3200" strike="noStrike" noProof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MH_Others_1"/>
          <p:cNvSpPr/>
          <p:nvPr/>
        </p:nvSpPr>
        <p:spPr>
          <a:xfrm>
            <a:off x="1030288" y="3078163"/>
            <a:ext cx="693738" cy="692150"/>
          </a:xfrm>
          <a:prstGeom prst="ellipse">
            <a:avLst/>
          </a:prstGeom>
          <a:noFill/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2400" strike="noStrike" noProof="1" dirty="0">
              <a:solidFill>
                <a:schemeClr val="accent1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MH_Others_2"/>
          <p:cNvSpPr/>
          <p:nvPr/>
        </p:nvSpPr>
        <p:spPr>
          <a:xfrm>
            <a:off x="1825625" y="3024188"/>
            <a:ext cx="100013" cy="8001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fontAlgn="base"/>
            <a:endParaRPr lang="zh-CN" altLang="en-US" sz="2400" strike="noStrike" noProof="1">
              <a:solidFill>
                <a:srgbClr val="1C97C2"/>
              </a:solidFill>
            </a:endParaRPr>
          </a:p>
        </p:txBody>
      </p:sp>
      <p:sp>
        <p:nvSpPr>
          <p:cNvPr id="10" name="MH_Number"/>
          <p:cNvSpPr/>
          <p:nvPr/>
        </p:nvSpPr>
        <p:spPr>
          <a:xfrm>
            <a:off x="1995488" y="3225800"/>
            <a:ext cx="371475" cy="531813"/>
          </a:xfrm>
          <a:prstGeom prst="rect">
            <a:avLst/>
          </a:prstGeom>
        </p:spPr>
        <p:txBody>
          <a:bodyPr wrap="square" lIns="0" tIns="0" rIns="0" bIns="0" anchor="ctr" anchorCtr="0">
            <a:normAutofit fontScale="92500" lnSpcReduction="10000"/>
          </a:bodyPr>
          <a:lstStyle/>
          <a:p>
            <a:pPr algn="ctr" fontAlgn="base"/>
            <a:endParaRPr lang="zh-CN" altLang="en-US" sz="4050" strike="noStrike" noProof="1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926415" y="3024000"/>
            <a:ext cx="6187527" cy="800666"/>
          </a:xfrm>
        </p:spPr>
        <p:txBody>
          <a:bodyPr lIns="180000" tIns="0" rIns="0" bIns="0" anchor="ctr" anchorCtr="0">
            <a:normAutofit/>
          </a:bodyPr>
          <a:lstStyle>
            <a:lvl1pPr algn="l">
              <a:defRPr sz="2800" b="0">
                <a:solidFill>
                  <a:schemeClr val="accent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2790103" y="4408317"/>
            <a:ext cx="4245697" cy="494755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en-US" altLang="zh-CN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628650" y="1244602"/>
            <a:ext cx="3810000" cy="4932363"/>
          </a:xfrm>
        </p:spPr>
        <p:txBody>
          <a:bodyPr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694763" y="1244602"/>
            <a:ext cx="3820587" cy="4932363"/>
          </a:xfrm>
        </p:spPr>
        <p:txBody>
          <a:bodyPr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85800" indent="-342900">
              <a:buClrTx/>
              <a:buFont typeface="Arial" panose="020B0604020202020204" pitchFamily="34" charset="0"/>
              <a:buChar char="•"/>
              <a:defRPr sz="2000"/>
            </a:lvl2pPr>
            <a:lvl3pPr marL="971550" indent="-285750">
              <a:buFont typeface="Arial" panose="020B0604020202020204" pitchFamily="34" charset="0"/>
              <a:buChar char="•"/>
              <a:defRPr/>
            </a:lvl3pPr>
            <a:lvl4pPr marL="1314450" indent="-285750">
              <a:buFont typeface="Arial" panose="020B0604020202020204" pitchFamily="34" charset="0"/>
              <a:buChar char="•"/>
              <a:defRPr/>
            </a:lvl4pPr>
            <a:lvl5pPr marL="1657350" indent="-285750">
              <a:buFont typeface="Arial" panose="020B0604020202020204" pitchFamily="34" charset="0"/>
              <a:buChar char="•"/>
              <a:defRPr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85800" indent="-342900">
              <a:buClrTx/>
              <a:buFont typeface="Arial" panose="020B0604020202020204" pitchFamily="34" charset="0"/>
              <a:buChar char="•"/>
              <a:defRPr sz="2000"/>
            </a:lvl2pPr>
            <a:lvl3pPr marL="971550" indent="-285750">
              <a:buFont typeface="Arial" panose="020B0604020202020204" pitchFamily="34" charset="0"/>
              <a:buChar char="•"/>
              <a:defRPr/>
            </a:lvl3pPr>
            <a:lvl4pPr marL="1314450" indent="-285750">
              <a:buFont typeface="Arial" panose="020B0604020202020204" pitchFamily="34" charset="0"/>
              <a:buChar char="•"/>
              <a:defRPr/>
            </a:lvl4pPr>
            <a:lvl5pPr marL="1657350" indent="-285750">
              <a:buFont typeface="Arial" panose="020B0604020202020204" pitchFamily="34" charset="0"/>
              <a:buChar char="•"/>
              <a:defRPr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38000" y="2750400"/>
            <a:ext cx="4468000" cy="780200"/>
          </a:xfrm>
        </p:spPr>
        <p:txBody>
          <a:bodyPr lIns="0" tIns="0" rIns="0" bIns="72000">
            <a:noAutofit/>
          </a:bodyPr>
          <a:lstStyle>
            <a:lvl1pPr>
              <a:defRPr sz="2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28650" y="954088"/>
            <a:ext cx="7886700" cy="0"/>
          </a:xfrm>
          <a:prstGeom prst="line">
            <a:avLst/>
          </a:prstGeom>
          <a:ln>
            <a:solidFill>
              <a:srgbClr val="311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8650" y="2278063"/>
            <a:ext cx="7886700" cy="0"/>
          </a:xfrm>
          <a:prstGeom prst="line">
            <a:avLst/>
          </a:prstGeom>
          <a:ln>
            <a:solidFill>
              <a:srgbClr val="311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30000" y="2432795"/>
            <a:ext cx="7885350" cy="3729971"/>
          </a:xfrm>
        </p:spPr>
        <p:txBody>
          <a:bodyPr anchor="ctr" anchorCtr="0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fontAlgn="auto"/>
            <a:r>
              <a:rPr lang="zh-CN" altLang="en-US" strike="noStrike" noProof="1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628200" y="1040400"/>
            <a:ext cx="7887600" cy="11700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28650" y="166056"/>
            <a:ext cx="7886702" cy="719716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7822" y="365124"/>
            <a:ext cx="886883" cy="5845175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26250" cy="5845175"/>
          </a:xfrm>
        </p:spPr>
        <p:txBody>
          <a:bodyPr vert="eaVert"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49" y="265113"/>
            <a:ext cx="7886701" cy="5995987"/>
          </a:xfrm>
        </p:spPr>
        <p:txBody>
          <a:bodyPr/>
          <a:lstStyle>
            <a:lvl1pPr>
              <a:defRPr sz="2400"/>
            </a:lvl1pPr>
            <a:lvl2pPr marL="257175" indent="-257175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628650" y="1120775"/>
            <a:ext cx="7886700" cy="517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628650" y="166688"/>
            <a:ext cx="7886700" cy="8382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1780" indent="-271780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ebdings" panose="05030102010509060703" pitchFamily="18" charset="2"/>
        <a:buChar char="Ù"/>
        <a:defRPr lang="zh-CN" altLang="en-US" sz="24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None/>
        <a:defRPr sz="15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2056765" y="1932304"/>
            <a:ext cx="5132705" cy="1679575"/>
          </a:xfrm>
          <a:prstGeom prst="rect">
            <a:avLst/>
          </a:prstGeom>
          <a:effectLst>
            <a:glow rad="139700">
              <a:srgbClr val="00AEEF">
                <a:satMod val="175000"/>
                <a:alpha val="40000"/>
              </a:srgbClr>
            </a:glow>
          </a:effectLst>
        </p:spPr>
        <p:txBody>
          <a:bodyPr vert="horz" lIns="91440" tIns="45720" rIns="91440" bIns="45720" rtlCol="0" anchor="b">
            <a:normAutofit fontScale="80000"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853689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</a:defRPr>
            </a:lvl1pPr>
          </a:lstStyle>
          <a:p>
            <a:pPr fontAlgn="base">
              <a:lnSpc>
                <a:spcPct val="110000"/>
              </a:lnSpc>
            </a:pPr>
            <a:r>
              <a:rPr lang="zh-CN" sz="72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分治</a:t>
            </a:r>
            <a:br>
              <a:rPr lang="zh-CN" sz="44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sz="44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复习题讲评</a:t>
            </a:r>
            <a:endParaRPr lang="zh-CN" sz="4400" strike="noStrike" noProof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170" name="副标题 2"/>
          <p:cNvSpPr>
            <a:spLocks noGrp="1"/>
          </p:cNvSpPr>
          <p:nvPr/>
        </p:nvSpPr>
        <p:spPr>
          <a:xfrm>
            <a:off x="1855788" y="4071938"/>
            <a:ext cx="5689600" cy="7524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/>
          <a:p>
            <a:pPr lvl="0" indent="0" algn="ctr">
              <a:lnSpc>
                <a:spcPct val="110000"/>
              </a:lnSpc>
              <a:spcBef>
                <a:spcPts val="900"/>
              </a:spcBef>
              <a:buClr>
                <a:srgbClr val="2CBEBB"/>
              </a:buClr>
              <a:buSzPct val="80000"/>
              <a:buFont typeface="Webdings" panose="05030102010509060703" pitchFamily="18" charset="2"/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NKOJ</a:t>
            </a:r>
            <a:r>
              <a:rPr lang="en-US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2644 1533</a:t>
            </a:r>
            <a:endParaRPr lang="en-US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传送带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NKOJ2644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传送带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NKOJ2644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1774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一个2维平面上有两条传送带，每一条传送带可以看成是一条线段。两条传送带分别为线段AB和线段CD。Lxhgww在AB上的移动速度为P，在CD上的移动速度为Q，在平面上的移动速度R。现在Lxhgww想从A点走到D点，他想知道最少需要走多长时间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1&lt;= Ax，Ay，Bx，By，Cx，Cy，Dx，Dy&lt;=1000</a:t>
            </a:r>
            <a:endParaRPr lang="zh-CN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　  1&lt;=P，Q，R&lt;=10</a:t>
            </a:r>
            <a:endParaRPr lang="zh-CN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0060" y="2961005"/>
            <a:ext cx="8183880" cy="17526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一定是在线段AB上选一个点E，在线段CD上选一个点F，然后路径就是A→E→F→D。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怎样选这两个点呢？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当我们固定其中一个点的时候，显然另一个点的位置选取与总的时间是单峰函数关系，可以三分解决；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所以我们只需要进行二重三分即可。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在三分AB上的一个点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之后，再在CD上三分一个点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就可以了。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传送带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NKOJ2644  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参考代码</a:t>
            </a:r>
            <a:endParaRPr lang="zh-CN" altLang="en-US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650" y="810260"/>
            <a:ext cx="3335655" cy="4603750"/>
          </a:xfrm>
          <a:prstGeom prst="rect">
            <a:avLst/>
          </a:prstGeom>
          <a:solidFill>
            <a:srgbClr val="FF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#define eps 1e-5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void </a:t>
            </a:r>
            <a:r>
              <a:rPr lang="en-US" sz="1200" dirty="0" smtClean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San1</a:t>
            </a: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()   </a:t>
            </a:r>
            <a:r>
              <a:rPr 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三分</a:t>
            </a:r>
            <a:r>
              <a:rPr lang="en-US" altLang="zh-CN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AB</a:t>
            </a:r>
            <a:r>
              <a:rPr lang="zh-CN" alt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上的点</a:t>
            </a:r>
            <a:r>
              <a:rPr lang="en-US" altLang="zh-CN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endParaRPr lang="en-US" altLang="zh-CN" sz="1200" dirty="0" smtClean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double Lx=Ax,Ly=Ay,Rx=Bx,Ry=By;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double x1,y1,x2,y2;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while( fabs(Rx-Lx)&gt;eps || fabs(Ry-Ly)&gt;eps )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{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x1=Lx+(Rx-Lx)/3;       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y1=Ly+(Ry-Ly)/3;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x2=Lx+(Rx-Lx)/3*2;    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y2=Ly+(Ry-Ly)/3*2;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if(</a:t>
            </a:r>
            <a:r>
              <a:rPr lang="en-US" sz="1200" dirty="0" smtClean="0">
                <a:solidFill>
                  <a:srgbClr val="FF0066"/>
                </a:solidFill>
                <a:ea typeface="微软雅黑" panose="020B0503020204020204" pitchFamily="34" charset="-122"/>
                <a:sym typeface="+mn-ea"/>
              </a:rPr>
              <a:t>San2</a:t>
            </a:r>
            <a:r>
              <a:rPr lang="en-US" sz="1200" dirty="0" smtClean="0">
                <a:ea typeface="微软雅黑" panose="020B0503020204020204" pitchFamily="34" charset="-122"/>
                <a:sym typeface="+mn-ea"/>
              </a:rPr>
              <a:t>(x1,y1)</a:t>
            </a: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&gt;</a:t>
            </a:r>
            <a:r>
              <a:rPr lang="en-US" sz="1200" dirty="0" smtClean="0">
                <a:solidFill>
                  <a:srgbClr val="FF0066"/>
                </a:solidFill>
                <a:ea typeface="微软雅黑" panose="020B0503020204020204" pitchFamily="34" charset="-122"/>
                <a:sym typeface="+mn-ea"/>
              </a:rPr>
              <a:t>San2</a:t>
            </a:r>
            <a:r>
              <a:rPr lang="en-US" sz="1200" dirty="0" smtClean="0">
                <a:ea typeface="微软雅黑" panose="020B0503020204020204" pitchFamily="34" charset="-122"/>
                <a:sym typeface="+mn-ea"/>
              </a:rPr>
              <a:t>(x2,y2)</a:t>
            </a: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{  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Lx=x1;   Ly=y1;  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else { Rx=x2;  Ry=y2; 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}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printf("%.2lf\n",San2(Lx,Ly));</a:t>
            </a:r>
            <a:b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23335" y="810260"/>
            <a:ext cx="4901565" cy="4603750"/>
          </a:xfrm>
          <a:prstGeom prst="rect">
            <a:avLst/>
          </a:prstGeom>
          <a:solidFill>
            <a:srgbClr val="FF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double dis(double x1,double y1,double x2,double y2)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return sqrt((x1-x2)*(x1-x2)+(y1-y2)*(y1-y2));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double </a:t>
            </a:r>
            <a:r>
              <a:rPr lang="en-US" sz="1200" dirty="0" smtClean="0">
                <a:solidFill>
                  <a:srgbClr val="FF00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San2</a:t>
            </a: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(double x,double y)</a:t>
            </a:r>
            <a:r>
              <a:rPr 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//</a:t>
            </a:r>
            <a:r>
              <a:rPr lang="zh-CN" alt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三分</a:t>
            </a:r>
            <a:r>
              <a:rPr lang="en-US" altLang="zh-CN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CD</a:t>
            </a:r>
            <a:r>
              <a:rPr lang="zh-CN" alt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上的点</a:t>
            </a:r>
            <a:r>
              <a:rPr lang="en-US" altLang="zh-CN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</a:t>
            </a:r>
            <a:endParaRPr lang="en-US" altLang="zh-CN" sz="1200" dirty="0" smtClean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double Lx=Cx,Ly=Cy,Rx=Dx,Ry=Dy;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double x1,y1,x2,y2,t1,t2;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while(fabs(Rx-Lx)&gt;eps || fabs(Ry-Ly)&gt;eps)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{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x1=Lx+(Rx-Lx)/3;       y1=Ly+(Ry-Ly)/3;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x2=Lx+(Rx-Lx)/3*2;    y2=Ly+(Ry-Ly)/3*2;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t1=dis(Ax,Ay,x,y)/p+dis(x,y,x1,y1)/r+dis(x1,y1,Dx,Dy)/q;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t2=dis(Ax,Ay,x,y)/p+dis(x,y,x2,y2)/r+dis(x2,y2,Dx,Dy)/q;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if(t1&gt;t2){  Lx=x1;  Ly=y1; 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else {  Rx=x2;  Ry=y2; 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return  dis(Ax,Ay,x,y)/p+dis(x,y,Lx,Ly)/r+dis(Lx,Ly,Dx,Dy)/q;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玩具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NKOJ1533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玩具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NKOJ1533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34569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在相继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里，贝西每天都需要一定数量的玩具。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其中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第i天需要的玩具数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Ti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。贝西获得玩具的方法由三种：</a:t>
            </a:r>
            <a:b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购买新玩具，每个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Tc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美元。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b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把旧玩具送到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号消毒店去，每个玩具收费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C1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元，消毒需要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N1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个晚上。</a:t>
            </a:r>
            <a:b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把旧玩具送到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号消毒店去，每个玩具收费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C2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元，消毒需要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N2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个晚上。</a:t>
            </a:r>
            <a:b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贝西在一天白天结束时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把她的玩具带去消毒. 如果消毒只需要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晚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,那么第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早上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就可以拿到; 如果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需要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晚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那么第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早上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才可以拿到.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请你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帮助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贝西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找到提供玩具的最便宜的方法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，使得总花费最少。</a:t>
            </a:r>
            <a:endParaRPr lang="zh-CN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1 &lt;= D &lt;= 100,000; 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4680" y="4672330"/>
            <a:ext cx="3015615" cy="56642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</a:rPr>
              <a:t>这题！好像哪里见过！</a:t>
            </a:r>
            <a:endParaRPr lang="zh-CN" altLang="en-US" sz="24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466725" y="404813"/>
            <a:ext cx="8229600" cy="79216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1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zh-CN" altLang="en-US" sz="2400" strike="noStrike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回顾一下：餐巾计划 </a:t>
            </a:r>
            <a:r>
              <a:rPr lang="en-US" altLang="zh-CN" sz="2400" strike="noStrike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NKOJ1945</a:t>
            </a:r>
            <a:endParaRPr lang="en-US" altLang="zh-CN" sz="2400" strike="noStrike" noProof="1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6386" name="文本框 3"/>
          <p:cNvSpPr txBox="1"/>
          <p:nvPr/>
        </p:nvSpPr>
        <p:spPr>
          <a:xfrm>
            <a:off x="234315" y="1247775"/>
            <a:ext cx="8340725" cy="37458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lnSpc>
                <a:spcPct val="120000"/>
              </a:lnSpc>
            </a:pPr>
            <a:r>
              <a:rPr lang="en-US" altLang="zh-CN" sz="22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一个餐厅在相继的K天里，每天需用的餐巾数不尽相同。假设第i天需要Ri块餐巾(i=1，2，…，K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餐厅可以购</a:t>
            </a:r>
            <a:r>
              <a:rPr lang="zh-CN" altLang="en-US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买新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的餐巾，每块餐巾的费用为p元；</a:t>
            </a:r>
            <a:b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或者把旧餐巾送到</a:t>
            </a:r>
            <a:r>
              <a:rPr lang="zh-CN" altLang="en-US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快洗部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，洗一块需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天，其费用为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b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或者送到</a:t>
            </a:r>
            <a:r>
              <a:rPr lang="zh-CN" altLang="en-US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慢洗部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，洗一块需n 天(n&gt;m)，其费用为s元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</a:t>
            </a:r>
            <a:r>
              <a:rPr lang="en-US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&lt;f) ;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每天结束时，餐厅必须决定将多少块脏的餐巾送到快洗部，多少块餐巾送到慢洗部，以及多少块保存起来延期送洗。但是每天洗好的餐巾和购买的新餐巾数之和，要满足当天的需求量。 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</a:pPr>
            <a:r>
              <a:rPr lang="en-US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设计一个算法为餐厅合理地安排好K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天中餐巾使用计划，使总的花费最小。 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</a:pPr>
            <a:endParaRPr lang="zh-CN" altLang="en-US" sz="160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题目中所有数字都</a:t>
            </a: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466725" y="404813"/>
            <a:ext cx="8229600" cy="79216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1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zh-CN" altLang="en-US" sz="2400" strike="noStrike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回顾一下：餐巾计划 构图分析</a:t>
            </a:r>
            <a:endParaRPr lang="zh-CN" altLang="en-US" sz="2400" strike="noStrike" noProof="1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7410" name="文本框 3"/>
          <p:cNvSpPr txBox="1"/>
          <p:nvPr/>
        </p:nvSpPr>
        <p:spPr>
          <a:xfrm>
            <a:off x="279400" y="1498600"/>
            <a:ext cx="8340725" cy="33832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lnSpc>
                <a:spcPct val="150000"/>
              </a:lnSpc>
            </a:pP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把每天分为二分图两个集合中的顶点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Xi,Yi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，建立附加源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、从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向每个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连一条容量为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的有向边。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、从每个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连一条容量为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的有向边。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、从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向每个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连一条容量为无穷大，费用为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的有向边。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4、从每个Xi向Xi+1(i+1&lt;=K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连一条容量为无穷大，费用为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的有向边。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5、从每个Xi向Yi+m(i+m&lt;=K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连一条容量为无穷大，费用为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的有向边。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6、从每个Xi向Yi+n(i+n&lt;=K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连一条容量为无穷大，费用为</a:t>
            </a:r>
            <a:r>
              <a:rPr lang="en-US" altLang="zh-CN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的有向边。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求网络最小费用最大流，费用流值就是要求的最小总花费。</a:t>
            </a:r>
            <a:endParaRPr lang="zh-CN" altLang="en-US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466725" y="404813"/>
            <a:ext cx="8229600" cy="79216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1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zh-CN" altLang="en-US" sz="2400" strike="noStrike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回顾一下：餐巾计划 </a:t>
            </a:r>
            <a:r>
              <a:rPr lang="en-US" altLang="zh-CN" sz="2400" strike="noStrike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NKOJ1945</a:t>
            </a:r>
            <a:endParaRPr lang="en-US" altLang="zh-CN" sz="2400" strike="noStrike" noProof="1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8434" name="文本框 3"/>
          <p:cNvSpPr txBox="1"/>
          <p:nvPr/>
        </p:nvSpPr>
        <p:spPr>
          <a:xfrm>
            <a:off x="287020" y="1330960"/>
            <a:ext cx="8340725" cy="30333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lnSpc>
                <a:spcPct val="140000"/>
              </a:lnSpc>
            </a:pP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这个问题的主要约束条件是每天的餐巾够用，而餐巾的来源可能是最新购买，也可能是前几天送洗，今天刚刚洗好的餐巾。每天用完的餐巾可以选择送到快洗部或慢洗部，或者留到下一天再处理。</a:t>
            </a:r>
            <a:endParaRPr lang="zh-CN" altLang="en-US" sz="140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40000"/>
              </a:lnSpc>
            </a:pP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经过分析可以把每天要用的和用完的分离开处理，建模后就是二分图。二分图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集合中顶点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天用完的餐巾，其数量为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，所以从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连接容量为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的边作为限制。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集合中每个点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则是第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天需要的餐巾，数量为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，与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连接的边容量作为限制。每天用完的餐巾可以选择留到下一天（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Xi-&gt;Xi+1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），不需要花费，送到快洗部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(Xi-&gt;Yi+m)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，费用为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，送到慢洗部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(Xi-&gt;Yi+n)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，费用为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。每天需要的餐巾除了刚刚洗好的餐巾，还可能是新购买的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(S-&gt;Yi)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，费用为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40000"/>
              </a:lnSpc>
            </a:pPr>
            <a:endParaRPr lang="zh-CN" altLang="en-US" sz="120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40000"/>
              </a:lnSpc>
            </a:pP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求出的最小费用最大流，满足了问题的约束条件（因为在这个图上最大流一定可以使与</a:t>
            </a:r>
            <a:r>
              <a:rPr lang="en-US" altLang="zh-CN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4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连接的边全部满流，其他边只要有可行流就满足条件），而且还可以保证总费用最小，就是我们的优化目标。</a:t>
            </a:r>
            <a:endParaRPr lang="zh-CN" altLang="en-US" sz="140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玩具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NKOJ1533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34569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在相继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里，贝西每天都需要一定数量的玩具。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其中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第i天需要的玩具数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Ti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。贝西获得玩具的方法由三种：</a:t>
            </a:r>
            <a:b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购买新玩具，每个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Tc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美元。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b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把旧玩具送到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号消毒店去，每个玩具收费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C1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元，消毒需要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N1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个晚上。</a:t>
            </a:r>
            <a:b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把旧玩具送到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号消毒店去，每个玩具收费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C2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元，消毒需要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N2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个晚上。</a:t>
            </a:r>
            <a:b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贝西在一天白天结束时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把她的玩具带去消毒. 如果消毒只需要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晚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,那么第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早上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就可以拿到; 如果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需要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晚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那么第</a:t>
            </a: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早上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才可以拿到.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请你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帮助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贝西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找到提供玩具的最便宜的方法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，使得总花费最少。</a:t>
            </a:r>
            <a:endParaRPr lang="zh-CN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1 &lt;= D &lt;= 100,000; 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2280" y="4535805"/>
            <a:ext cx="7119620" cy="88392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如果D比较小，这题就是经典的费用流模型（餐巾计划问题）。但是D很大，费用流做法明显会超时。</a:t>
            </a:r>
            <a:endParaRPr lang="zh-CN" altLang="en-US" sz="20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5577840"/>
            <a:ext cx="8607425" cy="59118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玩具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解题分析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677545"/>
            <a:ext cx="8434705" cy="143764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我们讨论玩具与费用的关系：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设f(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: 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表示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在满足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天要求的前提下，产生的总费用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(D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天中总共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购买了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个新玩具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。</a:t>
            </a:r>
            <a:b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g(x):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表示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天中，将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个玩具中若干分配去消毒，产生的总费用。</a:t>
            </a:r>
            <a:endParaRPr lang="zh-CN" altLang="en-US" sz="17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显然有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f(x)=g(x)+Tc*x          // Tc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为一个新玩具的价格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2115185"/>
            <a:ext cx="7562850" cy="1516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对于g(x)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：显然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玩具数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越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大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g(x)越小 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，新玩具越多，分配去消毒的就越少。</a:t>
            </a:r>
            <a:b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所以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g(x)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是递减函数且 g(x)-g(x-1)&lt;=g(x+1)-g(x)</a:t>
            </a:r>
            <a:b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于是根据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f(x)-f(x-1)=g(x)-g(x-1)+tc  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推出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f(x)-f(x-1)&lt;=f(x+1)-f(x)</a:t>
            </a:r>
            <a:b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得出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f(x)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是个斜率递增的函数。</a:t>
            </a:r>
            <a:endParaRPr lang="zh-CN" altLang="en-US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3220" y="3677920"/>
            <a:ext cx="3482975" cy="2900045"/>
          </a:xfrm>
          <a:prstGeom prst="rect">
            <a:avLst/>
          </a:prstGeom>
          <a:solidFill>
            <a:srgbClr val="FF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vfleaking</a:t>
            </a: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的证明</a:t>
            </a:r>
            <a:endParaRPr lang="zh-CN" altLang="en-US" sz="16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“ </a:t>
            </a: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因为这题能最小费用最大流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每次最短路长度不降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所以是单峰的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最短路长度就是差分值。。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所以一阶导不降。。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是不是简单粗暴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你要证函数是单峰的。</a:t>
            </a:r>
            <a:endParaRPr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当然是证斜率什么的</a:t>
            </a:r>
            <a:r>
              <a:rPr 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。</a:t>
            </a:r>
            <a:r>
              <a:rPr 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endParaRPr lang="en-US"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80510" y="3677920"/>
            <a:ext cx="4618990" cy="1278890"/>
          </a:xfrm>
          <a:prstGeom prst="rect">
            <a:avLst/>
          </a:prstGeom>
          <a:solidFill>
            <a:srgbClr val="FF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1、对于费用流，在最优解的情况下，买多一</a:t>
            </a:r>
            <a:r>
              <a:rPr lang="zh-CN"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个玩具</a:t>
            </a: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，意味着走多一条最短路，费用增加。少买一</a:t>
            </a:r>
            <a:r>
              <a:rPr lang="zh-CN"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玩具</a:t>
            </a: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，那么等于少走一条某个时刻的最短路，走了第二短路什么的，费用也是增加，故单峰。</a:t>
            </a:r>
            <a:endParaRPr sz="12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2、对于分配</a:t>
            </a:r>
            <a:r>
              <a:rPr lang="zh-CN"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消毒</a:t>
            </a: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，在最优情况下，买多一</a:t>
            </a:r>
            <a:r>
              <a:rPr lang="zh-CN"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个玩具</a:t>
            </a: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肯定浪费，买少了就需要更多的钱去</a:t>
            </a:r>
            <a:r>
              <a:rPr lang="zh-CN"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消毒</a:t>
            </a: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，所以</a:t>
            </a:r>
            <a:r>
              <a:rPr lang="zh-CN"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也是</a:t>
            </a:r>
            <a:r>
              <a:rPr sz="12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单峰。。</a:t>
            </a:r>
            <a:endParaRPr sz="12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0510" y="5226050"/>
            <a:ext cx="4803775" cy="7251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既然知道了总费用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f(x)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是与新买的玩具数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相关的单峰函数，那我们就可以用</a:t>
            </a: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三分法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来求极值了。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 bldLvl="0" animBg="1"/>
      <p:bldP spid="5" grpId="0" bldLvl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玩具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三分参考代码：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852170"/>
            <a:ext cx="8434705" cy="379349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// L=1;  R=T[1]+T[2]+...+T[D];</a:t>
            </a:r>
            <a:endParaRPr lang="en-US" alt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while 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-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&gt;1)</a:t>
            </a:r>
            <a:b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    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Lmid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=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+ 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-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/ 3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b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     Rmid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=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-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 / 3;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     if ( </a:t>
            </a:r>
            <a:r>
              <a:rPr lang="en-US" alt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Check</a:t>
            </a:r>
            <a:r>
              <a:rPr 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Lmid</a:t>
            </a:r>
            <a:r>
              <a:rPr 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&lt;</a:t>
            </a:r>
            <a:r>
              <a:rPr 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Check</a:t>
            </a:r>
            <a:r>
              <a:rPr 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Rmid</a:t>
            </a:r>
            <a:r>
              <a:rPr 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) 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=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Rmid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     else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=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Lmid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if 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==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cout &lt;&lt;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Check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&lt;&lt; endl;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else cout &lt;&lt; min(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Check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L 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),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Check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R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) &lt;&lt; endl;</a:t>
            </a:r>
            <a:endParaRPr 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8135" y="5090795"/>
            <a:ext cx="7119620" cy="48768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问题：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Check( )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怎么实现？</a:t>
            </a:r>
            <a:endParaRPr lang="zh-CN" altLang="en-US" sz="20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玩具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解题分析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2 Check()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677545"/>
            <a:ext cx="8434705" cy="379349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1.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首先如果快消毒店的费用比慢消毒店的费用还低，那么就不需要慢消毒店了，把慢消毒店变成快消毒店。</a:t>
            </a:r>
            <a:b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b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2.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在进行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Check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（）时，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从左往右扫，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依次讨论每一天：</a:t>
            </a:r>
            <a:b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（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先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只用</a:t>
            </a:r>
            <a:r>
              <a:rPr lang="zh-CN" altLang="en-US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玩具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但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用完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不消毒，留着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需要时再消毒；</a:t>
            </a:r>
            <a:b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如果碰到玩具不够的情况，就找</a:t>
            </a:r>
            <a:r>
              <a:rPr lang="en-US" altLang="zh-CN" sz="17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en-US" alt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</a:t>
            </a:r>
            <a:r>
              <a:rPr lang="en-US" altLang="zh-CN" sz="17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用完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留着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没处理的玩具，把它们能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送慢</a:t>
            </a:r>
            <a:r>
              <a:rPr lang="zh-CN" altLang="en-US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消毒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就送慢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消毒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店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；</a:t>
            </a:r>
            <a:b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）如果慢消毒店不能满足要求，再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送快</a:t>
            </a:r>
            <a:r>
              <a:rPr lang="zh-CN" altLang="en-US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消毒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，快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消毒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店则在慢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消毒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无法满足要求的时候，优先选择消毒那些</a:t>
            </a:r>
            <a:r>
              <a:rPr lang="en-US" altLang="zh-CN" sz="17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en-US" altLang="zh-CN" sz="1700" b="1" dirty="0" smtClean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</a:t>
            </a:r>
            <a:r>
              <a:rPr lang="en-US" altLang="zh-CN" sz="17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用完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留着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没处理，且能够在当天之前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消毒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完的玩具。</a:t>
            </a:r>
            <a:b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endParaRPr lang="en-US" alt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3.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具体实现时，用两个队列来维护：一个维护慢消毒店，一个维护快消毒店</a:t>
            </a:r>
            <a:endParaRPr lang="zh-CN" altLang="en-US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2905" y="5008245"/>
            <a:ext cx="5725160" cy="447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完整代码请参阅  http://hzwer.com/7459.html</a:t>
            </a:r>
            <a:endParaRPr lang="zh-CN" altLang="en-US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消防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NKOJ2650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消防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NKOJ2650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16757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某个国家有n</a:t>
            </a: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n&lt;=300000</a:t>
            </a: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个城市，这n个城市中任意两个都连通且有唯一一条路径，每条连通两个城市的道路的长度为zi(zi&lt;=1000)。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　　现在这个国家的经费足以在一条边</a:t>
            </a:r>
            <a:r>
              <a:rPr sz="16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长度和不超过s的路径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（两端都是城市）上建立消防枢纽，为了尽量提高枢纽的利用率，要求其他所有城市到这条路径的距离的最大值最小。你需要</a:t>
            </a: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计算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应该把枢纽建立在什么位置上。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2517140"/>
            <a:ext cx="7119620" cy="104203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一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.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要找的路径一定在直径上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很容易用反证法证明，只需讨论该路径与直径有交集和无交集的情况。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若有多条直径，随便讨论一条都行。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4795" y="3621405"/>
            <a:ext cx="8764270" cy="38862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500" dirty="0" smtClean="0">
                <a:latin typeface="微软雅黑 Light" panose="020B0502040204020203" charset="-122"/>
                <a:ea typeface="微软雅黑 Light" panose="020B0502040204020203" charset="-122"/>
              </a:rPr>
              <a:t>二</a:t>
            </a:r>
            <a:r>
              <a:rPr lang="en-US" alt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.</a:t>
            </a:r>
            <a:r>
              <a:rPr lang="zh-CN" altLang="en-US" sz="1500" dirty="0" smtClean="0">
                <a:latin typeface="微软雅黑 Light" panose="020B0502040204020203" charset="-122"/>
                <a:ea typeface="微软雅黑 Light" panose="020B0502040204020203" charset="-122"/>
              </a:rPr>
              <a:t>任意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找出一条直径，将直径上的边权值设为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，再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一遍，就可以找出所有点到直径的最短距离</a:t>
            </a:r>
            <a:r>
              <a:rPr lang="zh-CN" altLang="en-US" sz="1500" dirty="0" smtClean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4795" y="4106545"/>
            <a:ext cx="8397875" cy="38862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500" dirty="0" smtClean="0">
                <a:latin typeface="微软雅黑 Light" panose="020B0502040204020203" charset="-122"/>
                <a:ea typeface="微软雅黑 Light" panose="020B0502040204020203" charset="-122"/>
              </a:rPr>
              <a:t>三</a:t>
            </a:r>
            <a:r>
              <a:rPr lang="en-US" alt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.</a:t>
            </a:r>
            <a:r>
              <a:rPr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枢纽</a:t>
            </a:r>
            <a:r>
              <a:rPr 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到每个点的最大距离有两种情况。 </a:t>
            </a:r>
            <a:r>
              <a:rPr 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枢纽到</a:t>
            </a:r>
            <a:r>
              <a:rPr 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枢纽到直径的端点</a:t>
            </a:r>
            <a:r>
              <a:rPr 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4795" y="4655185"/>
            <a:ext cx="8397875" cy="104203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二分直径</a:t>
            </a:r>
            <a:r>
              <a:rPr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两端</a:t>
            </a:r>
            <a:r>
              <a:rPr 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去掉的长度</a:t>
            </a:r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然后再判断剩余的长度满不满足题目中要求的最大长度</a:t>
            </a:r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）二分的下限为所有点到枢纽路径的距离中的最大者</a:t>
            </a:r>
            <a:b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）二分的上限为直径的长度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bldLvl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消防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NKOJ2650 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参考代码</a:t>
            </a:r>
            <a:endParaRPr lang="zh-CN" altLang="en-US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4170" y="753745"/>
            <a:ext cx="4743450" cy="262636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600" dirty="0" smtClean="0"/>
              <a:t>R=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直径长度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pPr>
              <a:lnSpc>
                <a:spcPct val="130000"/>
              </a:lnSpc>
            </a:pPr>
            <a:r>
              <a:rPr lang="en-US" sz="1600" dirty="0" smtClean="0"/>
              <a:t>for</a:t>
            </a:r>
            <a:r>
              <a:rPr sz="1600" dirty="0" smtClean="0"/>
              <a:t>(i</a:t>
            </a:r>
            <a:r>
              <a:rPr lang="en-US" sz="1600" dirty="0" smtClean="0"/>
              <a:t>=</a:t>
            </a:r>
            <a:r>
              <a:rPr sz="1600" dirty="0" smtClean="0"/>
              <a:t>1</a:t>
            </a:r>
            <a:r>
              <a:rPr lang="en-US" sz="1600" dirty="0" smtClean="0"/>
              <a:t>;i&lt;=</a:t>
            </a:r>
            <a:r>
              <a:rPr sz="1600" dirty="0" smtClean="0"/>
              <a:t>n</a:t>
            </a:r>
            <a:r>
              <a:rPr lang="en-US" sz="1600" dirty="0" smtClean="0"/>
              <a:t>;i++</a:t>
            </a:r>
            <a:r>
              <a:rPr sz="1600" dirty="0" smtClean="0"/>
              <a:t>) L=max(L,dis[i]);</a:t>
            </a:r>
            <a:endParaRPr sz="1600" dirty="0" smtClean="0"/>
          </a:p>
          <a:p>
            <a:pPr>
              <a:lnSpc>
                <a:spcPct val="130000"/>
              </a:lnSpc>
            </a:pPr>
            <a:r>
              <a:rPr sz="1600" dirty="0" smtClean="0"/>
              <a:t>while(L&lt;R) </a:t>
            </a:r>
            <a:endParaRPr sz="1600" dirty="0" smtClean="0"/>
          </a:p>
          <a:p>
            <a:pPr>
              <a:lnSpc>
                <a:spcPct val="130000"/>
              </a:lnSpc>
            </a:pPr>
            <a:r>
              <a:rPr sz="1600" dirty="0" smtClean="0"/>
              <a:t>{</a:t>
            </a:r>
            <a:endParaRPr sz="1600" dirty="0" smtClean="0"/>
          </a:p>
          <a:p>
            <a:pPr>
              <a:lnSpc>
                <a:spcPct val="130000"/>
              </a:lnSpc>
            </a:pPr>
            <a:r>
              <a:rPr sz="1600" dirty="0" smtClean="0"/>
              <a:t>       M</a:t>
            </a:r>
            <a:r>
              <a:rPr lang="en-US" sz="1600" dirty="0" smtClean="0"/>
              <a:t>id</a:t>
            </a:r>
            <a:r>
              <a:rPr sz="1600" dirty="0" smtClean="0"/>
              <a:t>=(L+R)&gt;&gt;1;</a:t>
            </a:r>
            <a:endParaRPr sz="1600" dirty="0" smtClean="0"/>
          </a:p>
          <a:p>
            <a:pPr>
              <a:lnSpc>
                <a:spcPct val="130000"/>
              </a:lnSpc>
            </a:pPr>
            <a:r>
              <a:rPr sz="1600" dirty="0" smtClean="0"/>
              <a:t>       if(</a:t>
            </a:r>
            <a:r>
              <a:rPr lang="en-US" sz="1600" dirty="0" smtClean="0"/>
              <a:t>Check</a:t>
            </a:r>
            <a:r>
              <a:rPr sz="1600" dirty="0" smtClean="0"/>
              <a:t>(M</a:t>
            </a:r>
            <a:r>
              <a:rPr lang="en-US" sz="1600" dirty="0" smtClean="0"/>
              <a:t>id</a:t>
            </a:r>
            <a:r>
              <a:rPr sz="1600" dirty="0" smtClean="0"/>
              <a:t>)) R=M</a:t>
            </a:r>
            <a:r>
              <a:rPr lang="en-US" sz="1600" dirty="0" smtClean="0"/>
              <a:t>id</a:t>
            </a:r>
            <a:r>
              <a:rPr sz="1600" dirty="0" smtClean="0"/>
              <a:t>; else L=M</a:t>
            </a:r>
            <a:r>
              <a:rPr lang="en-US" sz="1600" dirty="0" smtClean="0"/>
              <a:t>id</a:t>
            </a:r>
            <a:r>
              <a:rPr sz="1600" dirty="0" smtClean="0"/>
              <a:t>+1;</a:t>
            </a:r>
            <a:endParaRPr sz="1600" dirty="0" smtClean="0"/>
          </a:p>
          <a:p>
            <a:pPr>
              <a:lnSpc>
                <a:spcPct val="130000"/>
              </a:lnSpc>
            </a:pPr>
            <a:r>
              <a:rPr sz="1600" dirty="0" smtClean="0"/>
              <a:t> }</a:t>
            </a:r>
            <a:endParaRPr sz="1600" dirty="0" smtClean="0"/>
          </a:p>
          <a:p>
            <a:pPr>
              <a:lnSpc>
                <a:spcPct val="130000"/>
              </a:lnSpc>
            </a:pPr>
            <a:r>
              <a:rPr sz="1600" dirty="0" smtClean="0"/>
              <a:t>printf("%d",L);</a:t>
            </a:r>
            <a:endParaRPr sz="16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336550" y="3749675"/>
            <a:ext cx="8341360" cy="258508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dirty="0" smtClean="0"/>
              <a:t>bool </a:t>
            </a:r>
            <a:r>
              <a:rPr lang="en-US" dirty="0" smtClean="0"/>
              <a:t>Check</a:t>
            </a:r>
            <a:r>
              <a:rPr dirty="0" smtClean="0"/>
              <a:t>(int M</a:t>
            </a:r>
            <a:r>
              <a:rPr lang="en-US" dirty="0" smtClean="0"/>
              <a:t>id</a:t>
            </a:r>
            <a:r>
              <a:rPr dirty="0" smtClean="0"/>
              <a:t>)  </a:t>
            </a:r>
            <a:r>
              <a:rPr dirty="0" smtClean="0">
                <a:solidFill>
                  <a:schemeClr val="accent4"/>
                </a:solidFill>
              </a:rPr>
              <a:t> </a:t>
            </a:r>
            <a:r>
              <a:rPr lang="en-US" dirty="0" smtClean="0">
                <a:solidFill>
                  <a:schemeClr val="accent4"/>
                </a:solidFill>
              </a:rPr>
              <a:t>//</a:t>
            </a:r>
            <a:r>
              <a:rPr lang="zh-CN" altLang="en-US" dirty="0" smtClean="0">
                <a:solidFill>
                  <a:schemeClr val="accent4"/>
                </a:solidFill>
              </a:rPr>
              <a:t>讨论左右两边能否都去掉</a:t>
            </a:r>
            <a:r>
              <a:rPr lang="en-US" altLang="zh-CN" dirty="0" smtClean="0">
                <a:solidFill>
                  <a:schemeClr val="accent4"/>
                </a:solidFill>
              </a:rPr>
              <a:t>Mid</a:t>
            </a:r>
            <a:endParaRPr lang="en-US" altLang="zh-CN" dirty="0" smtClean="0">
              <a:solidFill>
                <a:schemeClr val="accent4"/>
              </a:solidFill>
            </a:endParaRPr>
          </a:p>
          <a:p>
            <a:pPr>
              <a:lnSpc>
                <a:spcPct val="130000"/>
              </a:lnSpc>
            </a:pPr>
            <a:r>
              <a:rPr dirty="0" smtClean="0"/>
              <a:t>{</a:t>
            </a:r>
            <a:endParaRPr dirty="0" smtClean="0"/>
          </a:p>
          <a:p>
            <a:pPr>
              <a:lnSpc>
                <a:spcPct val="130000"/>
              </a:lnSpc>
            </a:pPr>
            <a:r>
              <a:rPr dirty="0" smtClean="0"/>
              <a:t>    int </a:t>
            </a:r>
            <a:r>
              <a:rPr lang="en-US" dirty="0" smtClean="0"/>
              <a:t>L</a:t>
            </a:r>
            <a:r>
              <a:rPr dirty="0" smtClean="0"/>
              <a:t>=1,</a:t>
            </a:r>
            <a:r>
              <a:rPr lang="en-US" dirty="0" smtClean="0"/>
              <a:t>R</a:t>
            </a:r>
            <a:r>
              <a:rPr dirty="0" smtClean="0"/>
              <a:t>=</a:t>
            </a:r>
            <a:r>
              <a:rPr lang="en-US" dirty="0" smtClean="0"/>
              <a:t>tot</a:t>
            </a:r>
            <a:r>
              <a:rPr dirty="0" smtClean="0"/>
              <a:t>;      </a:t>
            </a:r>
            <a:r>
              <a:rPr dirty="0" smtClean="0">
                <a:solidFill>
                  <a:schemeClr val="accent4"/>
                </a:solidFill>
              </a:rPr>
              <a:t> </a:t>
            </a:r>
            <a:r>
              <a:rPr lang="en-US" dirty="0" smtClean="0">
                <a:solidFill>
                  <a:schemeClr val="accent4"/>
                </a:solidFill>
              </a:rPr>
              <a:t>//</a:t>
            </a:r>
            <a:r>
              <a:rPr lang="zh-CN" altLang="en-US" dirty="0" smtClean="0">
                <a:solidFill>
                  <a:schemeClr val="accent4"/>
                </a:solidFill>
              </a:rPr>
              <a:t>直径上共</a:t>
            </a:r>
            <a:r>
              <a:rPr lang="en-US" altLang="zh-CN" dirty="0" smtClean="0">
                <a:solidFill>
                  <a:schemeClr val="accent4"/>
                </a:solidFill>
              </a:rPr>
              <a:t>tot</a:t>
            </a:r>
            <a:r>
              <a:rPr lang="zh-CN" altLang="en-US" dirty="0" smtClean="0">
                <a:solidFill>
                  <a:schemeClr val="accent4"/>
                </a:solidFill>
              </a:rPr>
              <a:t>个点，距离前缀和记录在</a:t>
            </a:r>
            <a:r>
              <a:rPr lang="en-US" altLang="zh-CN" dirty="0" smtClean="0">
                <a:solidFill>
                  <a:schemeClr val="accent4"/>
                </a:solidFill>
              </a:rPr>
              <a:t>Zhi</a:t>
            </a:r>
            <a:r>
              <a:rPr lang="zh-CN" altLang="en-US" dirty="0" smtClean="0">
                <a:solidFill>
                  <a:schemeClr val="accent4"/>
                </a:solidFill>
              </a:rPr>
              <a:t>数组中</a:t>
            </a:r>
            <a:endParaRPr lang="zh-CN" altLang="en-US" dirty="0" smtClean="0">
              <a:solidFill>
                <a:schemeClr val="accent4"/>
              </a:solidFill>
            </a:endParaRPr>
          </a:p>
          <a:p>
            <a:pPr>
              <a:lnSpc>
                <a:spcPct val="130000"/>
              </a:lnSpc>
            </a:pPr>
            <a:r>
              <a:rPr dirty="0" smtClean="0"/>
              <a:t>   while(</a:t>
            </a:r>
            <a:r>
              <a:rPr lang="en-US" dirty="0" smtClean="0"/>
              <a:t>L</a:t>
            </a:r>
            <a:r>
              <a:rPr dirty="0" smtClean="0"/>
              <a:t>&lt;=</a:t>
            </a:r>
            <a:r>
              <a:rPr lang="en-US" dirty="0" smtClean="0"/>
              <a:t>tot</a:t>
            </a:r>
            <a:r>
              <a:rPr dirty="0" smtClean="0"/>
              <a:t> &amp;&amp; </a:t>
            </a:r>
            <a:r>
              <a:rPr lang="en-US" dirty="0" smtClean="0"/>
              <a:t>Zhi</a:t>
            </a:r>
            <a:r>
              <a:rPr dirty="0" smtClean="0"/>
              <a:t>[</a:t>
            </a:r>
            <a:r>
              <a:rPr lang="en-US" dirty="0" smtClean="0"/>
              <a:t>L+1</a:t>
            </a:r>
            <a:r>
              <a:rPr dirty="0" smtClean="0"/>
              <a:t>]-</a:t>
            </a:r>
            <a:r>
              <a:rPr lang="en-US" dirty="0" smtClean="0"/>
              <a:t>Zhi</a:t>
            </a:r>
            <a:r>
              <a:rPr dirty="0" smtClean="0"/>
              <a:t>[1]&lt;=</a:t>
            </a:r>
            <a:r>
              <a:rPr lang="en-US" dirty="0" smtClean="0"/>
              <a:t>Mid</a:t>
            </a:r>
            <a:r>
              <a:rPr dirty="0" smtClean="0"/>
              <a:t>) </a:t>
            </a:r>
            <a:r>
              <a:rPr lang="en-US" dirty="0" smtClean="0"/>
              <a:t>L</a:t>
            </a:r>
            <a:r>
              <a:rPr dirty="0" smtClean="0"/>
              <a:t>++;</a:t>
            </a:r>
            <a:r>
              <a:rPr dirty="0" smtClean="0">
                <a:solidFill>
                  <a:schemeClr val="accent4"/>
                </a:solidFill>
              </a:rPr>
              <a:t> </a:t>
            </a:r>
            <a:r>
              <a:rPr lang="en-US" dirty="0" smtClean="0">
                <a:solidFill>
                  <a:schemeClr val="accent4"/>
                </a:solidFill>
              </a:rPr>
              <a:t>//</a:t>
            </a:r>
            <a:r>
              <a:rPr lang="zh-CN" altLang="en-US" dirty="0" smtClean="0">
                <a:solidFill>
                  <a:schemeClr val="accent4"/>
                </a:solidFill>
              </a:rPr>
              <a:t>讨论直径左边要去掉的部分</a:t>
            </a:r>
            <a:endParaRPr lang="zh-CN" altLang="en-US" dirty="0" smtClean="0">
              <a:solidFill>
                <a:schemeClr val="accent4"/>
              </a:solidFill>
            </a:endParaRPr>
          </a:p>
          <a:p>
            <a:pPr>
              <a:lnSpc>
                <a:spcPct val="130000"/>
              </a:lnSpc>
            </a:pPr>
            <a:r>
              <a:rPr dirty="0" smtClean="0"/>
              <a:t>   while(</a:t>
            </a:r>
            <a:r>
              <a:rPr lang="en-US" dirty="0" smtClean="0"/>
              <a:t>R</a:t>
            </a:r>
            <a:r>
              <a:rPr dirty="0" smtClean="0"/>
              <a:t> &amp;&amp; </a:t>
            </a:r>
            <a:r>
              <a:rPr lang="en-US" dirty="0" smtClean="0"/>
              <a:t>Zhi</a:t>
            </a:r>
            <a:r>
              <a:rPr dirty="0" smtClean="0"/>
              <a:t>[</a:t>
            </a:r>
            <a:r>
              <a:rPr lang="en-US" dirty="0" smtClean="0"/>
              <a:t>tot</a:t>
            </a:r>
            <a:r>
              <a:rPr dirty="0" smtClean="0"/>
              <a:t>]-</a:t>
            </a:r>
            <a:r>
              <a:rPr lang="en-US" dirty="0" smtClean="0"/>
              <a:t>Zhi</a:t>
            </a:r>
            <a:r>
              <a:rPr dirty="0" smtClean="0"/>
              <a:t>[</a:t>
            </a:r>
            <a:r>
              <a:rPr lang="en-US" dirty="0" smtClean="0"/>
              <a:t>R-1</a:t>
            </a:r>
            <a:r>
              <a:rPr dirty="0" smtClean="0"/>
              <a:t>]&lt;=</a:t>
            </a:r>
            <a:r>
              <a:rPr lang="en-US" dirty="0" smtClean="0"/>
              <a:t>Mid</a:t>
            </a:r>
            <a:r>
              <a:rPr dirty="0" smtClean="0"/>
              <a:t>) </a:t>
            </a:r>
            <a:r>
              <a:rPr lang="en-US" dirty="0" smtClean="0"/>
              <a:t>R</a:t>
            </a:r>
            <a:r>
              <a:rPr dirty="0" smtClean="0"/>
              <a:t>--;       </a:t>
            </a:r>
            <a:r>
              <a:rPr dirty="0" smtClean="0">
                <a:solidFill>
                  <a:schemeClr val="accent4"/>
                </a:solidFill>
              </a:rPr>
              <a:t> </a:t>
            </a:r>
            <a:r>
              <a:rPr lang="en-US" dirty="0" smtClean="0">
                <a:solidFill>
                  <a:schemeClr val="accent4"/>
                </a:solidFill>
              </a:rPr>
              <a:t>//</a:t>
            </a:r>
            <a:r>
              <a:rPr lang="zh-CN" altLang="en-US" dirty="0" smtClean="0">
                <a:solidFill>
                  <a:schemeClr val="accent4"/>
                </a:solidFill>
              </a:rPr>
              <a:t>讨论直径右边要去掉的部分</a:t>
            </a:r>
            <a:endParaRPr lang="zh-CN" altLang="en-US" dirty="0" smtClean="0">
              <a:solidFill>
                <a:schemeClr val="accent4"/>
              </a:solidFill>
            </a:endParaRPr>
          </a:p>
          <a:p>
            <a:pPr>
              <a:lnSpc>
                <a:spcPct val="130000"/>
              </a:lnSpc>
            </a:pPr>
            <a:r>
              <a:rPr dirty="0" smtClean="0"/>
              <a:t>   return </a:t>
            </a:r>
            <a:r>
              <a:rPr lang="en-US" dirty="0" smtClean="0"/>
              <a:t>Zhi</a:t>
            </a:r>
            <a:r>
              <a:rPr dirty="0" smtClean="0"/>
              <a:t>[</a:t>
            </a:r>
            <a:r>
              <a:rPr lang="en-US" dirty="0" smtClean="0"/>
              <a:t>R</a:t>
            </a:r>
            <a:r>
              <a:rPr dirty="0" smtClean="0"/>
              <a:t>]-</a:t>
            </a:r>
            <a:r>
              <a:rPr lang="en-US" dirty="0" smtClean="0"/>
              <a:t>Zhi</a:t>
            </a:r>
            <a:r>
              <a:rPr dirty="0" smtClean="0"/>
              <a:t>[</a:t>
            </a:r>
            <a:r>
              <a:rPr lang="en-US" dirty="0" smtClean="0"/>
              <a:t>L</a:t>
            </a:r>
            <a:r>
              <a:rPr dirty="0" smtClean="0"/>
              <a:t>]&lt;=S;</a:t>
            </a:r>
            <a:endParaRPr dirty="0" smtClean="0"/>
          </a:p>
          <a:p>
            <a:pPr>
              <a:lnSpc>
                <a:spcPct val="130000"/>
              </a:lnSpc>
            </a:pPr>
            <a:r>
              <a:rPr dirty="0" smtClean="0"/>
              <a:t>}</a:t>
            </a:r>
            <a:endParaRPr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EMPLATE_THUMBS_INDEX" val="1、4、5、9、12、15、20、25、26、27"/>
  <p:tag name="KSO_WM_TEMPLATE_CATEGORY" val="custom"/>
  <p:tag name="KSO_WM_TEMPLATE_INDEX" val="247"/>
  <p:tag name="KSO_WM_TAG_VERSION" val="1.0"/>
  <p:tag name="KSO_WM_SLIDE_ID" val="custom24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自定义 63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2CBEBB"/>
      </a:accent1>
      <a:accent2>
        <a:srgbClr val="00AEEF"/>
      </a:accent2>
      <a:accent3>
        <a:srgbClr val="00989D"/>
      </a:accent3>
      <a:accent4>
        <a:srgbClr val="5277C2"/>
      </a:accent4>
      <a:accent5>
        <a:srgbClr val="853689"/>
      </a:accent5>
      <a:accent6>
        <a:srgbClr val="E33F61"/>
      </a:accent6>
      <a:hlink>
        <a:srgbClr val="00B0F0"/>
      </a:hlink>
      <a:folHlink>
        <a:srgbClr val="7F7F7F"/>
      </a:folHlink>
    </a:clrScheme>
    <a:fontScheme name="自定义 10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5187</Words>
  <Application>WPS 演示</Application>
  <PresentationFormat/>
  <Paragraphs>184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Webdings</vt:lpstr>
      <vt:lpstr>幼圆</vt:lpstr>
      <vt:lpstr>Times New Roman</vt:lpstr>
      <vt:lpstr>黑体</vt:lpstr>
      <vt:lpstr>微软雅黑 Light</vt:lpstr>
      <vt:lpstr>Calibri</vt:lpstr>
      <vt:lpstr>1_A000120140530A99PPBG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何浪</dc:creator>
  <cp:lastModifiedBy>何浪</cp:lastModifiedBy>
  <cp:revision>876</cp:revision>
  <dcterms:created xsi:type="dcterms:W3CDTF">2016-06-22T03:39:00Z</dcterms:created>
  <dcterms:modified xsi:type="dcterms:W3CDTF">2016-11-02T12:33:36Z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2052-10.1.0.6029</vt:lpwstr>
  </property>
</Properties>
</file>