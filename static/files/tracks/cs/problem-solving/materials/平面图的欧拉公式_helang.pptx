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3"/>
    <p:sldId id="259" r:id="rId4"/>
    <p:sldId id="260" r:id="rId5"/>
    <p:sldId id="261" r:id="rId6"/>
    <p:sldId id="262" r:id="rId7"/>
    <p:sldId id="267" r:id="rId8"/>
    <p:sldId id="263" r:id="rId9"/>
    <p:sldId id="266" r:id="rId10"/>
    <p:sldId id="265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9900CC"/>
    <a:srgbClr val="0066FF"/>
    <a:srgbClr val="FF99FF"/>
    <a:srgbClr val="66FFFF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9900" y="3282950"/>
            <a:ext cx="8351838" cy="7016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algn="ctr">
              <a:defRPr sz="4000">
                <a:latin typeface="+mj-ea"/>
                <a:ea typeface="+mj-ea"/>
              </a:defRPr>
            </a:lvl1pPr>
          </a:lstStyle>
          <a:p>
            <a:pPr lvl="0"/>
            <a:r>
              <a:rPr lang="zh-CN" noProof="0" dirty="0" smtClean="0">
                <a:sym typeface="Arial" pitchFamily="34" charset="0"/>
              </a:rPr>
              <a:t>单击此处编辑母版标题样式</a:t>
            </a:r>
            <a:endParaRPr lang="zh-CN" noProof="0" dirty="0" smtClean="0">
              <a:sym typeface="Arial" pitchFamily="34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9900" y="3986213"/>
            <a:ext cx="8351838" cy="5175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noProof="0" dirty="0" smtClean="0">
                <a:sym typeface="Arial" pitchFamily="34" charset="0"/>
              </a:rPr>
              <a:t>单击此处编辑母版副标题样式</a:t>
            </a:r>
            <a:endParaRPr lang="zh-CN" noProof="0" dirty="0" smtClean="0">
              <a:sym typeface="Arial" pitchFamily="34" charset="0"/>
            </a:endParaRPr>
          </a:p>
        </p:txBody>
      </p:sp>
      <p:grpSp>
        <p:nvGrpSpPr>
          <p:cNvPr id="2055" name="Group 3" descr="#wm#_7_01_*Z"/>
          <p:cNvGrpSpPr/>
          <p:nvPr/>
        </p:nvGrpSpPr>
        <p:grpSpPr bwMode="auto">
          <a:xfrm>
            <a:off x="2817813" y="1196975"/>
            <a:ext cx="3544887" cy="2049463"/>
            <a:chOff x="0" y="0"/>
            <a:chExt cx="2543995" cy="1470643"/>
          </a:xfrm>
        </p:grpSpPr>
        <p:sp>
          <p:nvSpPr>
            <p:cNvPr id="2056" name="Rectangle 9" descr="#wm#_7_01_*Z"/>
            <p:cNvSpPr>
              <a:spLocks noChangeArrowheads="1"/>
            </p:cNvSpPr>
            <p:nvPr/>
          </p:nvSpPr>
          <p:spPr bwMode="auto">
            <a:xfrm>
              <a:off x="137448" y="747932"/>
              <a:ext cx="297530" cy="719172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 sz="2800"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marL="243205" indent="-243205" algn="l">
                <a:buFont typeface="Wingdings" pitchFamily="2" charset="2"/>
                <a:buChar char="l"/>
              </a:pPr>
              <a:endParaRPr lang="zh-CN" altLang="zh-CN" sz="1350"/>
            </a:p>
          </p:txBody>
        </p:sp>
        <p:sp>
          <p:nvSpPr>
            <p:cNvPr id="2057" name="Line 13" descr="#wm#_7_01_*Z"/>
            <p:cNvSpPr>
              <a:spLocks noChangeShapeType="1"/>
            </p:cNvSpPr>
            <p:nvPr/>
          </p:nvSpPr>
          <p:spPr bwMode="auto">
            <a:xfrm>
              <a:off x="0" y="1469707"/>
              <a:ext cx="2543995" cy="936"/>
            </a:xfrm>
            <a:prstGeom prst="line">
              <a:avLst/>
            </a:prstGeom>
            <a:noFill/>
            <a:ln w="28575" cap="flat" cmpd="sng">
              <a:solidFill>
                <a:srgbClr val="DC7C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8" name="未知" descr="#wm#_7_01_*Z"/>
            <p:cNvSpPr/>
            <p:nvPr/>
          </p:nvSpPr>
          <p:spPr bwMode="auto">
            <a:xfrm>
              <a:off x="116323" y="0"/>
              <a:ext cx="2405321" cy="684925"/>
            </a:xfrm>
            <a:custGeom>
              <a:avLst/>
              <a:gdLst>
                <a:gd name="T0" fmla="*/ 0 w 21600"/>
                <a:gd name="T1" fmla="*/ 21600 h 21600"/>
                <a:gd name="T2" fmla="*/ 8716 w 21600"/>
                <a:gd name="T3" fmla="*/ 16145 h 21600"/>
                <a:gd name="T4" fmla="*/ 11906 w 21600"/>
                <a:gd name="T5" fmla="*/ 6850 h 21600"/>
                <a:gd name="T6" fmla="*/ 21600 w 21600"/>
                <a:gd name="T7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600"/>
                  </a:moveTo>
                  <a:lnTo>
                    <a:pt x="8716" y="16145"/>
                  </a:lnTo>
                  <a:lnTo>
                    <a:pt x="11906" y="6850"/>
                  </a:lnTo>
                  <a:lnTo>
                    <a:pt x="21600" y="0"/>
                  </a:lnTo>
                </a:path>
              </a:pathLst>
            </a:custGeom>
            <a:noFill/>
            <a:ln w="19050" cap="flat" cmpd="sng">
              <a:solidFill>
                <a:srgbClr val="FFC000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59" name="Rectangle 9" descr="#wm#_7_01_*Z"/>
            <p:cNvSpPr>
              <a:spLocks noChangeArrowheads="1"/>
            </p:cNvSpPr>
            <p:nvPr/>
          </p:nvSpPr>
          <p:spPr bwMode="auto">
            <a:xfrm>
              <a:off x="618587" y="684925"/>
              <a:ext cx="297530" cy="782179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 sz="2800"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marL="243205" indent="-243205" algn="l">
                <a:buFont typeface="Wingdings" pitchFamily="2" charset="2"/>
                <a:buChar char="l"/>
              </a:pPr>
              <a:endParaRPr lang="zh-CN" altLang="zh-CN" sz="1350"/>
            </a:p>
          </p:txBody>
        </p:sp>
        <p:sp>
          <p:nvSpPr>
            <p:cNvPr id="2060" name="Rectangle 9" descr="#wm#_7_01_*Z"/>
            <p:cNvSpPr>
              <a:spLocks noChangeArrowheads="1"/>
            </p:cNvSpPr>
            <p:nvPr/>
          </p:nvSpPr>
          <p:spPr bwMode="auto">
            <a:xfrm>
              <a:off x="1099726" y="572726"/>
              <a:ext cx="297530" cy="894378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 sz="2800"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marL="243205" indent="-243205" algn="l">
                <a:buFont typeface="Wingdings" pitchFamily="2" charset="2"/>
                <a:buChar char="l"/>
              </a:pPr>
              <a:endParaRPr lang="zh-CN" altLang="zh-CN" sz="1350"/>
            </a:p>
          </p:txBody>
        </p:sp>
        <p:sp>
          <p:nvSpPr>
            <p:cNvPr id="2061" name="Rectangle 9" descr="#wm#_7_01_*Z"/>
            <p:cNvSpPr>
              <a:spLocks noChangeArrowheads="1"/>
            </p:cNvSpPr>
            <p:nvPr/>
          </p:nvSpPr>
          <p:spPr bwMode="auto">
            <a:xfrm>
              <a:off x="1580865" y="336752"/>
              <a:ext cx="297530" cy="1130352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 sz="2800"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marL="243205" indent="-243205" algn="l">
                <a:buFont typeface="Wingdings" pitchFamily="2" charset="2"/>
                <a:buChar char="l"/>
              </a:pPr>
              <a:endParaRPr lang="zh-CN" altLang="zh-CN" sz="1350"/>
            </a:p>
          </p:txBody>
        </p:sp>
        <p:sp>
          <p:nvSpPr>
            <p:cNvPr id="2062" name="Rectangle 9" descr="#wm#_7_01_*Z"/>
            <p:cNvSpPr>
              <a:spLocks noChangeArrowheads="1"/>
            </p:cNvSpPr>
            <p:nvPr/>
          </p:nvSpPr>
          <p:spPr bwMode="auto">
            <a:xfrm>
              <a:off x="2062004" y="179435"/>
              <a:ext cx="297530" cy="1287669"/>
            </a:xfrm>
            <a:prstGeom prst="rect">
              <a:avLst/>
            </a:prstGeom>
            <a:solidFill>
              <a:srgbClr val="CC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 sz="2800"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algn="ctr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algn="ctr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marL="243205" indent="-243205" algn="l">
                <a:buFont typeface="Wingdings" pitchFamily="2" charset="2"/>
                <a:buChar char="l"/>
              </a:pPr>
              <a:endParaRPr lang="zh-CN" altLang="zh-CN" sz="1350"/>
            </a:p>
          </p:txBody>
        </p:sp>
      </p:grpSp>
      <p:sp>
        <p:nvSpPr>
          <p:cNvPr id="2063" name="Line 14" descr="#wm#_7_01_*Z"/>
          <p:cNvSpPr>
            <a:spLocks noChangeShapeType="1"/>
          </p:cNvSpPr>
          <p:nvPr/>
        </p:nvSpPr>
        <p:spPr bwMode="auto">
          <a:xfrm>
            <a:off x="2339975" y="3986213"/>
            <a:ext cx="4537075" cy="0"/>
          </a:xfrm>
          <a:prstGeom prst="line">
            <a:avLst/>
          </a:prstGeom>
          <a:noFill/>
          <a:ln w="19050" cap="flat" cmpd="sng">
            <a:solidFill>
              <a:srgbClr val="CC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806575" y="839460"/>
            <a:ext cx="4032250" cy="523220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0112" y="1701801"/>
            <a:ext cx="7416801" cy="4319488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19200" y="2998800"/>
            <a:ext cx="3448800" cy="471600"/>
          </a:xfrm>
        </p:spPr>
        <p:txBody>
          <a:bodyPr anchor="ctr" anchorCtr="0">
            <a:normAutofit/>
          </a:bodyPr>
          <a:lstStyle>
            <a:lvl1pPr>
              <a:defRPr sz="2000"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404800" y="3531600"/>
            <a:ext cx="5047520" cy="13375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grpSp>
        <p:nvGrpSpPr>
          <p:cNvPr id="7" name="Group 5" descr="#wm#_7_12_*Z"/>
          <p:cNvGrpSpPr/>
          <p:nvPr>
            <p:custDataLst>
              <p:tags r:id="rId2"/>
            </p:custDataLst>
          </p:nvPr>
        </p:nvGrpSpPr>
        <p:grpSpPr bwMode="auto">
          <a:xfrm>
            <a:off x="804863" y="2649538"/>
            <a:ext cx="1185862" cy="1247775"/>
            <a:chOff x="0" y="0"/>
            <a:chExt cx="1866" cy="1964"/>
          </a:xfrm>
        </p:grpSpPr>
        <p:pic>
          <p:nvPicPr>
            <p:cNvPr id="8" name="Picture 4" descr="#wm#_7_12_*Z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" y="0"/>
              <a:ext cx="1740" cy="1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Oval 5" descr="#wm#_7_12_*Z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0" y="72"/>
              <a:ext cx="1867" cy="1893"/>
            </a:xfrm>
            <a:prstGeom prst="ellipse">
              <a:avLst/>
            </a:prstGeom>
            <a:noFill/>
            <a:ln w="9525" cmpd="sng">
              <a:solidFill>
                <a:srgbClr val="CC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normAutofit/>
            </a:bodyPr>
            <a:lstStyle>
              <a:lvl1pPr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1pPr>
              <a:lvl2pPr marL="742950" indent="-285750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2pPr>
              <a:lvl3pPr marL="1143000" indent="-228600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3pPr>
              <a:lvl4pPr marL="1600200" indent="-228600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4pPr>
              <a:lvl5pPr marL="2057400" indent="-228600">
                <a:lnSpc>
                  <a:spcPct val="120000"/>
                </a:lnSpc>
                <a:spcBef>
                  <a:spcPct val="20000"/>
                </a:spcBef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itchFamily="2" charset="2"/>
                <a:buChar char="l"/>
                <a:defRPr>
                  <a:solidFill>
                    <a:schemeClr val="bg1"/>
                  </a:solidFill>
                  <a:latin typeface="Arial" pitchFamily="34" charset="0"/>
                  <a:ea typeface="黑体" pitchFamily="49" charset="-122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 typeface="Wingdings" pitchFamily="2" charset="2"/>
                <a:buNone/>
              </a:pPr>
              <a:endParaRPr lang="zh-CN" altLang="zh-CN" sz="135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624398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70000"/>
            <a:ext cx="4038600" cy="4525963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70000"/>
            <a:ext cx="4038600" cy="4525963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 anchor="ctr" anchorCtr="0"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+mj-ea"/>
                <a:ea typeface="+mj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4" descr="#wm#_7_20_*Z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921000" y="3451225"/>
            <a:ext cx="3562350" cy="0"/>
          </a:xfrm>
          <a:prstGeom prst="line">
            <a:avLst/>
          </a:prstGeom>
          <a:noFill/>
          <a:ln w="9525" cmpd="sng">
            <a:solidFill>
              <a:srgbClr val="CC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25000" lnSpcReduction="20000"/>
          </a:bodyPr>
          <a:lstStyle/>
          <a:p>
            <a:endParaRPr lang="zh-CN" altLang="en-US" sz="135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955600" y="2869200"/>
            <a:ext cx="3492000" cy="57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>
            <a:lvl1pPr algn="ctr">
              <a:defRPr sz="3000">
                <a:latin typeface="+mj-lt"/>
                <a:ea typeface="+mj-ea"/>
              </a:defRPr>
            </a:lvl1pPr>
          </a:lstStyle>
          <a:p>
            <a:pPr lvl="0"/>
            <a:r>
              <a:rPr lang="zh-CN" altLang="en-US" noProof="0" dirty="0" smtClean="0">
                <a:sym typeface="Arial" pitchFamily="34" charset="0"/>
              </a:rPr>
              <a:t>单击</a:t>
            </a:r>
            <a:r>
              <a:rPr lang="zh-CN" noProof="0" dirty="0" smtClean="0">
                <a:sym typeface="Arial" pitchFamily="34" charset="0"/>
              </a:rPr>
              <a:t>此处编辑标题</a:t>
            </a:r>
            <a:endParaRPr lang="zh-CN" noProof="0" dirty="0" smtClean="0">
              <a:sym typeface="Arial" pitchFamily="34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16000" y="3499200"/>
            <a:ext cx="3564000" cy="433856"/>
          </a:xfrm>
        </p:spPr>
        <p:txBody>
          <a:bodyPr>
            <a:normAutofit/>
          </a:bodyPr>
          <a:lstStyle>
            <a:lvl1pPr marL="0" indent="0" algn="r">
              <a:buFont typeface="Wingdings" pitchFamily="2" charset="2"/>
              <a:buNone/>
              <a:defRPr sz="1800">
                <a:latin typeface="+mn-ea"/>
                <a:ea typeface="+mn-ea"/>
              </a:defRPr>
            </a:lvl1pPr>
          </a:lstStyle>
          <a:p>
            <a:pPr lvl="0"/>
            <a:r>
              <a:rPr lang="zh-CN" noProof="0" dirty="0" smtClean="0">
                <a:sym typeface="Arial" pitchFamily="34" charset="0"/>
              </a:rPr>
              <a:t>单击此处编辑母版副标题样式</a:t>
            </a:r>
            <a:endParaRPr lang="zh-CN" noProof="0" dirty="0" smtClean="0">
              <a:sym typeface="Arial" pitchFamily="34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14525" y="793750"/>
            <a:ext cx="4032250" cy="520700"/>
          </a:xfrm>
        </p:spPr>
        <p:txBody>
          <a:bodyPr anchor="ctr" anchorCtr="0">
            <a:normAutofit/>
          </a:bodyPr>
          <a:lstStyle>
            <a:lvl1pPr>
              <a:defRPr sz="2600"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71550" y="1701801"/>
            <a:ext cx="2979738" cy="4470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356100" y="1701800"/>
            <a:ext cx="3960813" cy="447040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36296" y="577850"/>
            <a:ext cx="1450504" cy="5218113"/>
          </a:xfrm>
        </p:spPr>
        <p:txBody>
          <a:bodyPr vert="eaVert" anchor="ctr" anchorCtr="1"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77850"/>
            <a:ext cx="6563072" cy="5218113"/>
          </a:xfrm>
        </p:spPr>
        <p:txBody>
          <a:bodyPr vert="eaVert"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408675"/>
            <a:ext cx="8229600" cy="56126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04664"/>
            <a:ext cx="8229600" cy="696406"/>
          </a:xfrm>
          <a:prstGeom prst="rect">
            <a:avLst/>
          </a:prstGeom>
          <a:solidFill>
            <a:srgbClr val="FFFFFF">
              <a:alpha val="10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dirty="0" smtClean="0">
                <a:sym typeface="Arial" pitchFamily="34" charset="0"/>
              </a:rPr>
              <a:t>单击此处编辑母版标题样式</a:t>
            </a:r>
            <a:endParaRPr lang="zh-CN" dirty="0" smtClean="0">
              <a:sym typeface="Arial" pitchFamily="34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0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lvl="0"/>
            <a:r>
              <a:rPr lang="zh-CN" dirty="0" smtClean="0">
                <a:sym typeface="Arial" pitchFamily="34" charset="0"/>
              </a:rPr>
              <a:t>单击此处编辑母版文本样式</a:t>
            </a:r>
            <a:endParaRPr lang="zh-CN" dirty="0" smtClean="0">
              <a:sym typeface="Arial" pitchFamily="34" charset="0"/>
            </a:endParaRPr>
          </a:p>
          <a:p>
            <a:pPr lvl="1"/>
            <a:r>
              <a:rPr lang="zh-CN" dirty="0" smtClean="0">
                <a:sym typeface="Arial" pitchFamily="34" charset="0"/>
              </a:rPr>
              <a:t>第二级</a:t>
            </a:r>
            <a:endParaRPr lang="zh-CN" dirty="0" smtClean="0">
              <a:sym typeface="Arial" pitchFamily="34" charset="0"/>
            </a:endParaRPr>
          </a:p>
          <a:p>
            <a:pPr lvl="2"/>
            <a:r>
              <a:rPr lang="zh-CN" dirty="0" smtClean="0">
                <a:sym typeface="Arial" pitchFamily="34" charset="0"/>
              </a:rPr>
              <a:t>第三级</a:t>
            </a:r>
            <a:endParaRPr lang="zh-CN" dirty="0" smtClean="0">
              <a:sym typeface="Arial" pitchFamily="34" charset="0"/>
            </a:endParaRPr>
          </a:p>
          <a:p>
            <a:pPr lvl="3"/>
            <a:r>
              <a:rPr lang="zh-CN" dirty="0" smtClean="0">
                <a:sym typeface="Arial" pitchFamily="34" charset="0"/>
              </a:rPr>
              <a:t>第四级</a:t>
            </a:r>
            <a:endParaRPr lang="zh-CN" dirty="0" smtClean="0">
              <a:sym typeface="Arial" pitchFamily="34" charset="0"/>
            </a:endParaRPr>
          </a:p>
          <a:p>
            <a:pPr lvl="4"/>
            <a:r>
              <a:rPr lang="zh-CN" dirty="0" smtClean="0">
                <a:sym typeface="Arial" pitchFamily="34" charset="0"/>
              </a:rPr>
              <a:t>第五级</a:t>
            </a:r>
            <a:endParaRPr lang="zh-CN" dirty="0" smtClean="0">
              <a:sym typeface="Arial" pitchFamily="34" charset="0"/>
            </a:endParaRPr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1pPr>
          </a:lstStyle>
          <a:p>
            <a:fld id="{B8CFCC78-81B3-402A-80D7-0389123F9D11}" type="datetime1">
              <a:rPr lang="zh-CN" altLang="en-US" smtClean="0"/>
            </a:fld>
            <a:endParaRPr lang="zh-CN" altLang="en-US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103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1pPr>
          </a:lstStyle>
          <a:p>
            <a:fld id="{D1D960DC-7D64-42FA-B915-78732221F5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 kern="1200">
          <a:solidFill>
            <a:schemeClr val="bg1"/>
          </a:solidFill>
          <a:latin typeface="+mj-ea"/>
          <a:ea typeface="+mj-ea"/>
          <a:cs typeface="+mj-cs"/>
          <a:sym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defRPr sz="2800">
          <a:solidFill>
            <a:schemeClr val="bg1"/>
          </a:solidFill>
          <a:latin typeface="Arial" pitchFamily="34" charset="0"/>
          <a:ea typeface="黑体" pitchFamily="49" charset="-122"/>
          <a:sym typeface="Arial" pitchFamily="34" charset="0"/>
        </a:defRPr>
      </a:lvl9pPr>
    </p:titleStyle>
    <p:bodyStyle>
      <a:lvl1pPr marL="243205" indent="-24320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75000"/>
        <a:buFont typeface="Wingdings" pitchFamily="2" charset="2"/>
        <a:buChar char="l"/>
        <a:defRPr sz="2400" kern="1200">
          <a:solidFill>
            <a:schemeClr val="bg1"/>
          </a:solidFill>
          <a:latin typeface="+mn-ea"/>
          <a:ea typeface="+mn-ea"/>
          <a:cs typeface="+mn-cs"/>
          <a:sym typeface="Arial" pitchFamily="34" charset="0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75000"/>
        <a:buFont typeface="Wingdings" pitchFamily="2" charset="2"/>
        <a:buChar char="l"/>
        <a:defRPr sz="2000" kern="1200">
          <a:solidFill>
            <a:schemeClr val="bg1"/>
          </a:solidFill>
          <a:latin typeface="+mn-ea"/>
          <a:ea typeface="+mn-ea"/>
          <a:cs typeface="+mn-cs"/>
          <a:sym typeface="Arial" pitchFamily="34" charset="0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75000"/>
        <a:buFont typeface="Wingdings" pitchFamily="2" charset="2"/>
        <a:buChar char="l"/>
        <a:defRPr kern="1200">
          <a:solidFill>
            <a:schemeClr val="bg1"/>
          </a:solidFill>
          <a:latin typeface="+mn-ea"/>
          <a:ea typeface="+mn-ea"/>
          <a:cs typeface="+mn-cs"/>
          <a:sym typeface="Arial" pitchFamily="34" charset="0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75000"/>
        <a:buFont typeface="Wingdings" pitchFamily="2" charset="2"/>
        <a:buChar char="l"/>
        <a:defRPr kern="1200">
          <a:solidFill>
            <a:schemeClr val="bg1"/>
          </a:solidFill>
          <a:latin typeface="+mn-ea"/>
          <a:ea typeface="+mn-ea"/>
          <a:cs typeface="+mn-cs"/>
          <a:sym typeface="Arial" pitchFamily="34" charset="0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SzPct val="75000"/>
        <a:buFont typeface="Wingdings" pitchFamily="2" charset="2"/>
        <a:buChar char="l"/>
        <a:defRPr kern="1200">
          <a:solidFill>
            <a:schemeClr val="bg1"/>
          </a:solidFill>
          <a:latin typeface="+mn-ea"/>
          <a:ea typeface="+mn-ea"/>
          <a:cs typeface="+mn-cs"/>
          <a:sym typeface="Arial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1"/>
          <p:cNvSpPr>
            <a:spLocks noGrp="1"/>
          </p:cNvSpPr>
          <p:nvPr/>
        </p:nvSpPr>
        <p:spPr>
          <a:xfrm>
            <a:off x="469900" y="2589530"/>
            <a:ext cx="8351838" cy="701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4000" kern="1200">
                <a:solidFill>
                  <a:schemeClr val="bg1"/>
                </a:solidFill>
                <a:latin typeface="+mj-ea"/>
                <a:ea typeface="+mj-ea"/>
                <a:cs typeface="+mj-cs"/>
                <a:sym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800">
                <a:solidFill>
                  <a:schemeClr val="bg1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r>
              <a:rPr lang="zh-CN" altLang="en-US"/>
              <a:t>图论知识小补充</a:t>
            </a:r>
            <a:endParaRPr lang="zh-CN" altLang="en-US"/>
          </a:p>
        </p:txBody>
      </p:sp>
      <p:sp>
        <p:nvSpPr>
          <p:cNvPr id="10" name="副标题 2"/>
          <p:cNvSpPr>
            <a:spLocks noGrp="1"/>
          </p:cNvSpPr>
          <p:nvPr/>
        </p:nvSpPr>
        <p:spPr>
          <a:xfrm>
            <a:off x="469900" y="3346133"/>
            <a:ext cx="8351838" cy="5175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fontScale="90000" lnSpcReduction="10000"/>
          </a:bodyPr>
          <a:lstStyle>
            <a:lvl1pPr marL="0" indent="0" algn="ctr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None/>
              <a:defRPr sz="2800" kern="1200">
                <a:solidFill>
                  <a:schemeClr val="bg1"/>
                </a:solidFill>
                <a:latin typeface="+mn-ea"/>
                <a:ea typeface="+mn-ea"/>
                <a:cs typeface="+mn-cs"/>
                <a:sym typeface="Arial" pitchFamily="34" charset="0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l"/>
              <a:defRPr sz="2000" kern="1200">
                <a:solidFill>
                  <a:schemeClr val="bg1"/>
                </a:solidFill>
                <a:latin typeface="+mn-ea"/>
                <a:ea typeface="+mn-ea"/>
                <a:cs typeface="+mn-cs"/>
                <a:sym typeface="Arial" pitchFamily="34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l"/>
              <a:defRPr kern="1200">
                <a:solidFill>
                  <a:schemeClr val="bg1"/>
                </a:solidFill>
                <a:latin typeface="+mn-ea"/>
                <a:ea typeface="+mn-ea"/>
                <a:cs typeface="+mn-cs"/>
                <a:sym typeface="Arial" pitchFamily="34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l"/>
              <a:defRPr kern="1200">
                <a:solidFill>
                  <a:schemeClr val="bg1"/>
                </a:solidFill>
                <a:latin typeface="+mn-ea"/>
                <a:ea typeface="+mn-ea"/>
                <a:cs typeface="+mn-cs"/>
                <a:sym typeface="Arial" pitchFamily="34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l"/>
              <a:defRPr kern="1200">
                <a:solidFill>
                  <a:schemeClr val="bg1"/>
                </a:solidFill>
                <a:latin typeface="+mn-ea"/>
                <a:ea typeface="+mn-ea"/>
                <a:cs typeface="+mn-cs"/>
                <a:sym typeface="Arial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平面图的欧拉公式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1887220" y="3314065"/>
            <a:ext cx="5532755" cy="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文本框 11"/>
          <p:cNvSpPr txBox="1"/>
          <p:nvPr/>
        </p:nvSpPr>
        <p:spPr>
          <a:xfrm>
            <a:off x="8168640" y="6593840"/>
            <a:ext cx="1301115" cy="30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bg1"/>
                </a:solidFill>
              </a:rPr>
              <a:t>by helang</a:t>
            </a:r>
            <a:endParaRPr lang="en-US" altLang="zh-CN" sz="1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200" y="73660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300">
                <a:solidFill>
                  <a:srgbClr val="FFCC00"/>
                </a:solidFill>
              </a:rPr>
              <a:t>引例：修门 </a:t>
            </a:r>
            <a:r>
              <a:rPr lang="en-US" altLang="zh-CN" sz="2300">
                <a:solidFill>
                  <a:srgbClr val="FFCC00"/>
                </a:solidFill>
              </a:rPr>
              <a:t>nkoi3654</a:t>
            </a:r>
            <a:endParaRPr lang="en-US" altLang="zh-CN" sz="2300">
              <a:solidFill>
                <a:srgbClr val="FFCC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4625" y="608330"/>
            <a:ext cx="8643620" cy="2987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    </a:t>
            </a:r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农夫约翰打算给农场建围栏。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    一开始，约翰位于(0,0)位置，他总共进行了N步修建操作。每一步，他会在东、南、西、北四个方向中选一个方向，沿选中的方向修建一条单位长度(长度为1)的围栏。比如，他第一步往北，完成后就有一道围栏连接了(0,0)到(0,1)。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    围栏修建过程中，约翰可能会重复经过某些点，并且可能在某些点建重复修建围栏，围栏间也可能存在交叉的情况。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    围栏修建完成后，约翰发现农场的有些区域被围栏封闭起来了，他只有翻越围栏才能进出这些区域，这让约翰很是恼火。为解决这个问题，约翰想要在这些封闭区域的围栏上修建大门。在任意单位长度的围栏上都可以修建大门，请你帮他计算最少需要修建多少个大门，才能使得农场的任意区域都可相互到达。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4011930"/>
            <a:ext cx="7693660" cy="9601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样例输入：                </a:t>
            </a:r>
            <a:r>
              <a:rPr lang="en-US" altLang="zh-CN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//</a:t>
            </a:r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东南西北分别用</a:t>
            </a:r>
            <a:r>
              <a:rPr lang="en-US" altLang="zh-CN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E</a:t>
            </a:r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、</a:t>
            </a:r>
            <a:r>
              <a:rPr lang="en-US" altLang="zh-CN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S</a:t>
            </a:r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、</a:t>
            </a:r>
            <a:r>
              <a:rPr lang="en-US" altLang="zh-CN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W</a:t>
            </a:r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、</a:t>
            </a:r>
            <a:r>
              <a:rPr lang="en-US" altLang="zh-CN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N</a:t>
            </a:r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表示</a:t>
            </a:r>
            <a:endParaRPr lang="zh-CN" altLang="en-US" sz="1900">
              <a:solidFill>
                <a:schemeClr val="tx1">
                  <a:lumMod val="60000"/>
                  <a:lumOff val="40000"/>
                </a:schemeClr>
              </a:solidFill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14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NNNESWWWSSEEEE</a:t>
            </a:r>
            <a:endParaRPr lang="zh-CN" altLang="en-US" sz="190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3570" y="5283835"/>
            <a:ext cx="2540000" cy="670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900">
                <a:solidFill>
                  <a:schemeClr val="tx1">
                    <a:lumMod val="60000"/>
                    <a:lumOff val="40000"/>
                  </a:schemeClr>
                </a:solidFill>
                <a:latin typeface="楷体" charset="0"/>
                <a:ea typeface="楷体" charset="0"/>
              </a:rPr>
              <a:t>样例输出：</a:t>
            </a:r>
            <a:r>
              <a:rPr lang="zh-CN" altLang="en-US" sz="1900">
                <a:latin typeface="楷体" charset="0"/>
                <a:ea typeface="楷体" charset="0"/>
              </a:rPr>
              <a:t> </a:t>
            </a:r>
            <a:endParaRPr lang="zh-CN" altLang="en-US" sz="1900">
              <a:latin typeface="楷体" charset="0"/>
              <a:ea typeface="楷体" charset="0"/>
            </a:endParaRPr>
          </a:p>
          <a:p>
            <a:r>
              <a:rPr lang="zh-CN" altLang="en-US" sz="1900">
                <a:solidFill>
                  <a:schemeClr val="bg1"/>
                </a:solidFill>
                <a:latin typeface="楷体" charset="0"/>
                <a:ea typeface="楷体" charset="0"/>
              </a:rPr>
              <a:t>2</a:t>
            </a:r>
            <a:r>
              <a:rPr lang="zh-CN" altLang="en-US" sz="1900">
                <a:latin typeface="楷体" charset="0"/>
                <a:ea typeface="楷体" charset="0"/>
              </a:rPr>
              <a:t> </a:t>
            </a:r>
            <a:endParaRPr lang="zh-CN" altLang="en-US" sz="1900">
              <a:latin typeface="楷体" charset="0"/>
              <a:ea typeface="楷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平面图的概念</a:t>
            </a:r>
            <a:endParaRPr lang="zh-CN" sz="2300">
              <a:solidFill>
                <a:srgbClr val="FFCC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9125" y="904875"/>
            <a:ext cx="7335520" cy="99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/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   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一个无向图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en-US" altLang="zh-CN" sz="2000">
                <a:solidFill>
                  <a:schemeClr val="bg1"/>
                </a:solidFill>
                <a:latin typeface="Malgun Gothic" charset="0"/>
                <a:ea typeface="Malgun Gothic" charset="0"/>
                <a:sym typeface="+mn-ea"/>
              </a:rPr>
              <a:t>=&lt;V</a:t>
            </a:r>
            <a:r>
              <a:rPr lang="zh-CN" altLang="en-US" sz="2000">
                <a:solidFill>
                  <a:schemeClr val="bg1"/>
                </a:solidFill>
                <a:latin typeface="Malgun Gothic" charset="0"/>
                <a:ea typeface="Malgun Gothic" charset="0"/>
                <a:sym typeface="+mn-ea"/>
              </a:rPr>
              <a:t>，</a:t>
            </a:r>
            <a:r>
              <a:rPr lang="en-US" altLang="zh-CN" sz="2000">
                <a:solidFill>
                  <a:schemeClr val="bg1"/>
                </a:solidFill>
                <a:latin typeface="Malgun Gothic" charset="0"/>
                <a:ea typeface="Malgun Gothic" charset="0"/>
                <a:sym typeface="+mn-ea"/>
              </a:rPr>
              <a:t>E</a:t>
            </a:r>
            <a:r>
              <a:rPr lang="en-US" altLang="zh-CN" sz="2000" dirty="0">
                <a:solidFill>
                  <a:schemeClr val="bg1"/>
                </a:solidFill>
                <a:latin typeface="Malgun Gothic" charset="0"/>
                <a:ea typeface="Malgun Gothic" charset="0"/>
                <a:sym typeface="+mn-ea"/>
              </a:rPr>
              <a:t>&gt;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，如果能把它画在平面上，且除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V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中的节点外，任意两条边均不相交</a:t>
            </a:r>
            <a:r>
              <a:rPr lang="zh-CN" altLang="en-US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，则称该图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为平面图。</a:t>
            </a:r>
            <a:endParaRPr lang="zh-CN" altLang="en-US" sz="2000" dirty="0">
              <a:solidFill>
                <a:schemeClr val="bg1"/>
              </a:solidFill>
              <a:latin typeface="楷体" charset="0"/>
              <a:ea typeface="楷体" charset="0"/>
              <a:sym typeface="+mn-ea"/>
            </a:endParaRPr>
          </a:p>
          <a:p>
            <a:endParaRPr lang="zh-CN" altLang="en-US"/>
          </a:p>
        </p:txBody>
      </p:sp>
      <p:grpSp>
        <p:nvGrpSpPr>
          <p:cNvPr id="12354" name="组合 12353"/>
          <p:cNvGrpSpPr/>
          <p:nvPr/>
        </p:nvGrpSpPr>
        <p:grpSpPr>
          <a:xfrm>
            <a:off x="1417320" y="2808605"/>
            <a:ext cx="1704975" cy="2150335"/>
            <a:chOff x="1362" y="2898"/>
            <a:chExt cx="708" cy="893"/>
          </a:xfrm>
        </p:grpSpPr>
        <p:sp>
          <p:nvSpPr>
            <p:cNvPr id="12332" name="直接连接符 12331"/>
            <p:cNvSpPr/>
            <p:nvPr/>
          </p:nvSpPr>
          <p:spPr>
            <a:xfrm>
              <a:off x="1374" y="3414"/>
              <a:ext cx="162" cy="168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3" name="直接连接符 12332"/>
            <p:cNvSpPr/>
            <p:nvPr/>
          </p:nvSpPr>
          <p:spPr>
            <a:xfrm>
              <a:off x="1890" y="3414"/>
              <a:ext cx="162" cy="168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4" name="直接连接符 12333"/>
            <p:cNvSpPr/>
            <p:nvPr/>
          </p:nvSpPr>
          <p:spPr>
            <a:xfrm>
              <a:off x="1374" y="3414"/>
              <a:ext cx="516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5" name="直接连接符 12334"/>
            <p:cNvSpPr/>
            <p:nvPr/>
          </p:nvSpPr>
          <p:spPr>
            <a:xfrm>
              <a:off x="1536" y="3582"/>
              <a:ext cx="516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6" name="直接连接符 12335"/>
            <p:cNvSpPr/>
            <p:nvPr/>
          </p:nvSpPr>
          <p:spPr>
            <a:xfrm>
              <a:off x="1536" y="3078"/>
              <a:ext cx="516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7" name="直接连接符 12336"/>
            <p:cNvSpPr/>
            <p:nvPr/>
          </p:nvSpPr>
          <p:spPr>
            <a:xfrm>
              <a:off x="1374" y="2910"/>
              <a:ext cx="516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8" name="直接连接符 12337"/>
            <p:cNvSpPr/>
            <p:nvPr/>
          </p:nvSpPr>
          <p:spPr>
            <a:xfrm>
              <a:off x="1890" y="2910"/>
              <a:ext cx="162" cy="168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39" name="直接连接符 12338"/>
            <p:cNvSpPr/>
            <p:nvPr/>
          </p:nvSpPr>
          <p:spPr>
            <a:xfrm>
              <a:off x="1374" y="2910"/>
              <a:ext cx="162" cy="168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0" name="直接连接符 12339"/>
            <p:cNvSpPr/>
            <p:nvPr/>
          </p:nvSpPr>
          <p:spPr>
            <a:xfrm>
              <a:off x="2052" y="3078"/>
              <a:ext cx="1" cy="50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1" name="直接连接符 12340"/>
            <p:cNvSpPr/>
            <p:nvPr/>
          </p:nvSpPr>
          <p:spPr>
            <a:xfrm>
              <a:off x="1890" y="2910"/>
              <a:ext cx="1" cy="50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2" name="直接连接符 12341"/>
            <p:cNvSpPr/>
            <p:nvPr/>
          </p:nvSpPr>
          <p:spPr>
            <a:xfrm>
              <a:off x="1536" y="3078"/>
              <a:ext cx="1" cy="50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3" name="直接连接符 12342"/>
            <p:cNvSpPr/>
            <p:nvPr/>
          </p:nvSpPr>
          <p:spPr>
            <a:xfrm>
              <a:off x="1374" y="2910"/>
              <a:ext cx="1" cy="50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4" name="椭圆 12343"/>
            <p:cNvSpPr/>
            <p:nvPr/>
          </p:nvSpPr>
          <p:spPr>
            <a:xfrm>
              <a:off x="2040" y="3570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5" name="椭圆 12344"/>
            <p:cNvSpPr/>
            <p:nvPr/>
          </p:nvSpPr>
          <p:spPr>
            <a:xfrm>
              <a:off x="2040" y="3066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6" name="椭圆 12345"/>
            <p:cNvSpPr/>
            <p:nvPr/>
          </p:nvSpPr>
          <p:spPr>
            <a:xfrm>
              <a:off x="1878" y="340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7" name="椭圆 12346"/>
            <p:cNvSpPr/>
            <p:nvPr/>
          </p:nvSpPr>
          <p:spPr>
            <a:xfrm>
              <a:off x="1878" y="289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8" name="椭圆 12347"/>
            <p:cNvSpPr/>
            <p:nvPr/>
          </p:nvSpPr>
          <p:spPr>
            <a:xfrm>
              <a:off x="1524" y="3570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49" name="椭圆 12348"/>
            <p:cNvSpPr/>
            <p:nvPr/>
          </p:nvSpPr>
          <p:spPr>
            <a:xfrm>
              <a:off x="1524" y="3066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50" name="椭圆 12349"/>
            <p:cNvSpPr/>
            <p:nvPr/>
          </p:nvSpPr>
          <p:spPr>
            <a:xfrm>
              <a:off x="1362" y="340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51" name="椭圆 12350"/>
            <p:cNvSpPr/>
            <p:nvPr/>
          </p:nvSpPr>
          <p:spPr>
            <a:xfrm>
              <a:off x="1362" y="289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52" name="矩形 12351"/>
            <p:cNvSpPr/>
            <p:nvPr/>
          </p:nvSpPr>
          <p:spPr>
            <a:xfrm>
              <a:off x="1668" y="3702"/>
              <a:ext cx="124" cy="89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0">
                  <a:latin typeface="Times New Roman" charset="0"/>
                  <a:ea typeface="宋体" pitchFamily="2" charset="-122"/>
                </a:rPr>
                <a:t>(a)</a:t>
              </a:r>
              <a:endParaRPr lang="en-US" altLang="zh-CN" sz="2400" b="0">
                <a:latin typeface="Times New Roman" charset="0"/>
                <a:ea typeface="宋体" pitchFamily="2" charset="-122"/>
              </a:endParaRPr>
            </a:p>
          </p:txBody>
        </p:sp>
      </p:grpSp>
      <p:grpSp>
        <p:nvGrpSpPr>
          <p:cNvPr id="12378" name="组合 12377"/>
          <p:cNvGrpSpPr/>
          <p:nvPr/>
        </p:nvGrpSpPr>
        <p:grpSpPr>
          <a:xfrm>
            <a:off x="4951095" y="2604135"/>
            <a:ext cx="2124710" cy="2512254"/>
            <a:chOff x="2418" y="2802"/>
            <a:chExt cx="882" cy="1043"/>
          </a:xfrm>
        </p:grpSpPr>
        <p:sp>
          <p:nvSpPr>
            <p:cNvPr id="12357" name="直接连接符 12356"/>
            <p:cNvSpPr/>
            <p:nvPr/>
          </p:nvSpPr>
          <p:spPr>
            <a:xfrm>
              <a:off x="2856" y="2814"/>
              <a:ext cx="1" cy="192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58" name="直接连接符 12357"/>
            <p:cNvSpPr/>
            <p:nvPr/>
          </p:nvSpPr>
          <p:spPr>
            <a:xfrm flipH="1">
              <a:off x="2430" y="3240"/>
              <a:ext cx="192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59" name="直接连接符 12358"/>
            <p:cNvSpPr/>
            <p:nvPr/>
          </p:nvSpPr>
          <p:spPr>
            <a:xfrm>
              <a:off x="2856" y="3474"/>
              <a:ext cx="1" cy="192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0" name="直接连接符 12359"/>
            <p:cNvSpPr/>
            <p:nvPr/>
          </p:nvSpPr>
          <p:spPr>
            <a:xfrm>
              <a:off x="3090" y="3240"/>
              <a:ext cx="192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1" name="直接连接符 12360"/>
            <p:cNvSpPr/>
            <p:nvPr/>
          </p:nvSpPr>
          <p:spPr>
            <a:xfrm flipH="1">
              <a:off x="2856" y="3240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2" name="直接连接符 12361"/>
            <p:cNvSpPr/>
            <p:nvPr/>
          </p:nvSpPr>
          <p:spPr>
            <a:xfrm flipH="1" flipV="1">
              <a:off x="2856" y="2814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3" name="直接连接符 12362"/>
            <p:cNvSpPr/>
            <p:nvPr/>
          </p:nvSpPr>
          <p:spPr>
            <a:xfrm flipV="1">
              <a:off x="2430" y="2814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4" name="直接连接符 12363"/>
            <p:cNvSpPr/>
            <p:nvPr/>
          </p:nvSpPr>
          <p:spPr>
            <a:xfrm>
              <a:off x="2430" y="3240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5" name="直接连接符 12364"/>
            <p:cNvSpPr/>
            <p:nvPr/>
          </p:nvSpPr>
          <p:spPr>
            <a:xfrm flipH="1">
              <a:off x="2856" y="3240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6" name="直接连接符 12365"/>
            <p:cNvSpPr/>
            <p:nvPr/>
          </p:nvSpPr>
          <p:spPr>
            <a:xfrm flipH="1" flipV="1">
              <a:off x="2856" y="3006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7" name="直接连接符 12366"/>
            <p:cNvSpPr/>
            <p:nvPr/>
          </p:nvSpPr>
          <p:spPr>
            <a:xfrm flipV="1">
              <a:off x="2622" y="3006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8" name="直接连接符 12367"/>
            <p:cNvSpPr/>
            <p:nvPr/>
          </p:nvSpPr>
          <p:spPr>
            <a:xfrm>
              <a:off x="2622" y="3240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69" name="椭圆 12368"/>
            <p:cNvSpPr/>
            <p:nvPr/>
          </p:nvSpPr>
          <p:spPr>
            <a:xfrm>
              <a:off x="3270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0" name="椭圆 12369"/>
            <p:cNvSpPr/>
            <p:nvPr/>
          </p:nvSpPr>
          <p:spPr>
            <a:xfrm>
              <a:off x="2844" y="280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1" name="椭圆 12370"/>
            <p:cNvSpPr/>
            <p:nvPr/>
          </p:nvSpPr>
          <p:spPr>
            <a:xfrm>
              <a:off x="2844" y="3654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2" name="椭圆 12371"/>
            <p:cNvSpPr/>
            <p:nvPr/>
          </p:nvSpPr>
          <p:spPr>
            <a:xfrm>
              <a:off x="2418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3" name="椭圆 12372"/>
            <p:cNvSpPr/>
            <p:nvPr/>
          </p:nvSpPr>
          <p:spPr>
            <a:xfrm>
              <a:off x="3078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4" name="椭圆 12373"/>
            <p:cNvSpPr/>
            <p:nvPr/>
          </p:nvSpPr>
          <p:spPr>
            <a:xfrm>
              <a:off x="2844" y="2994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5" name="椭圆 12374"/>
            <p:cNvSpPr/>
            <p:nvPr/>
          </p:nvSpPr>
          <p:spPr>
            <a:xfrm>
              <a:off x="2844" y="346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6" name="椭圆 12375"/>
            <p:cNvSpPr/>
            <p:nvPr/>
          </p:nvSpPr>
          <p:spPr>
            <a:xfrm>
              <a:off x="2610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377" name="矩形 12376"/>
            <p:cNvSpPr/>
            <p:nvPr/>
          </p:nvSpPr>
          <p:spPr>
            <a:xfrm>
              <a:off x="2790" y="3756"/>
              <a:ext cx="130" cy="89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p>
              <a:pPr lvl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0">
                  <a:latin typeface="Times New Roman" charset="0"/>
                  <a:ea typeface="宋体" pitchFamily="2" charset="-122"/>
                </a:rPr>
                <a:t>(b)</a:t>
              </a:r>
              <a:endParaRPr lang="en-US" altLang="zh-CN" sz="2400" b="0">
                <a:latin typeface="Times New Roman" charset="0"/>
                <a:ea typeface="宋体" pitchFamily="2" charset="-122"/>
              </a:endParaRPr>
            </a:p>
          </p:txBody>
        </p:sp>
      </p:grpSp>
      <p:sp>
        <p:nvSpPr>
          <p:cNvPr id="12399" name="右箭头 12398"/>
          <p:cNvSpPr/>
          <p:nvPr/>
        </p:nvSpPr>
        <p:spPr>
          <a:xfrm>
            <a:off x="3533775" y="3472180"/>
            <a:ext cx="808990" cy="346710"/>
          </a:xfrm>
          <a:prstGeom prst="rightArrow">
            <a:avLst>
              <a:gd name="adj1" fmla="val 50000"/>
              <a:gd name="adj2" fmla="val 114581"/>
            </a:avLst>
          </a:prstGeom>
          <a:gradFill rotWithShape="0">
            <a:gsLst>
              <a:gs pos="0">
                <a:srgbClr val="FFFF00"/>
              </a:gs>
              <a:gs pos="100000">
                <a:srgbClr val="FFFF00">
                  <a:gamma/>
                  <a:shade val="46275"/>
                  <a:invGamma/>
                </a:srgbClr>
              </a:gs>
            </a:gsLst>
            <a:path path="rect">
              <a:fillToRect l="100000" b="100000"/>
            </a:path>
            <a:tileRect/>
          </a:gradFill>
          <a:ln w="12700">
            <a:noFill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36650" y="251460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1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13635" y="251206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2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2600" y="294322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3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29585" y="294068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4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58875" y="373888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5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35860" y="373634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6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69110" y="416750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7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6095" y="416496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8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54700" y="219456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1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63770" y="334962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5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93890" y="331851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2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67070" y="286575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3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48275" y="335534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7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24930" y="331597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4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843270" y="465264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6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43905" y="383667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8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213985" y="5334000"/>
            <a:ext cx="200850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图就是平面图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平面图的欧拉公式</a:t>
            </a:r>
            <a:endParaRPr lang="zh-CN" sz="2300">
              <a:solidFill>
                <a:srgbClr val="FFCC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560" y="765175"/>
            <a:ext cx="4396740" cy="613410"/>
          </a:xfrm>
          <a:prstGeom prst="rect">
            <a:avLst/>
          </a:prstGeom>
          <a:solidFill>
            <a:schemeClr val="accent1">
              <a:alpha val="12000"/>
            </a:schemeClr>
          </a:solidFill>
        </p:spPr>
        <p:txBody>
          <a:bodyPr wrap="square" rtlCol="0">
            <a:spAutoFit/>
          </a:bodyPr>
          <a:p>
            <a:pPr marL="0" lvl="1"/>
            <a:r>
              <a: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Euler公式</a:t>
            </a:r>
            <a:r>
              <a:rPr 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：</a:t>
            </a:r>
            <a:r>
              <a:rPr sz="3200" b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charset="0"/>
                <a:ea typeface="微软雅黑" charset="0"/>
                <a:sym typeface="+mn-ea"/>
              </a:rPr>
              <a:t>V+F=E+2</a:t>
            </a:r>
            <a:endParaRPr lang="zh-CN" altLang="en-US" sz="3200" b="1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1470" y="1423670"/>
            <a:ext cx="8239125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V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表示图中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点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的总数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E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表示图中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边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的总数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F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表示这个图分割出来的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独立区域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的个数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也称为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或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域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）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如下图所示，该平面图共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6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个面，这些面都被图的边间隔开来，注意，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为外部面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。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468630" y="3084195"/>
            <a:ext cx="2327910" cy="2919095"/>
            <a:chOff x="2418" y="2802"/>
            <a:chExt cx="882" cy="1106"/>
          </a:xfrm>
        </p:grpSpPr>
        <p:sp>
          <p:nvSpPr>
            <p:cNvPr id="23" name="直接连接符 22"/>
            <p:cNvSpPr/>
            <p:nvPr/>
          </p:nvSpPr>
          <p:spPr>
            <a:xfrm>
              <a:off x="2856" y="2814"/>
              <a:ext cx="1" cy="192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" name="直接连接符 23"/>
            <p:cNvSpPr/>
            <p:nvPr/>
          </p:nvSpPr>
          <p:spPr>
            <a:xfrm flipH="1">
              <a:off x="2430" y="3240"/>
              <a:ext cx="192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" name="直接连接符 24"/>
            <p:cNvSpPr/>
            <p:nvPr/>
          </p:nvSpPr>
          <p:spPr>
            <a:xfrm>
              <a:off x="2856" y="3474"/>
              <a:ext cx="1" cy="192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" name="直接连接符 25"/>
            <p:cNvSpPr/>
            <p:nvPr/>
          </p:nvSpPr>
          <p:spPr>
            <a:xfrm>
              <a:off x="3090" y="3240"/>
              <a:ext cx="192" cy="1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" name="直接连接符 26"/>
            <p:cNvSpPr/>
            <p:nvPr/>
          </p:nvSpPr>
          <p:spPr>
            <a:xfrm flipH="1">
              <a:off x="2856" y="3240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" name="直接连接符 27"/>
            <p:cNvSpPr/>
            <p:nvPr/>
          </p:nvSpPr>
          <p:spPr>
            <a:xfrm flipH="1" flipV="1">
              <a:off x="2856" y="2814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" name="直接连接符 28"/>
            <p:cNvSpPr/>
            <p:nvPr/>
          </p:nvSpPr>
          <p:spPr>
            <a:xfrm flipV="1">
              <a:off x="2430" y="2814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" name="直接连接符 29"/>
            <p:cNvSpPr/>
            <p:nvPr/>
          </p:nvSpPr>
          <p:spPr>
            <a:xfrm>
              <a:off x="2430" y="3240"/>
              <a:ext cx="426" cy="426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" name="直接连接符 30"/>
            <p:cNvSpPr/>
            <p:nvPr/>
          </p:nvSpPr>
          <p:spPr>
            <a:xfrm flipH="1">
              <a:off x="2856" y="3240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" name="直接连接符 31"/>
            <p:cNvSpPr/>
            <p:nvPr/>
          </p:nvSpPr>
          <p:spPr>
            <a:xfrm flipH="1" flipV="1">
              <a:off x="2856" y="3006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3" name="直接连接符 32"/>
            <p:cNvSpPr/>
            <p:nvPr/>
          </p:nvSpPr>
          <p:spPr>
            <a:xfrm flipV="1">
              <a:off x="2622" y="3006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" name="直接连接符 33"/>
            <p:cNvSpPr/>
            <p:nvPr/>
          </p:nvSpPr>
          <p:spPr>
            <a:xfrm>
              <a:off x="2622" y="3240"/>
              <a:ext cx="234" cy="234"/>
            </a:xfrm>
            <a:prstGeom prst="line">
              <a:avLst/>
            </a:prstGeom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3270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2844" y="280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2844" y="3654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2418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078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2844" y="2994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2844" y="3462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2610" y="3228"/>
              <a:ext cx="30" cy="30"/>
            </a:xfrm>
            <a:prstGeom prst="ellipse">
              <a:avLst/>
            </a:prstGeom>
            <a:solidFill>
              <a:srgbClr val="FFFFFF"/>
            </a:solidFill>
            <a:ln w="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2790" y="3756"/>
              <a:ext cx="130" cy="152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 wrap="square" lIns="0" tIns="0" rIns="0" bIns="0">
              <a:spAutoFit/>
            </a:bodyPr>
            <a:p>
              <a:pPr lvl="0">
                <a:lnSpc>
                  <a:spcPct val="100000"/>
                </a:lnSpc>
                <a:spcBef>
                  <a:spcPct val="0"/>
                </a:spcBef>
              </a:pPr>
              <a:endParaRPr lang="en-US" altLang="zh-CN" sz="2400" b="0">
                <a:latin typeface="Times New Roman" charset="0"/>
                <a:ea typeface="宋体" pitchFamily="2" charset="-122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641350" y="314515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99FF"/>
                </a:solidFill>
                <a:uFillTx/>
              </a:rPr>
              <a:t>1</a:t>
            </a:r>
            <a:endParaRPr lang="en-US" altLang="zh-CN">
              <a:solidFill>
                <a:srgbClr val="FF99FF"/>
              </a:solidFill>
              <a:uFillTx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66470" y="446722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5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882775" y="362648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2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451610" y="406336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3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09015" y="3630930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4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856740" y="4507865"/>
            <a:ext cx="30416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66FFFF"/>
                </a:solidFill>
                <a:uFillTx/>
              </a:rPr>
              <a:t>6</a:t>
            </a:r>
            <a:endParaRPr lang="en-US" altLang="zh-CN">
              <a:solidFill>
                <a:srgbClr val="66FFFF"/>
              </a:solidFill>
              <a:uFillTx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4326890" y="2978150"/>
            <a:ext cx="4051935" cy="3228975"/>
            <a:chOff x="2640" y="2203"/>
            <a:chExt cx="8754" cy="6976"/>
          </a:xfrm>
        </p:grpSpPr>
        <p:sp>
          <p:nvSpPr>
            <p:cNvPr id="54" name="圆角矩形 53"/>
            <p:cNvSpPr/>
            <p:nvPr/>
          </p:nvSpPr>
          <p:spPr>
            <a:xfrm>
              <a:off x="2640" y="2203"/>
              <a:ext cx="8755" cy="697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9223" y="2565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4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9223" y="5750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5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6303" y="2565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2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6303" y="5750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3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3118" y="4160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1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sp>
          <p:nvSpPr>
            <p:cNvPr id="60" name="椭圆 59"/>
            <p:cNvSpPr/>
            <p:nvPr/>
          </p:nvSpPr>
          <p:spPr>
            <a:xfrm>
              <a:off x="9223" y="7875"/>
              <a:ext cx="927" cy="928"/>
            </a:xfrm>
            <a:prstGeom prst="ellipse">
              <a:avLst/>
            </a:prstGeom>
            <a:noFill/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p>
              <a:pPr lvl="0" algn="ctr"/>
              <a:r>
                <a:rPr lang="en-US" altLang="zh-CN" b="1">
                  <a:solidFill>
                    <a:srgbClr val="003399"/>
                  </a:solidFill>
                  <a:latin typeface="Verdana" pitchFamily="34" charset="0"/>
                  <a:ea typeface="宋体" pitchFamily="2" charset="-122"/>
                </a:rPr>
                <a:t>6</a:t>
              </a:r>
              <a:endPara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endParaRPr>
            </a:p>
          </p:txBody>
        </p:sp>
        <p:cxnSp>
          <p:nvCxnSpPr>
            <p:cNvPr id="61" name="直接箭头连接符 60"/>
            <p:cNvCxnSpPr>
              <a:stCxn id="57" idx="6"/>
              <a:endCxn id="55" idx="2"/>
            </p:cNvCxnSpPr>
            <p:nvPr/>
          </p:nvCxnSpPr>
          <p:spPr>
            <a:xfrm>
              <a:off x="7283" y="3030"/>
              <a:ext cx="1887" cy="0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2" name="直接箭头连接符 61"/>
            <p:cNvCxnSpPr>
              <a:stCxn id="57" idx="3"/>
              <a:endCxn id="59" idx="6"/>
            </p:cNvCxnSpPr>
            <p:nvPr/>
          </p:nvCxnSpPr>
          <p:spPr>
            <a:xfrm flipH="1">
              <a:off x="4098" y="3410"/>
              <a:ext cx="2340" cy="1215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3" name="直接箭头连接符 62"/>
            <p:cNvCxnSpPr>
              <a:stCxn id="59" idx="6"/>
              <a:endCxn id="58" idx="1"/>
            </p:cNvCxnSpPr>
            <p:nvPr/>
          </p:nvCxnSpPr>
          <p:spPr>
            <a:xfrm>
              <a:off x="4098" y="4625"/>
              <a:ext cx="2340" cy="1208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4" name="直接箭头连接符 63"/>
            <p:cNvCxnSpPr>
              <a:stCxn id="58" idx="6"/>
              <a:endCxn id="55" idx="3"/>
            </p:cNvCxnSpPr>
            <p:nvPr/>
          </p:nvCxnSpPr>
          <p:spPr>
            <a:xfrm flipV="1">
              <a:off x="7283" y="3410"/>
              <a:ext cx="2075" cy="2805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5" name="直接箭头连接符 64"/>
            <p:cNvCxnSpPr>
              <a:stCxn id="57" idx="4"/>
              <a:endCxn id="58" idx="0"/>
            </p:cNvCxnSpPr>
            <p:nvPr/>
          </p:nvCxnSpPr>
          <p:spPr>
            <a:xfrm>
              <a:off x="6768" y="3545"/>
              <a:ext cx="0" cy="2153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6" name="直接箭头连接符 65"/>
            <p:cNvCxnSpPr>
              <a:stCxn id="58" idx="6"/>
              <a:endCxn id="56" idx="2"/>
            </p:cNvCxnSpPr>
            <p:nvPr/>
          </p:nvCxnSpPr>
          <p:spPr>
            <a:xfrm>
              <a:off x="7283" y="6215"/>
              <a:ext cx="1887" cy="0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7" name="直接箭头连接符 66"/>
            <p:cNvCxnSpPr>
              <a:stCxn id="55" idx="4"/>
              <a:endCxn id="56" idx="0"/>
            </p:cNvCxnSpPr>
            <p:nvPr/>
          </p:nvCxnSpPr>
          <p:spPr>
            <a:xfrm>
              <a:off x="9688" y="3545"/>
              <a:ext cx="0" cy="2153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  <p:cxnSp>
          <p:nvCxnSpPr>
            <p:cNvPr id="68" name="直接箭头连接符 67"/>
            <p:cNvCxnSpPr>
              <a:stCxn id="56" idx="4"/>
              <a:endCxn id="60" idx="0"/>
            </p:cNvCxnSpPr>
            <p:nvPr/>
          </p:nvCxnSpPr>
          <p:spPr>
            <a:xfrm>
              <a:off x="9688" y="6730"/>
              <a:ext cx="0" cy="1093"/>
            </a:xfrm>
            <a:prstGeom prst="straightConnector1">
              <a:avLst/>
            </a:prstGeom>
            <a:ln w="57150" cap="flat" cmpd="sng">
              <a:solidFill>
                <a:srgbClr val="003399"/>
              </a:solidFill>
              <a:prstDash val="solid"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cxnSp>
      </p:grpSp>
      <p:sp>
        <p:nvSpPr>
          <p:cNvPr id="69" name="文本框 68"/>
          <p:cNvSpPr txBox="1"/>
          <p:nvPr/>
        </p:nvSpPr>
        <p:spPr>
          <a:xfrm>
            <a:off x="4854575" y="5836285"/>
            <a:ext cx="183578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2060"/>
                </a:solidFill>
                <a:latin typeface="楷体" charset="0"/>
                <a:ea typeface="楷体" charset="0"/>
              </a:rPr>
              <a:t>图中有几个面？</a:t>
            </a:r>
            <a:endParaRPr lang="zh-CN" altLang="en-US">
              <a:solidFill>
                <a:srgbClr val="002060"/>
              </a:solidFill>
              <a:latin typeface="楷体" charset="0"/>
              <a:ea typeface="楷体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502593" y="3866833"/>
            <a:ext cx="673100" cy="59055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/>
          <a:p>
            <a:pPr lvl="0" algn="ctr"/>
            <a:r>
              <a:rPr lang="en-US" altLang="zh-CN" sz="2400" i="1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pitchFamily="2" charset="-122"/>
              </a:rPr>
              <a:t>1</a:t>
            </a:r>
            <a:endParaRPr lang="en-US" altLang="zh-CN" sz="2400" i="1" baseline="-25000">
              <a:solidFill>
                <a:srgbClr val="99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6381750" y="3662363"/>
            <a:ext cx="673100" cy="592137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/>
          <a:p>
            <a:pPr lvl="0" algn="ctr"/>
            <a:r>
              <a:rPr lang="en-US" altLang="zh-CN" sz="2400" i="1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pitchFamily="2" charset="-122"/>
              </a:rPr>
              <a:t>2</a:t>
            </a:r>
            <a:endParaRPr lang="en-US" altLang="zh-CN" sz="2400" i="1" baseline="-25000">
              <a:solidFill>
                <a:srgbClr val="99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6912293" y="4136390"/>
            <a:ext cx="674687" cy="592138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/>
          <a:p>
            <a:pPr lvl="0" algn="ctr"/>
            <a:r>
              <a:rPr lang="en-US" altLang="zh-CN" sz="2400" i="1">
                <a:solidFill>
                  <a:srgbClr val="99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pitchFamily="2" charset="-122"/>
              </a:rPr>
              <a:t>3</a:t>
            </a:r>
            <a:endParaRPr lang="en-US" altLang="zh-CN" sz="2400" i="1" baseline="-25000">
              <a:solidFill>
                <a:srgbClr val="99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5971858" y="5112703"/>
            <a:ext cx="674687" cy="592137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ctr"/>
          <a:p>
            <a:pPr lvl="0" algn="ctr"/>
            <a:r>
              <a:rPr lang="en-US" altLang="zh-CN" sz="2400" i="1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宋体" pitchFamily="2" charset="-122"/>
              </a:rPr>
              <a:t>4</a:t>
            </a:r>
            <a:endParaRPr lang="en-US" altLang="zh-CN" sz="2400" i="1" baseline="-25000">
              <a:solidFill>
                <a:srgbClr val="FF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2"/>
      <p:bldP spid="6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圆角矩形 2"/>
          <p:cNvSpPr/>
          <p:nvPr/>
        </p:nvSpPr>
        <p:spPr>
          <a:xfrm>
            <a:off x="199390" y="843915"/>
            <a:ext cx="8743315" cy="487553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平面图的对偶图</a:t>
            </a:r>
            <a:endParaRPr lang="zh-CN" sz="2300">
              <a:solidFill>
                <a:srgbClr val="FFCC00"/>
              </a:solidFill>
            </a:endParaRPr>
          </a:p>
        </p:txBody>
      </p:sp>
      <p:sp>
        <p:nvSpPr>
          <p:cNvPr id="71683" name="椭圆 71682"/>
          <p:cNvSpPr/>
          <p:nvPr/>
        </p:nvSpPr>
        <p:spPr>
          <a:xfrm>
            <a:off x="3524885" y="1664335"/>
            <a:ext cx="446088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4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84" name="椭圆 71683"/>
          <p:cNvSpPr/>
          <p:nvPr/>
        </p:nvSpPr>
        <p:spPr>
          <a:xfrm>
            <a:off x="3524885" y="3289935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5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85" name="椭圆 71684"/>
          <p:cNvSpPr/>
          <p:nvPr/>
        </p:nvSpPr>
        <p:spPr>
          <a:xfrm>
            <a:off x="2118360" y="1664335"/>
            <a:ext cx="447675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2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86" name="椭圆 71685"/>
          <p:cNvSpPr/>
          <p:nvPr/>
        </p:nvSpPr>
        <p:spPr>
          <a:xfrm>
            <a:off x="2118360" y="3289935"/>
            <a:ext cx="447675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3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87" name="椭圆 71686"/>
          <p:cNvSpPr/>
          <p:nvPr/>
        </p:nvSpPr>
        <p:spPr>
          <a:xfrm>
            <a:off x="586423" y="2477135"/>
            <a:ext cx="446087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1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88" name="椭圆 71687"/>
          <p:cNvSpPr/>
          <p:nvPr/>
        </p:nvSpPr>
        <p:spPr>
          <a:xfrm>
            <a:off x="3524885" y="457422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6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71689" name="直接箭头连接符 71688"/>
          <p:cNvCxnSpPr>
            <a:stCxn id="71685" idx="6"/>
            <a:endCxn id="71683" idx="2"/>
          </p:cNvCxnSpPr>
          <p:nvPr/>
        </p:nvCxnSpPr>
        <p:spPr>
          <a:xfrm>
            <a:off x="2558415" y="1901825"/>
            <a:ext cx="958850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0" name="直接箭头连接符 71689"/>
          <p:cNvCxnSpPr>
            <a:stCxn id="71685" idx="3"/>
            <a:endCxn id="71687" idx="6"/>
          </p:cNvCxnSpPr>
          <p:nvPr/>
        </p:nvCxnSpPr>
        <p:spPr>
          <a:xfrm flipH="1">
            <a:off x="1024573" y="2069465"/>
            <a:ext cx="1151255" cy="64516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1" name="直接箭头连接符 71690"/>
          <p:cNvCxnSpPr>
            <a:stCxn id="71687" idx="6"/>
            <a:endCxn id="71686" idx="1"/>
          </p:cNvCxnSpPr>
          <p:nvPr/>
        </p:nvCxnSpPr>
        <p:spPr>
          <a:xfrm>
            <a:off x="1024573" y="2714625"/>
            <a:ext cx="1151255" cy="64452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2" name="直接箭头连接符 71691"/>
          <p:cNvCxnSpPr>
            <a:stCxn id="71686" idx="6"/>
            <a:endCxn id="71683" idx="3"/>
          </p:cNvCxnSpPr>
          <p:nvPr/>
        </p:nvCxnSpPr>
        <p:spPr>
          <a:xfrm flipV="1">
            <a:off x="2558415" y="2069148"/>
            <a:ext cx="1024255" cy="145669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3" name="直接箭头连接符 71692"/>
          <p:cNvCxnSpPr>
            <a:stCxn id="71685" idx="4"/>
            <a:endCxn id="71686" idx="0"/>
          </p:cNvCxnSpPr>
          <p:nvPr/>
        </p:nvCxnSpPr>
        <p:spPr>
          <a:xfrm>
            <a:off x="2334578" y="2138998"/>
            <a:ext cx="0" cy="115062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4" name="直接箭头连接符 71693"/>
          <p:cNvCxnSpPr>
            <a:stCxn id="71686" idx="6"/>
            <a:endCxn id="71684" idx="2"/>
          </p:cNvCxnSpPr>
          <p:nvPr/>
        </p:nvCxnSpPr>
        <p:spPr>
          <a:xfrm>
            <a:off x="2558415" y="3525838"/>
            <a:ext cx="958850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5" name="直接箭头连接符 71694"/>
          <p:cNvCxnSpPr>
            <a:stCxn id="71683" idx="4"/>
            <a:endCxn id="71684" idx="0"/>
          </p:cNvCxnSpPr>
          <p:nvPr/>
        </p:nvCxnSpPr>
        <p:spPr>
          <a:xfrm>
            <a:off x="3740468" y="2138998"/>
            <a:ext cx="0" cy="115062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696" name="直接箭头连接符 71695"/>
          <p:cNvCxnSpPr>
            <a:stCxn id="71684" idx="4"/>
            <a:endCxn id="71688" idx="0"/>
          </p:cNvCxnSpPr>
          <p:nvPr/>
        </p:nvCxnSpPr>
        <p:spPr>
          <a:xfrm>
            <a:off x="3740468" y="3761423"/>
            <a:ext cx="0" cy="81280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1697" name="椭圆 71696"/>
          <p:cNvSpPr/>
          <p:nvPr/>
        </p:nvSpPr>
        <p:spPr>
          <a:xfrm>
            <a:off x="1608773" y="2475548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98" name="椭圆 71697"/>
          <p:cNvSpPr/>
          <p:nvPr/>
        </p:nvSpPr>
        <p:spPr>
          <a:xfrm>
            <a:off x="2566035" y="2275523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699" name="椭圆 71698"/>
          <p:cNvSpPr/>
          <p:nvPr/>
        </p:nvSpPr>
        <p:spPr>
          <a:xfrm>
            <a:off x="3140710" y="2881948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1700" name="椭圆 71699"/>
          <p:cNvSpPr/>
          <p:nvPr/>
        </p:nvSpPr>
        <p:spPr>
          <a:xfrm>
            <a:off x="1416685" y="4102735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3" name="椭圆 47122"/>
          <p:cNvSpPr/>
          <p:nvPr/>
        </p:nvSpPr>
        <p:spPr>
          <a:xfrm>
            <a:off x="6425248" y="2599373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4" name="椭圆 47123"/>
          <p:cNvSpPr/>
          <p:nvPr/>
        </p:nvSpPr>
        <p:spPr>
          <a:xfrm>
            <a:off x="7382510" y="2399348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5" name="椭圆 47124"/>
          <p:cNvSpPr/>
          <p:nvPr/>
        </p:nvSpPr>
        <p:spPr>
          <a:xfrm>
            <a:off x="7957185" y="300577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6" name="椭圆 47125"/>
          <p:cNvSpPr/>
          <p:nvPr/>
        </p:nvSpPr>
        <p:spPr>
          <a:xfrm>
            <a:off x="6233160" y="422656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47127" name="直接箭头连接符 47126"/>
          <p:cNvCxnSpPr>
            <a:stCxn id="47123" idx="6"/>
            <a:endCxn id="47124" idx="2"/>
          </p:cNvCxnSpPr>
          <p:nvPr/>
        </p:nvCxnSpPr>
        <p:spPr>
          <a:xfrm flipV="1">
            <a:off x="6877685" y="2634933"/>
            <a:ext cx="512445" cy="20129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28" name="直接箭头连接符 47127"/>
          <p:cNvCxnSpPr>
            <a:stCxn id="47123" idx="4"/>
            <a:endCxn id="47126" idx="0"/>
          </p:cNvCxnSpPr>
          <p:nvPr/>
        </p:nvCxnSpPr>
        <p:spPr>
          <a:xfrm flipH="1">
            <a:off x="6464300" y="3072765"/>
            <a:ext cx="191135" cy="115379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29" name="直接箭头连接符 47128"/>
          <p:cNvCxnSpPr>
            <a:stCxn id="47124" idx="5"/>
            <a:endCxn id="47125" idx="1"/>
          </p:cNvCxnSpPr>
          <p:nvPr/>
        </p:nvCxnSpPr>
        <p:spPr>
          <a:xfrm>
            <a:off x="7772083" y="2801620"/>
            <a:ext cx="257810" cy="27368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0" name="直接箭头连接符 47129"/>
          <p:cNvCxnSpPr/>
          <p:nvPr/>
        </p:nvCxnSpPr>
        <p:spPr>
          <a:xfrm flipV="1">
            <a:off x="6687185" y="3402965"/>
            <a:ext cx="1343025" cy="1051560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1" name="曲线连接符 47130"/>
          <p:cNvCxnSpPr/>
          <p:nvPr/>
        </p:nvCxnSpPr>
        <p:spPr>
          <a:xfrm flipH="1">
            <a:off x="6687185" y="3235325"/>
            <a:ext cx="1724025" cy="1219200"/>
          </a:xfrm>
          <a:prstGeom prst="curvedConnector3">
            <a:avLst>
              <a:gd name="adj1" fmla="val -13812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2" name="曲线连接符 47131"/>
          <p:cNvCxnSpPr/>
          <p:nvPr/>
        </p:nvCxnSpPr>
        <p:spPr>
          <a:xfrm rot="16200000" flipH="1" flipV="1">
            <a:off x="5472748" y="3428683"/>
            <a:ext cx="1793875" cy="257810"/>
          </a:xfrm>
          <a:prstGeom prst="curvedConnector4">
            <a:avLst>
              <a:gd name="adj1" fmla="val -17150"/>
              <a:gd name="adj2" fmla="val 192488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7133" name="曲线连接符 47132"/>
          <p:cNvCxnSpPr/>
          <p:nvPr/>
        </p:nvCxnSpPr>
        <p:spPr>
          <a:xfrm rot="16200000" flipH="1" flipV="1">
            <a:off x="5860098" y="2683510"/>
            <a:ext cx="2092325" cy="1398588"/>
          </a:xfrm>
          <a:prstGeom prst="curvedConnector4">
            <a:avLst>
              <a:gd name="adj1" fmla="val -58491"/>
              <a:gd name="adj2" fmla="val 215491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" name="文本框 6"/>
          <p:cNvSpPr txBox="1"/>
          <p:nvPr/>
        </p:nvSpPr>
        <p:spPr>
          <a:xfrm>
            <a:off x="3209290" y="5276850"/>
            <a:ext cx="3902075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1">
                    <a:lumMod val="10000"/>
                  </a:schemeClr>
                </a:solidFill>
              </a:rPr>
              <a:t>左右两个平面图互为对偶图</a:t>
            </a:r>
            <a:endParaRPr lang="zh-CN" altLang="en-US">
              <a:solidFill>
                <a:schemeClr val="accent1">
                  <a:lumMod val="10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5785" y="5852795"/>
            <a:ext cx="7582535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若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A,B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两图为对偶图，那么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图的每个顶点代表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图的一个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图的两个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若有共同的边作为</a:t>
            </a:r>
            <a:r>
              <a:rPr lang="zh-CN" altLang="en-US" b="1">
                <a:solidFill>
                  <a:schemeClr val="bg1"/>
                </a:solidFill>
                <a:latin typeface="楷体" charset="0"/>
                <a:ea typeface="楷体" charset="0"/>
              </a:rPr>
              <a:t>分界线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，我们称它们相邻。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图的两个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相邻，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则意味着在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图上的两个对应顶点之间有一条边。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1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1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1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1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7" grpId="0" animBg="1"/>
      <p:bldP spid="71698" grpId="0" animBg="1"/>
      <p:bldP spid="71699" grpId="0" animBg="1"/>
      <p:bldP spid="71700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圆角矩形 68"/>
          <p:cNvSpPr/>
          <p:nvPr/>
        </p:nvSpPr>
        <p:spPr>
          <a:xfrm>
            <a:off x="199390" y="843915"/>
            <a:ext cx="8743315" cy="487553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平面图的对偶图</a:t>
            </a:r>
            <a:endParaRPr lang="zh-CN" sz="2300">
              <a:solidFill>
                <a:srgbClr val="FFCC00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5638800" y="2276475"/>
            <a:ext cx="446088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4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638800" y="3902075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5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4232275" y="2276475"/>
            <a:ext cx="447675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2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232275" y="3902075"/>
            <a:ext cx="447675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3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2700338" y="3089275"/>
            <a:ext cx="446087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1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5638800" y="518636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6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4705350" y="2498090"/>
            <a:ext cx="906463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1" name="直接箭头连接符 50"/>
          <p:cNvCxnSpPr/>
          <p:nvPr/>
        </p:nvCxnSpPr>
        <p:spPr>
          <a:xfrm flipH="1">
            <a:off x="3173413" y="2691765"/>
            <a:ext cx="1123950" cy="61912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2" name="直接箭头连接符 51"/>
          <p:cNvCxnSpPr>
            <a:stCxn id="48" idx="6"/>
            <a:endCxn id="47" idx="1"/>
          </p:cNvCxnSpPr>
          <p:nvPr/>
        </p:nvCxnSpPr>
        <p:spPr>
          <a:xfrm>
            <a:off x="3173413" y="3327400"/>
            <a:ext cx="1123950" cy="614363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3" name="直接箭头连接符 52"/>
          <p:cNvCxnSpPr/>
          <p:nvPr/>
        </p:nvCxnSpPr>
        <p:spPr>
          <a:xfrm flipV="1">
            <a:off x="4705350" y="2700020"/>
            <a:ext cx="998538" cy="1430338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4" name="直接箭头连接符 53"/>
          <p:cNvCxnSpPr/>
          <p:nvPr/>
        </p:nvCxnSpPr>
        <p:spPr>
          <a:xfrm>
            <a:off x="4456113" y="2760028"/>
            <a:ext cx="0" cy="1096962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5" name="直接箭头连接符 54"/>
          <p:cNvCxnSpPr>
            <a:stCxn id="47" idx="6"/>
            <a:endCxn id="45" idx="2"/>
          </p:cNvCxnSpPr>
          <p:nvPr/>
        </p:nvCxnSpPr>
        <p:spPr>
          <a:xfrm>
            <a:off x="4705350" y="4138613"/>
            <a:ext cx="906463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6" name="直接箭头连接符 55"/>
          <p:cNvCxnSpPr>
            <a:stCxn id="44" idx="4"/>
            <a:endCxn id="45" idx="0"/>
          </p:cNvCxnSpPr>
          <p:nvPr/>
        </p:nvCxnSpPr>
        <p:spPr>
          <a:xfrm>
            <a:off x="5862638" y="2776538"/>
            <a:ext cx="0" cy="1096962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7" name="直接箭头连接符 56"/>
          <p:cNvCxnSpPr>
            <a:stCxn id="45" idx="4"/>
            <a:endCxn id="49" idx="0"/>
          </p:cNvCxnSpPr>
          <p:nvPr/>
        </p:nvCxnSpPr>
        <p:spPr>
          <a:xfrm>
            <a:off x="5862638" y="4402138"/>
            <a:ext cx="0" cy="75882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8" name="椭圆 57"/>
          <p:cNvSpPr/>
          <p:nvPr/>
        </p:nvSpPr>
        <p:spPr>
          <a:xfrm>
            <a:off x="3722688" y="3087688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4679950" y="2887663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5254625" y="3494088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3530600" y="4714875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62" name="直接箭头连接符 61"/>
          <p:cNvCxnSpPr>
            <a:stCxn id="58" idx="6"/>
            <a:endCxn id="59" idx="2"/>
          </p:cNvCxnSpPr>
          <p:nvPr/>
        </p:nvCxnSpPr>
        <p:spPr>
          <a:xfrm flipV="1">
            <a:off x="4194175" y="3124200"/>
            <a:ext cx="461963" cy="201613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3" name="直接箭头连接符 62"/>
          <p:cNvCxnSpPr>
            <a:stCxn id="58" idx="4"/>
            <a:endCxn id="61" idx="0"/>
          </p:cNvCxnSpPr>
          <p:nvPr/>
        </p:nvCxnSpPr>
        <p:spPr>
          <a:xfrm flipH="1">
            <a:off x="3754438" y="3587750"/>
            <a:ext cx="192087" cy="110172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直接箭头连接符 63"/>
          <p:cNvCxnSpPr>
            <a:stCxn id="59" idx="5"/>
            <a:endCxn id="60" idx="1"/>
          </p:cNvCxnSpPr>
          <p:nvPr/>
        </p:nvCxnSpPr>
        <p:spPr>
          <a:xfrm>
            <a:off x="5062538" y="3317875"/>
            <a:ext cx="257175" cy="21907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直接箭头连接符 64"/>
          <p:cNvCxnSpPr>
            <a:stCxn id="61" idx="6"/>
            <a:endCxn id="60" idx="3"/>
          </p:cNvCxnSpPr>
          <p:nvPr/>
        </p:nvCxnSpPr>
        <p:spPr>
          <a:xfrm flipV="1">
            <a:off x="4003675" y="3925888"/>
            <a:ext cx="1316038" cy="1027112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6" name="曲线连接符 65"/>
          <p:cNvCxnSpPr>
            <a:stCxn id="60" idx="6"/>
            <a:endCxn id="61" idx="6"/>
          </p:cNvCxnSpPr>
          <p:nvPr/>
        </p:nvCxnSpPr>
        <p:spPr>
          <a:xfrm flipH="1">
            <a:off x="4003675" y="3732213"/>
            <a:ext cx="1720850" cy="1220787"/>
          </a:xfrm>
          <a:prstGeom prst="curvedConnector3">
            <a:avLst>
              <a:gd name="adj1" fmla="val -52208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曲线连接符 66"/>
          <p:cNvCxnSpPr>
            <a:stCxn id="58" idx="1"/>
            <a:endCxn id="61" idx="2"/>
          </p:cNvCxnSpPr>
          <p:nvPr/>
        </p:nvCxnSpPr>
        <p:spPr>
          <a:xfrm rot="16200000" flipH="1" flipV="1">
            <a:off x="2733675" y="3898900"/>
            <a:ext cx="1824038" cy="282575"/>
          </a:xfrm>
          <a:prstGeom prst="curvedConnector4">
            <a:avLst>
              <a:gd name="adj1" fmla="val -14088"/>
              <a:gd name="adj2" fmla="val 498500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8" name="曲线连接符 67"/>
          <p:cNvCxnSpPr/>
          <p:nvPr/>
        </p:nvCxnSpPr>
        <p:spPr>
          <a:xfrm rot="16200000" flipH="1" flipV="1">
            <a:off x="3157538" y="3171825"/>
            <a:ext cx="2092325" cy="1398588"/>
          </a:xfrm>
          <a:prstGeom prst="curvedConnector4">
            <a:avLst>
              <a:gd name="adj1" fmla="val -58491"/>
              <a:gd name="adj2" fmla="val 215491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565785" y="5852795"/>
            <a:ext cx="7582535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    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若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A,B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两图为对偶图，那么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图的每个顶点代表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图的一个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，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图的两个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若有共同的边作为分界线，我们称它们相邻。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图的两个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“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面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”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相邻，则意味着在</a:t>
            </a:r>
            <a:r>
              <a:rPr lang="en-US" altLang="zh-CN">
                <a:solidFill>
                  <a:schemeClr val="bg1"/>
                </a:solidFill>
                <a:latin typeface="楷体" charset="0"/>
                <a:ea typeface="楷体" charset="0"/>
              </a:rPr>
              <a:t>B</a:t>
            </a:r>
            <a:r>
              <a:rPr lang="zh-CN" altLang="en-US">
                <a:solidFill>
                  <a:schemeClr val="bg1"/>
                </a:solidFill>
                <a:latin typeface="楷体" charset="0"/>
                <a:ea typeface="楷体" charset="0"/>
              </a:rPr>
              <a:t>图上的两个对应顶点之间有一条边。</a:t>
            </a:r>
            <a:endParaRPr lang="zh-CN" altLang="en-US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46" grpId="0" bldLvl="0" animBg="1"/>
      <p:bldP spid="44" grpId="0" bldLvl="0" animBg="1"/>
      <p:bldP spid="47" grpId="0" bldLvl="0" animBg="1"/>
      <p:bldP spid="45" grpId="0" bldLvl="0" animBg="1"/>
      <p:bldP spid="49" grpId="0" bldLvl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平面图的对偶图</a:t>
            </a:r>
            <a:endParaRPr lang="zh-CN" sz="2300">
              <a:solidFill>
                <a:srgbClr val="FFCC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5135" y="1632585"/>
            <a:ext cx="7783830" cy="1615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平面图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与其对偶图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G'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之间的关系</a:t>
            </a:r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:</a:t>
            </a:r>
            <a:endParaRPr lang="en-US" altLang="zh-CN" sz="2000" dirty="0">
              <a:solidFill>
                <a:schemeClr val="bg1"/>
              </a:solidFill>
              <a:latin typeface="楷体" charset="0"/>
              <a:ea typeface="楷体" charset="0"/>
              <a:sym typeface="+mn-ea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的面数等于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'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的点数，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'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的点数等于</a:t>
            </a:r>
            <a:r>
              <a:rPr lang="en-US" altLang="zh-CN" sz="200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G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的面数</a:t>
            </a:r>
            <a:endParaRPr lang="zh-CN" altLang="en-US" sz="2000" dirty="0">
              <a:solidFill>
                <a:schemeClr val="bg1"/>
              </a:solidFill>
              <a:latin typeface="楷体" charset="0"/>
              <a:ea typeface="楷体" charset="0"/>
              <a:sym typeface="+mn-ea"/>
            </a:endParaRPr>
          </a:p>
          <a:p>
            <a:endParaRPr lang="zh-CN" altLang="en-US" sz="2000" dirty="0">
              <a:solidFill>
                <a:schemeClr val="bg1"/>
              </a:solidFill>
              <a:latin typeface="楷体" charset="0"/>
              <a:ea typeface="楷体" charset="0"/>
              <a:sym typeface="+mn-ea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若其中一个图中两个面相邻</a:t>
            </a:r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(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有共同的分界线</a:t>
            </a:r>
            <a:r>
              <a:rPr lang="en-US" altLang="zh-CN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)</a:t>
            </a:r>
            <a:r>
              <a:rPr lang="zh-CN" altLang="en-US" sz="2000" dirty="0">
                <a:solidFill>
                  <a:schemeClr val="bg1"/>
                </a:solidFill>
                <a:latin typeface="楷体" charset="0"/>
                <a:ea typeface="楷体" charset="0"/>
                <a:sym typeface="+mn-ea"/>
              </a:rPr>
              <a:t>，则另一个图中对应定点间有边直接相连。</a:t>
            </a:r>
            <a:endParaRPr lang="zh-CN" altLang="en-US" sz="2000" dirty="0">
              <a:solidFill>
                <a:schemeClr val="bg1"/>
              </a:solidFill>
              <a:latin typeface="楷体" charset="0"/>
              <a:ea typeface="楷体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9560" y="711835"/>
            <a:ext cx="4396740" cy="613410"/>
          </a:xfrm>
          <a:prstGeom prst="rect">
            <a:avLst/>
          </a:prstGeom>
          <a:solidFill>
            <a:schemeClr val="accent1">
              <a:alpha val="12000"/>
            </a:schemeClr>
          </a:solidFill>
        </p:spPr>
        <p:txBody>
          <a:bodyPr wrap="square" rtlCol="0">
            <a:spAutoFit/>
          </a:bodyPr>
          <a:p>
            <a:pPr marL="0" lvl="1"/>
            <a:r>
              <a:rPr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Euler公式</a:t>
            </a:r>
            <a:r>
              <a:rPr 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：</a:t>
            </a:r>
            <a:r>
              <a:rPr sz="3200" b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charset="0"/>
                <a:ea typeface="微软雅黑" charset="0"/>
                <a:sym typeface="+mn-ea"/>
              </a:rPr>
              <a:t>V+F=E+2</a:t>
            </a:r>
            <a:endParaRPr lang="zh-CN" altLang="en-US" sz="3200" b="1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charset="0"/>
              <a:ea typeface="微软雅黑" charset="0"/>
              <a:sym typeface="+mn-ea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112395" y="1751965"/>
            <a:ext cx="4052570" cy="322897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3159760" y="191960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4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3159760" y="339407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5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1807845" y="191960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2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1807845" y="339407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3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333375" y="2658110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1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3159760" y="437705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6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61" name="直接箭头连接符 60"/>
          <p:cNvCxnSpPr>
            <a:stCxn id="57" idx="6"/>
            <a:endCxn id="55" idx="2"/>
          </p:cNvCxnSpPr>
          <p:nvPr/>
        </p:nvCxnSpPr>
        <p:spPr>
          <a:xfrm>
            <a:off x="2237105" y="2126615"/>
            <a:ext cx="922655" cy="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2" name="直接箭头连接符 61"/>
          <p:cNvCxnSpPr>
            <a:stCxn id="57" idx="3"/>
            <a:endCxn id="59" idx="6"/>
          </p:cNvCxnSpPr>
          <p:nvPr/>
        </p:nvCxnSpPr>
        <p:spPr>
          <a:xfrm flipH="1">
            <a:off x="762635" y="2278380"/>
            <a:ext cx="1108075" cy="58674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3" name="直接箭头连接符 62"/>
          <p:cNvCxnSpPr>
            <a:stCxn id="59" idx="6"/>
            <a:endCxn id="58" idx="1"/>
          </p:cNvCxnSpPr>
          <p:nvPr/>
        </p:nvCxnSpPr>
        <p:spPr>
          <a:xfrm>
            <a:off x="762635" y="2865120"/>
            <a:ext cx="1108075" cy="58420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直接箭头连接符 63"/>
          <p:cNvCxnSpPr>
            <a:stCxn id="58" idx="6"/>
            <a:endCxn id="55" idx="3"/>
          </p:cNvCxnSpPr>
          <p:nvPr/>
        </p:nvCxnSpPr>
        <p:spPr>
          <a:xfrm flipV="1">
            <a:off x="2237105" y="2278380"/>
            <a:ext cx="985520" cy="132270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5" name="直接箭头连接符 64"/>
          <p:cNvCxnSpPr>
            <a:stCxn id="57" idx="4"/>
            <a:endCxn id="58" idx="0"/>
          </p:cNvCxnSpPr>
          <p:nvPr/>
        </p:nvCxnSpPr>
        <p:spPr>
          <a:xfrm>
            <a:off x="2022475" y="2341245"/>
            <a:ext cx="0" cy="104521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6" name="直接箭头连接符 65"/>
          <p:cNvCxnSpPr>
            <a:stCxn id="58" idx="6"/>
            <a:endCxn id="56" idx="2"/>
          </p:cNvCxnSpPr>
          <p:nvPr/>
        </p:nvCxnSpPr>
        <p:spPr>
          <a:xfrm>
            <a:off x="2237105" y="3601085"/>
            <a:ext cx="922655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7" name="直接箭头连接符 66"/>
          <p:cNvCxnSpPr>
            <a:stCxn id="55" idx="4"/>
            <a:endCxn id="56" idx="0"/>
          </p:cNvCxnSpPr>
          <p:nvPr/>
        </p:nvCxnSpPr>
        <p:spPr>
          <a:xfrm>
            <a:off x="3374390" y="2341245"/>
            <a:ext cx="0" cy="104521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8" name="直接箭头连接符 67"/>
          <p:cNvCxnSpPr>
            <a:stCxn id="56" idx="4"/>
            <a:endCxn id="60" idx="0"/>
          </p:cNvCxnSpPr>
          <p:nvPr/>
        </p:nvCxnSpPr>
        <p:spPr>
          <a:xfrm>
            <a:off x="3374390" y="3815715"/>
            <a:ext cx="0" cy="55372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5" name="圆角矩形 4"/>
          <p:cNvSpPr/>
          <p:nvPr/>
        </p:nvSpPr>
        <p:spPr>
          <a:xfrm>
            <a:off x="4434840" y="1216660"/>
            <a:ext cx="4603115" cy="415099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47123" name="椭圆 47122"/>
          <p:cNvSpPr/>
          <p:nvPr/>
        </p:nvSpPr>
        <p:spPr>
          <a:xfrm>
            <a:off x="6509068" y="2927033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4" name="椭圆 47123"/>
          <p:cNvSpPr/>
          <p:nvPr/>
        </p:nvSpPr>
        <p:spPr>
          <a:xfrm>
            <a:off x="7466330" y="2727008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5" name="椭圆 47124"/>
          <p:cNvSpPr/>
          <p:nvPr/>
        </p:nvSpPr>
        <p:spPr>
          <a:xfrm>
            <a:off x="8041005" y="333343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126" name="椭圆 47125"/>
          <p:cNvSpPr/>
          <p:nvPr/>
        </p:nvSpPr>
        <p:spPr>
          <a:xfrm>
            <a:off x="6316980" y="455422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47127" name="直接箭头连接符 47126"/>
          <p:cNvCxnSpPr>
            <a:stCxn id="47123" idx="6"/>
            <a:endCxn id="47124" idx="2"/>
          </p:cNvCxnSpPr>
          <p:nvPr/>
        </p:nvCxnSpPr>
        <p:spPr>
          <a:xfrm flipV="1">
            <a:off x="6953885" y="2954973"/>
            <a:ext cx="512445" cy="20129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28" name="直接箭头连接符 47127"/>
          <p:cNvCxnSpPr>
            <a:stCxn id="47123" idx="4"/>
            <a:endCxn id="47126" idx="0"/>
          </p:cNvCxnSpPr>
          <p:nvPr/>
        </p:nvCxnSpPr>
        <p:spPr>
          <a:xfrm flipH="1">
            <a:off x="6540500" y="3392805"/>
            <a:ext cx="191135" cy="1153795"/>
          </a:xfrm>
          <a:prstGeom prst="straightConnector1">
            <a:avLst/>
          </a:prstGeom>
          <a:ln w="38100" cap="flat" cmpd="sng">
            <a:solidFill>
              <a:srgbClr val="9900CC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29" name="直接箭头连接符 47128"/>
          <p:cNvCxnSpPr>
            <a:stCxn id="47124" idx="5"/>
            <a:endCxn id="47125" idx="1"/>
          </p:cNvCxnSpPr>
          <p:nvPr/>
        </p:nvCxnSpPr>
        <p:spPr>
          <a:xfrm>
            <a:off x="7848283" y="3121660"/>
            <a:ext cx="257810" cy="273685"/>
          </a:xfrm>
          <a:prstGeom prst="straightConnector1">
            <a:avLst/>
          </a:prstGeom>
          <a:ln w="3810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30" name="直接箭头连接符 47129"/>
          <p:cNvCxnSpPr/>
          <p:nvPr/>
        </p:nvCxnSpPr>
        <p:spPr>
          <a:xfrm flipV="1">
            <a:off x="6771005" y="3730625"/>
            <a:ext cx="1343025" cy="1051560"/>
          </a:xfrm>
          <a:prstGeom prst="straightConnector1">
            <a:avLst/>
          </a:prstGeom>
          <a:ln w="3810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31" name="曲线连接符 47130"/>
          <p:cNvCxnSpPr/>
          <p:nvPr/>
        </p:nvCxnSpPr>
        <p:spPr>
          <a:xfrm flipH="1">
            <a:off x="6771005" y="3562985"/>
            <a:ext cx="1724025" cy="1219200"/>
          </a:xfrm>
          <a:prstGeom prst="curvedConnector3">
            <a:avLst>
              <a:gd name="adj1" fmla="val -13812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32" name="曲线连接符 47131"/>
          <p:cNvCxnSpPr/>
          <p:nvPr/>
        </p:nvCxnSpPr>
        <p:spPr>
          <a:xfrm rot="16200000" flipH="1" flipV="1">
            <a:off x="5556568" y="3756343"/>
            <a:ext cx="1793875" cy="257810"/>
          </a:xfrm>
          <a:prstGeom prst="curvedConnector4">
            <a:avLst>
              <a:gd name="adj1" fmla="val -17150"/>
              <a:gd name="adj2" fmla="val 192488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47133" name="曲线连接符 47132"/>
          <p:cNvCxnSpPr/>
          <p:nvPr/>
        </p:nvCxnSpPr>
        <p:spPr>
          <a:xfrm rot="16200000" flipH="1" flipV="1">
            <a:off x="5943918" y="3011170"/>
            <a:ext cx="2092325" cy="1398588"/>
          </a:xfrm>
          <a:prstGeom prst="curvedConnector4">
            <a:avLst>
              <a:gd name="adj1" fmla="val -58491"/>
              <a:gd name="adj2" fmla="val 215491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6" name="椭圆 5"/>
          <p:cNvSpPr/>
          <p:nvPr/>
        </p:nvSpPr>
        <p:spPr>
          <a:xfrm>
            <a:off x="1238568" y="2575243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195830" y="2375218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70505" y="298164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046480" y="420243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9065" y="5407660"/>
            <a:ext cx="8567420" cy="1310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左右两图为对偶图，我们在左图中任意找出一个生成树（左图中绿色的边）。</a:t>
            </a:r>
            <a:endParaRPr lang="zh-CN" altLang="en-US" sz="16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我们再找出左图中那些不属于生成树的</a:t>
            </a:r>
            <a:r>
              <a:rPr lang="zh-CN" altLang="en-US" sz="1600" b="1">
                <a:solidFill>
                  <a:schemeClr val="bg1"/>
                </a:solidFill>
                <a:latin typeface="楷体" charset="0"/>
                <a:ea typeface="楷体" charset="0"/>
              </a:rPr>
              <a:t>边界线</a:t>
            </a:r>
            <a:r>
              <a:rPr lang="en-US" altLang="zh-CN" sz="1600">
                <a:solidFill>
                  <a:schemeClr val="bg1"/>
                </a:solidFill>
                <a:latin typeface="楷体" charset="0"/>
                <a:ea typeface="楷体" charset="0"/>
              </a:rPr>
              <a:t>(</a:t>
            </a:r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深蓝色边</a:t>
            </a:r>
            <a:r>
              <a:rPr lang="en-US" altLang="zh-CN" sz="1600">
                <a:solidFill>
                  <a:schemeClr val="bg1"/>
                </a:solidFill>
                <a:latin typeface="楷体" charset="0"/>
                <a:ea typeface="楷体" charset="0"/>
              </a:rPr>
              <a:t>)</a:t>
            </a:r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，右图中穿越这些</a:t>
            </a:r>
            <a:r>
              <a:rPr lang="zh-CN" altLang="en-US" sz="1600" b="1">
                <a:solidFill>
                  <a:schemeClr val="bg1"/>
                </a:solidFill>
                <a:latin typeface="楷体" charset="0"/>
                <a:ea typeface="楷体" charset="0"/>
              </a:rPr>
              <a:t>边界线</a:t>
            </a:r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的边为紫色。</a:t>
            </a:r>
            <a:endParaRPr lang="zh-CN" altLang="en-US" sz="16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我们观察出，右图中紫色的边构成了右图的一棵生成树。</a:t>
            </a:r>
            <a:endParaRPr lang="zh-CN" altLang="en-US" sz="1600"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 altLang="en-US" sz="1600">
                <a:solidFill>
                  <a:schemeClr val="bg1"/>
                </a:solidFill>
                <a:latin typeface="楷体" charset="0"/>
                <a:ea typeface="楷体" charset="0"/>
              </a:rPr>
              <a:t>因为左图的绿色边构成一棵生成树，它没有隔离出任何一块区域。所以，紫色边是没有环的，否则它将把某个左图的顶点包起来，从而左图中的绿色边就不可能是生成树了。</a:t>
            </a:r>
            <a:endParaRPr lang="zh-CN" altLang="en-US" sz="1600"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平面图的欧拉公式的证明</a:t>
            </a:r>
            <a:r>
              <a:rPr lang="en-US" altLang="zh-CN" sz="2300">
                <a:solidFill>
                  <a:srgbClr val="FFCC00"/>
                </a:solidFill>
              </a:rPr>
              <a:t>1</a:t>
            </a:r>
            <a:endParaRPr lang="en-US" altLang="zh-CN" sz="2300">
              <a:solidFill>
                <a:srgbClr val="FFCC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圆角矩形 68"/>
          <p:cNvSpPr/>
          <p:nvPr/>
        </p:nvSpPr>
        <p:spPr>
          <a:xfrm>
            <a:off x="4232275" y="514350"/>
            <a:ext cx="4867275" cy="429895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1155" y="5128260"/>
            <a:ext cx="8339455" cy="1463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solidFill>
                  <a:schemeClr val="bg1"/>
                </a:solidFill>
                <a:latin typeface="楷体" charset="0"/>
                <a:ea typeface="楷体" charset="0"/>
              </a:rPr>
              <a:t>我们知道：</a:t>
            </a:r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一棵树的顶点数等于边数加一</a:t>
            </a:r>
            <a:endParaRPr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我们</a:t>
            </a:r>
            <a:r>
              <a:rPr lang="zh-CN">
                <a:solidFill>
                  <a:schemeClr val="bg1"/>
                </a:solidFill>
                <a:latin typeface="楷体" charset="0"/>
                <a:ea typeface="楷体" charset="0"/>
              </a:rPr>
              <a:t>就直接得出</a:t>
            </a:r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的结论了：</a:t>
            </a:r>
            <a:endParaRPr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>
                <a:solidFill>
                  <a:schemeClr val="bg1"/>
                </a:solidFill>
                <a:latin typeface="楷体" charset="0"/>
                <a:ea typeface="楷体" charset="0"/>
              </a:rPr>
              <a:t>左</a:t>
            </a:r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图的顶点数就是Euler公式中的V，它等于原图生成树的边数加一；</a:t>
            </a:r>
            <a:endParaRPr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 lang="zh-CN">
                <a:solidFill>
                  <a:schemeClr val="bg1"/>
                </a:solidFill>
                <a:latin typeface="楷体" charset="0"/>
                <a:ea typeface="楷体" charset="0"/>
              </a:rPr>
              <a:t>右</a:t>
            </a:r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图的顶点数就是Euler公式中的F，它等于</a:t>
            </a:r>
            <a:r>
              <a:rPr lang="zh-CN">
                <a:solidFill>
                  <a:schemeClr val="bg1"/>
                </a:solidFill>
                <a:latin typeface="楷体" charset="0"/>
                <a:ea typeface="楷体" charset="0"/>
              </a:rPr>
              <a:t>右图</a:t>
            </a:r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生成树的边数加一；</a:t>
            </a:r>
            <a:endParaRPr>
              <a:solidFill>
                <a:schemeClr val="bg1"/>
              </a:solidFill>
              <a:latin typeface="楷体" charset="0"/>
              <a:ea typeface="楷体" charset="0"/>
            </a:endParaRPr>
          </a:p>
          <a:p>
            <a:r>
              <a:rPr>
                <a:solidFill>
                  <a:schemeClr val="bg1"/>
                </a:solidFill>
                <a:latin typeface="楷体" charset="0"/>
                <a:ea typeface="楷体" charset="0"/>
              </a:rPr>
              <a:t>而两棵生成树的边数总和正好就是原图中的E。于是我们就得到了V+F=E+2。</a:t>
            </a:r>
            <a:endParaRPr>
              <a:solidFill>
                <a:schemeClr val="bg1"/>
              </a:solidFill>
              <a:latin typeface="楷体" charset="0"/>
              <a:ea typeface="楷体" charset="0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8226425" y="1341120"/>
            <a:ext cx="446088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4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8226425" y="296672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5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6819900" y="1341120"/>
            <a:ext cx="447675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2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6819900" y="2966720"/>
            <a:ext cx="447675" cy="471488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3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5287963" y="2153920"/>
            <a:ext cx="446087" cy="474663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1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26425" y="4251008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6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7292975" y="1562735"/>
            <a:ext cx="906463" cy="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1" name="直接箭头连接符 50"/>
          <p:cNvCxnSpPr/>
          <p:nvPr/>
        </p:nvCxnSpPr>
        <p:spPr>
          <a:xfrm flipH="1">
            <a:off x="5761038" y="1756410"/>
            <a:ext cx="1123950" cy="619125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2" name="直接箭头连接符 51"/>
          <p:cNvCxnSpPr>
            <a:stCxn id="48" idx="6"/>
            <a:endCxn id="47" idx="1"/>
          </p:cNvCxnSpPr>
          <p:nvPr/>
        </p:nvCxnSpPr>
        <p:spPr>
          <a:xfrm>
            <a:off x="5741353" y="2391410"/>
            <a:ext cx="1151255" cy="64452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3" name="直接箭头连接符 52"/>
          <p:cNvCxnSpPr/>
          <p:nvPr/>
        </p:nvCxnSpPr>
        <p:spPr>
          <a:xfrm flipV="1">
            <a:off x="7292975" y="1764665"/>
            <a:ext cx="998538" cy="1430338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4" name="直接箭头连接符 53"/>
          <p:cNvCxnSpPr/>
          <p:nvPr/>
        </p:nvCxnSpPr>
        <p:spPr>
          <a:xfrm>
            <a:off x="7043738" y="1824673"/>
            <a:ext cx="0" cy="1096962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5" name="直接箭头连接符 54"/>
          <p:cNvCxnSpPr>
            <a:stCxn id="47" idx="6"/>
            <a:endCxn id="45" idx="2"/>
          </p:cNvCxnSpPr>
          <p:nvPr/>
        </p:nvCxnSpPr>
        <p:spPr>
          <a:xfrm>
            <a:off x="7275195" y="3202623"/>
            <a:ext cx="958850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6" name="直接箭头连接符 55"/>
          <p:cNvCxnSpPr>
            <a:stCxn id="44" idx="4"/>
            <a:endCxn id="45" idx="0"/>
          </p:cNvCxnSpPr>
          <p:nvPr/>
        </p:nvCxnSpPr>
        <p:spPr>
          <a:xfrm>
            <a:off x="8457248" y="1815783"/>
            <a:ext cx="0" cy="115062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57" name="直接箭头连接符 56"/>
          <p:cNvCxnSpPr>
            <a:stCxn id="45" idx="4"/>
            <a:endCxn id="49" idx="0"/>
          </p:cNvCxnSpPr>
          <p:nvPr/>
        </p:nvCxnSpPr>
        <p:spPr>
          <a:xfrm>
            <a:off x="8457248" y="3438208"/>
            <a:ext cx="0" cy="81280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58" name="椭圆 57"/>
          <p:cNvSpPr/>
          <p:nvPr/>
        </p:nvSpPr>
        <p:spPr>
          <a:xfrm>
            <a:off x="6310313" y="2152333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7267575" y="1952308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7842250" y="255873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6118225" y="377952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62" name="直接箭头连接符 61"/>
          <p:cNvCxnSpPr>
            <a:stCxn id="58" idx="6"/>
            <a:endCxn id="59" idx="2"/>
          </p:cNvCxnSpPr>
          <p:nvPr/>
        </p:nvCxnSpPr>
        <p:spPr>
          <a:xfrm flipV="1">
            <a:off x="6762750" y="2187893"/>
            <a:ext cx="512445" cy="201295"/>
          </a:xfrm>
          <a:prstGeom prst="straightConnector1">
            <a:avLst/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3" name="直接箭头连接符 62"/>
          <p:cNvCxnSpPr>
            <a:stCxn id="58" idx="4"/>
            <a:endCxn id="61" idx="0"/>
          </p:cNvCxnSpPr>
          <p:nvPr/>
        </p:nvCxnSpPr>
        <p:spPr>
          <a:xfrm flipH="1">
            <a:off x="6349365" y="2625725"/>
            <a:ext cx="191135" cy="1153795"/>
          </a:xfrm>
          <a:prstGeom prst="straightConnector1">
            <a:avLst/>
          </a:prstGeom>
          <a:ln w="3810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直接箭头连接符 63"/>
          <p:cNvCxnSpPr>
            <a:stCxn id="59" idx="5"/>
            <a:endCxn id="60" idx="1"/>
          </p:cNvCxnSpPr>
          <p:nvPr/>
        </p:nvCxnSpPr>
        <p:spPr>
          <a:xfrm>
            <a:off x="7657148" y="2354580"/>
            <a:ext cx="257810" cy="273685"/>
          </a:xfrm>
          <a:prstGeom prst="straightConnector1">
            <a:avLst/>
          </a:prstGeom>
          <a:ln w="3810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5" name="直接箭头连接符 64"/>
          <p:cNvCxnSpPr>
            <a:stCxn id="61" idx="6"/>
            <a:endCxn id="60" idx="3"/>
          </p:cNvCxnSpPr>
          <p:nvPr/>
        </p:nvCxnSpPr>
        <p:spPr>
          <a:xfrm flipV="1">
            <a:off x="6572250" y="2964180"/>
            <a:ext cx="1343025" cy="1051560"/>
          </a:xfrm>
          <a:prstGeom prst="straightConnector1">
            <a:avLst/>
          </a:prstGeom>
          <a:ln w="38100" cap="flat" cmpd="sng">
            <a:solidFill>
              <a:srgbClr val="7030A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6" name="曲线连接符 65"/>
          <p:cNvCxnSpPr>
            <a:stCxn id="60" idx="6"/>
            <a:endCxn id="61" idx="6"/>
          </p:cNvCxnSpPr>
          <p:nvPr/>
        </p:nvCxnSpPr>
        <p:spPr>
          <a:xfrm flipH="1">
            <a:off x="6572250" y="2796540"/>
            <a:ext cx="1724025" cy="1219200"/>
          </a:xfrm>
          <a:prstGeom prst="curvedConnector3">
            <a:avLst>
              <a:gd name="adj1" fmla="val -37679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7" name="曲线连接符 66"/>
          <p:cNvCxnSpPr>
            <a:stCxn id="58" idx="1"/>
            <a:endCxn id="61" idx="2"/>
          </p:cNvCxnSpPr>
          <p:nvPr/>
        </p:nvCxnSpPr>
        <p:spPr>
          <a:xfrm rot="16200000" flipH="1" flipV="1">
            <a:off x="5357813" y="2989898"/>
            <a:ext cx="1793875" cy="257810"/>
          </a:xfrm>
          <a:prstGeom prst="curvedConnector4">
            <a:avLst>
              <a:gd name="adj1" fmla="val -31823"/>
              <a:gd name="adj2" fmla="val 547044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68" name="曲线连接符 67"/>
          <p:cNvCxnSpPr/>
          <p:nvPr/>
        </p:nvCxnSpPr>
        <p:spPr>
          <a:xfrm rot="16200000" flipH="1" flipV="1">
            <a:off x="5745163" y="2236470"/>
            <a:ext cx="2092325" cy="1398588"/>
          </a:xfrm>
          <a:prstGeom prst="curvedConnector4">
            <a:avLst>
              <a:gd name="adj1" fmla="val -50978"/>
              <a:gd name="adj2" fmla="val 215491"/>
            </a:avLst>
          </a:prstGeom>
          <a:ln w="28575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70" name="文本框 69"/>
          <p:cNvSpPr txBox="1"/>
          <p:nvPr/>
        </p:nvSpPr>
        <p:spPr>
          <a:xfrm>
            <a:off x="207645" y="238125"/>
            <a:ext cx="3721100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300">
                <a:solidFill>
                  <a:srgbClr val="FFCC00"/>
                </a:solidFill>
              </a:rPr>
              <a:t>平面图的欧拉公式的证明</a:t>
            </a:r>
            <a:r>
              <a:rPr lang="en-US" altLang="zh-CN" sz="2300">
                <a:solidFill>
                  <a:srgbClr val="FFCC00"/>
                </a:solidFill>
              </a:rPr>
              <a:t>2</a:t>
            </a:r>
            <a:endParaRPr lang="en-US" altLang="zh-CN" sz="2300">
              <a:solidFill>
                <a:srgbClr val="FFCC00"/>
              </a:solidFill>
            </a:endParaRPr>
          </a:p>
        </p:txBody>
      </p:sp>
      <p:sp>
        <p:nvSpPr>
          <p:cNvPr id="72" name="圆角矩形 71"/>
          <p:cNvSpPr/>
          <p:nvPr/>
        </p:nvSpPr>
        <p:spPr>
          <a:xfrm>
            <a:off x="47625" y="1191895"/>
            <a:ext cx="4052570" cy="3228975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3094990" y="135953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4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3094990" y="283400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5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1743075" y="135953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2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1743075" y="283400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3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268605" y="2098040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1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3094990" y="3816985"/>
            <a:ext cx="429260" cy="429260"/>
          </a:xfrm>
          <a:prstGeom prst="ellipse">
            <a:avLst/>
          </a:prstGeom>
          <a:noFill/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003399"/>
                </a:solidFill>
                <a:latin typeface="Verdana" pitchFamily="34" charset="0"/>
                <a:ea typeface="宋体" pitchFamily="2" charset="-122"/>
              </a:rPr>
              <a:t>6</a:t>
            </a:r>
            <a:endParaRPr lang="en-US" altLang="zh-CN" b="1">
              <a:solidFill>
                <a:srgbClr val="003399"/>
              </a:solidFill>
              <a:latin typeface="Verdana" pitchFamily="34" charset="0"/>
              <a:ea typeface="宋体" pitchFamily="2" charset="-122"/>
            </a:endParaRPr>
          </a:p>
        </p:txBody>
      </p:sp>
      <p:cxnSp>
        <p:nvCxnSpPr>
          <p:cNvPr id="79" name="直接箭头连接符 78"/>
          <p:cNvCxnSpPr>
            <a:stCxn id="75" idx="6"/>
            <a:endCxn id="73" idx="2"/>
          </p:cNvCxnSpPr>
          <p:nvPr/>
        </p:nvCxnSpPr>
        <p:spPr>
          <a:xfrm>
            <a:off x="2179955" y="1574165"/>
            <a:ext cx="922655" cy="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0" name="直接箭头连接符 79"/>
          <p:cNvCxnSpPr>
            <a:stCxn id="75" idx="3"/>
            <a:endCxn id="77" idx="6"/>
          </p:cNvCxnSpPr>
          <p:nvPr/>
        </p:nvCxnSpPr>
        <p:spPr>
          <a:xfrm flipH="1">
            <a:off x="705485" y="1725930"/>
            <a:ext cx="1108075" cy="58674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1" name="直接箭头连接符 80"/>
          <p:cNvCxnSpPr>
            <a:stCxn id="77" idx="6"/>
            <a:endCxn id="76" idx="1"/>
          </p:cNvCxnSpPr>
          <p:nvPr/>
        </p:nvCxnSpPr>
        <p:spPr>
          <a:xfrm>
            <a:off x="705485" y="2312670"/>
            <a:ext cx="1108075" cy="58420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2" name="直接箭头连接符 81"/>
          <p:cNvCxnSpPr>
            <a:stCxn id="76" idx="6"/>
            <a:endCxn id="73" idx="3"/>
          </p:cNvCxnSpPr>
          <p:nvPr/>
        </p:nvCxnSpPr>
        <p:spPr>
          <a:xfrm flipV="1">
            <a:off x="2179955" y="1725930"/>
            <a:ext cx="985520" cy="1322705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3" name="直接箭头连接符 82"/>
          <p:cNvCxnSpPr>
            <a:stCxn id="75" idx="4"/>
            <a:endCxn id="76" idx="0"/>
          </p:cNvCxnSpPr>
          <p:nvPr/>
        </p:nvCxnSpPr>
        <p:spPr>
          <a:xfrm>
            <a:off x="1965325" y="1788795"/>
            <a:ext cx="0" cy="104521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4" name="直接箭头连接符 83"/>
          <p:cNvCxnSpPr>
            <a:stCxn id="76" idx="6"/>
            <a:endCxn id="74" idx="2"/>
          </p:cNvCxnSpPr>
          <p:nvPr/>
        </p:nvCxnSpPr>
        <p:spPr>
          <a:xfrm>
            <a:off x="2179955" y="3048635"/>
            <a:ext cx="922655" cy="0"/>
          </a:xfrm>
          <a:prstGeom prst="straightConnector1">
            <a:avLst/>
          </a:prstGeom>
          <a:ln w="57150" cap="flat" cmpd="sng">
            <a:solidFill>
              <a:srgbClr val="003399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5" name="直接箭头连接符 84"/>
          <p:cNvCxnSpPr>
            <a:stCxn id="73" idx="4"/>
            <a:endCxn id="74" idx="0"/>
          </p:cNvCxnSpPr>
          <p:nvPr/>
        </p:nvCxnSpPr>
        <p:spPr>
          <a:xfrm>
            <a:off x="3317240" y="1788795"/>
            <a:ext cx="0" cy="104521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cxnSp>
        <p:nvCxnSpPr>
          <p:cNvPr id="86" name="直接箭头连接符 85"/>
          <p:cNvCxnSpPr>
            <a:stCxn id="74" idx="4"/>
            <a:endCxn id="78" idx="0"/>
          </p:cNvCxnSpPr>
          <p:nvPr/>
        </p:nvCxnSpPr>
        <p:spPr>
          <a:xfrm>
            <a:off x="3317240" y="3263265"/>
            <a:ext cx="0" cy="553720"/>
          </a:xfrm>
          <a:prstGeom prst="straightConnector1">
            <a:avLst/>
          </a:prstGeom>
          <a:ln w="57150" cap="flat" cmpd="sng">
            <a:solidFill>
              <a:srgbClr val="00B05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cxnSp>
      <p:sp>
        <p:nvSpPr>
          <p:cNvPr id="87" name="椭圆 86"/>
          <p:cNvSpPr/>
          <p:nvPr/>
        </p:nvSpPr>
        <p:spPr>
          <a:xfrm>
            <a:off x="1173798" y="2015173"/>
            <a:ext cx="444500" cy="473075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1*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2131060" y="1815148"/>
            <a:ext cx="447675" cy="471487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2*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2705735" y="2421573"/>
            <a:ext cx="446088" cy="474662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3*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981710" y="3642360"/>
            <a:ext cx="446088" cy="471488"/>
          </a:xfrm>
          <a:prstGeom prst="ellipse">
            <a:avLst/>
          </a:prstGeom>
          <a:noFill/>
          <a:ln w="57150" cap="flat" cmpd="sng">
            <a:solidFill>
              <a:srgbClr val="CC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lvl="0" algn="ctr"/>
            <a:r>
              <a:rPr lang="en-US" altLang="zh-CN" b="1">
                <a:solidFill>
                  <a:srgbClr val="CC0066"/>
                </a:solidFill>
                <a:latin typeface="Verdana" pitchFamily="34" charset="0"/>
                <a:ea typeface="宋体" pitchFamily="2" charset="-122"/>
              </a:rPr>
              <a:t>4*</a:t>
            </a:r>
            <a:endParaRPr lang="en-US" altLang="zh-CN" b="1">
              <a:solidFill>
                <a:srgbClr val="CC0066"/>
              </a:solidFill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98755" y="655955"/>
            <a:ext cx="3491230" cy="483235"/>
          </a:xfrm>
          <a:prstGeom prst="rect">
            <a:avLst/>
          </a:prstGeom>
          <a:solidFill>
            <a:schemeClr val="accent1">
              <a:alpha val="12000"/>
            </a:schemeClr>
          </a:solidFill>
        </p:spPr>
        <p:txBody>
          <a:bodyPr wrap="square" rtlCol="0">
            <a:spAutoFit/>
          </a:bodyPr>
          <a:p>
            <a:pPr marL="0" lvl="1"/>
            <a:r>
              <a: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Euler公式</a:t>
            </a:r>
            <a:r>
              <a:rPr 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：</a:t>
            </a:r>
            <a:r>
              <a:rPr sz="2400" b="1">
                <a:solidFill>
                  <a:schemeClr val="bg1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微软雅黑" charset="0"/>
                <a:ea typeface="微软雅黑" charset="0"/>
                <a:sym typeface="+mn-ea"/>
              </a:rPr>
              <a:t>V+F=E+2</a:t>
            </a:r>
            <a:endParaRPr lang="zh-CN" altLang="en-US" sz="2400" b="1">
              <a:solidFill>
                <a:schemeClr val="bg1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46" grpId="0" bldLvl="0" animBg="1"/>
      <p:bldP spid="44" grpId="0" bldLvl="0" animBg="1"/>
      <p:bldP spid="47" grpId="0" bldLvl="0" animBg="1"/>
      <p:bldP spid="45" grpId="0" bldLvl="0" animBg="1"/>
      <p:bldP spid="49" grpId="0" bldLvl="0" animBg="1"/>
      <p:bldP spid="87" grpId="0" bldLvl="0" animBg="1"/>
      <p:bldP spid="88" grpId="0" bldLvl="0" animBg="1"/>
      <p:bldP spid="89" grpId="0" bldLvl="0" animBg="1"/>
      <p:bldP spid="90" grpId="0" bldLvl="0" animBg="1"/>
    </p:bldLst>
  </p:timing>
</p:sld>
</file>

<file path=ppt/tags/tag1.xml><?xml version="1.0" encoding="utf-8"?>
<p:tagLst xmlns:p="http://schemas.openxmlformats.org/presentationml/2006/main">
  <p:tag name="KSO_WM_BEAUTIFY_FLAG" val="#wm#"/>
  <p:tag name="KSO_WM_UNIT_TYPE" val="i"/>
  <p:tag name="KSO_WM_UNIT_ID" val="264*i*3"/>
  <p:tag name="KSO_WM_UNIT_TEMPLATE_CATEGORY" val="custom"/>
  <p:tag name="KSO_WM_UNIT_TEMPLATE_INDEX" val="7"/>
</p:tagLst>
</file>

<file path=ppt/tags/tag2.xml><?xml version="1.0" encoding="utf-8"?>
<p:tagLst xmlns:p="http://schemas.openxmlformats.org/presentationml/2006/main">
  <p:tag name="KSO_WM_BEAUTIFY_FLAG" val="#wm#"/>
  <p:tag name="KSO_WM_UNIT_TYPE" val="i"/>
  <p:tag name="KSO_WM_UNIT_ID" val="264*i*6"/>
  <p:tag name="KSO_WM_UNIT_TEMPLATE_CATEGORY" val="custom"/>
  <p:tag name="KSO_WM_UNIT_TEMPLATE_INDEX" val="7"/>
</p:tagLst>
</file>

<file path=ppt/tags/tag3.xml><?xml version="1.0" encoding="utf-8"?>
<p:tagLst xmlns:p="http://schemas.openxmlformats.org/presentationml/2006/main">
  <p:tag name="KSO_WM_BEAUTIFY_FLAG" val="#wm#"/>
  <p:tag name="KSO_WM_UNIT_TYPE" val="i"/>
  <p:tag name="KSO_WM_UNIT_ID" val="264*i*7"/>
  <p:tag name="KSO_WM_UNIT_TEMPLATE_CATEGORY" val="custom"/>
  <p:tag name="KSO_WM_UNIT_TEMPLATE_INDEX" val="7"/>
</p:tagLst>
</file>

<file path=ppt/tags/tag4.xml><?xml version="1.0" encoding="utf-8"?>
<p:tagLst xmlns:p="http://schemas.openxmlformats.org/presentationml/2006/main">
  <p:tag name="KSO_WM_BEAUTIFY_FLAG" val="#wm#"/>
  <p:tag name="KSO_WM_UNIT_TYPE" val="i"/>
  <p:tag name="KSO_WM_UNIT_ID" val="270*i*3"/>
  <p:tag name="KSO_WM_UNIT_TEMPLATE_CATEGORY" val="custom"/>
  <p:tag name="KSO_WM_UNIT_TEMPLATE_INDEX" val="7"/>
</p:tagLst>
</file>

<file path=ppt/theme/theme1.xml><?xml version="1.0" encoding="utf-8"?>
<a:theme xmlns:a="http://schemas.openxmlformats.org/drawingml/2006/main" name="1_默认设计模板">
  <a:themeElements>
    <a:clrScheme name="PPT7">
      <a:dk1>
        <a:srgbClr val="CC9900"/>
      </a:dk1>
      <a:lt1>
        <a:srgbClr val="FFFFFF"/>
      </a:lt1>
      <a:dk2>
        <a:srgbClr val="C0C0C0"/>
      </a:dk2>
      <a:lt2>
        <a:srgbClr val="808080"/>
      </a:lt2>
      <a:accent1>
        <a:srgbClr val="CFDEF3"/>
      </a:accent1>
      <a:accent2>
        <a:srgbClr val="333399"/>
      </a:accent2>
      <a:accent3>
        <a:srgbClr val="FFFFFF"/>
      </a:accent3>
      <a:accent4>
        <a:srgbClr val="000000"/>
      </a:accent4>
      <a:accent5>
        <a:srgbClr val="E4ECF8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黑体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黑体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1407</Words>
  <Application>WPS 演示</Application>
  <PresentationFormat>宽屏</PresentationFormat>
  <Paragraphs>258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1_默认设计模板</vt:lpstr>
      <vt:lpstr>图论补充小知识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何浪</cp:lastModifiedBy>
  <cp:revision>86</cp:revision>
  <dcterms:created xsi:type="dcterms:W3CDTF">2015-05-05T08:02:00Z</dcterms:created>
  <dcterms:modified xsi:type="dcterms:W3CDTF">2016-03-30T14:31:39Z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2052-10.1.0.5559</vt:lpwstr>
  </property>
</Properties>
</file>