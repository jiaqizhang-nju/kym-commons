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3"/>
    <p:sldId id="311" r:id="rId4"/>
    <p:sldId id="304" r:id="rId5"/>
    <p:sldId id="334" r:id="rId6"/>
    <p:sldId id="305" r:id="rId7"/>
    <p:sldId id="335" r:id="rId8"/>
    <p:sldId id="336" r:id="rId9"/>
    <p:sldId id="338" r:id="rId10"/>
    <p:sldId id="339" r:id="rId11"/>
    <p:sldId id="343" r:id="rId12"/>
    <p:sldId id="344" r:id="rId13"/>
    <p:sldId id="340" r:id="rId14"/>
    <p:sldId id="341" r:id="rId15"/>
    <p:sldId id="342" r:id="rId16"/>
    <p:sldId id="348" r:id="rId17"/>
    <p:sldId id="349" r:id="rId18"/>
    <p:sldId id="350" r:id="rId19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00FF"/>
    <a:srgbClr val="FF6699"/>
    <a:srgbClr val="FFFF66"/>
    <a:srgbClr val="FFFFFF"/>
    <a:srgbClr val="FFFF99"/>
    <a:srgbClr val="00FFFF"/>
    <a:srgbClr val="FF66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237"/>
        <p:guide pos="295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6148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149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457200"/>
            <a:r>
              <a:rPr lang="zh-CN" altLang="en-US"/>
              <a:t>第二级</a:t>
            </a:r>
            <a:endParaRPr lang="zh-CN" altLang="en-US"/>
          </a:p>
          <a:p>
            <a:pPr lvl="2" indent="914400"/>
            <a:r>
              <a:rPr lang="zh-CN" altLang="en-US"/>
              <a:t>第三级</a:t>
            </a:r>
            <a:endParaRPr lang="zh-CN" altLang="en-US"/>
          </a:p>
          <a:p>
            <a:pPr lvl="3" indent="1371600"/>
            <a:r>
              <a:rPr lang="zh-CN" altLang="en-US"/>
              <a:t>第四级</a:t>
            </a:r>
            <a:endParaRPr lang="zh-CN" altLang="en-US"/>
          </a:p>
          <a:p>
            <a:pPr lvl="4" indent="1828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E5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7"/>
          <p:cNvPicPr>
            <a:picLocks noChangeAspect="1"/>
          </p:cNvPicPr>
          <p:nvPr/>
        </p:nvPicPr>
        <p:blipFill>
          <a:blip r:embed="rId2"/>
          <a:srcRect t="9244" b="10210"/>
          <a:stretch>
            <a:fillRect/>
          </a:stretch>
        </p:blipFill>
        <p:spPr>
          <a:xfrm>
            <a:off x="0" y="1092200"/>
            <a:ext cx="9144000" cy="50117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38400" y="2527300"/>
            <a:ext cx="5132700" cy="1108700"/>
          </a:xfrm>
        </p:spPr>
        <p:txBody>
          <a:bodyPr anchor="b">
            <a:normAutofit/>
          </a:bodyPr>
          <a:lstStyle>
            <a:lvl1pPr algn="ctr">
              <a:defRPr sz="2800">
                <a:solidFill>
                  <a:srgbClr val="853689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127600" y="3913200"/>
            <a:ext cx="5146200" cy="6207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7B1873A2-D93D-4A0E-B684-E905E95F0B0B}" type="datetimeFigureOut">
              <a:rPr lang="zh-CN" altLang="en-US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76988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endParaRPr lang="zh-CN" altLang="en-US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0EE969A2-5029-44B4-98D3-0CD658CAAE18}" type="slidenum">
              <a:rPr lang="zh-CN" altLang="en-US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628650" y="1121434"/>
            <a:ext cx="7886700" cy="5176800"/>
          </a:xfrm>
        </p:spPr>
        <p:txBody>
          <a:bodyPr>
            <a:normAutofit/>
          </a:bodyPr>
          <a:lstStyle>
            <a:lvl1pPr>
              <a:defRPr sz="2400" b="0">
                <a:solidFill>
                  <a:schemeClr val="tx1"/>
                </a:solidFill>
              </a:defRPr>
            </a:lvl1pPr>
            <a:lvl2pPr marL="0" indent="0">
              <a:buNone/>
              <a:defRPr sz="1500" b="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5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E5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H_Title"/>
          <p:cNvSpPr/>
          <p:nvPr/>
        </p:nvSpPr>
        <p:spPr>
          <a:xfrm>
            <a:off x="1925638" y="3024188"/>
            <a:ext cx="6188075" cy="800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0" rIns="0" bIns="0" rtlCol="0" anchor="ctr">
            <a:normAutofit/>
          </a:bodyPr>
          <a:lstStyle/>
          <a:p>
            <a:pPr fontAlgn="base"/>
            <a:endParaRPr lang="zh-CN" altLang="en-US" sz="3200" strike="noStrike" noProof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MH_Others_1"/>
          <p:cNvSpPr/>
          <p:nvPr/>
        </p:nvSpPr>
        <p:spPr>
          <a:xfrm>
            <a:off x="1030288" y="3078163"/>
            <a:ext cx="693738" cy="692150"/>
          </a:xfrm>
          <a:prstGeom prst="ellipse">
            <a:avLst/>
          </a:prstGeom>
          <a:noFill/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2400" strike="noStrike" noProof="1" dirty="0">
              <a:solidFill>
                <a:schemeClr val="accent1">
                  <a:lumMod val="50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16" name="MH_Others_2"/>
          <p:cNvSpPr/>
          <p:nvPr/>
        </p:nvSpPr>
        <p:spPr>
          <a:xfrm>
            <a:off x="1825625" y="3024188"/>
            <a:ext cx="100013" cy="8001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fontAlgn="base"/>
            <a:endParaRPr lang="zh-CN" altLang="en-US" sz="2400" strike="noStrike" noProof="1">
              <a:solidFill>
                <a:srgbClr val="1C97C2"/>
              </a:solidFill>
            </a:endParaRPr>
          </a:p>
        </p:txBody>
      </p:sp>
      <p:sp>
        <p:nvSpPr>
          <p:cNvPr id="10" name="MH_Number"/>
          <p:cNvSpPr/>
          <p:nvPr/>
        </p:nvSpPr>
        <p:spPr>
          <a:xfrm>
            <a:off x="1995488" y="3225800"/>
            <a:ext cx="371475" cy="531813"/>
          </a:xfrm>
          <a:prstGeom prst="rect">
            <a:avLst/>
          </a:prstGeom>
        </p:spPr>
        <p:txBody>
          <a:bodyPr wrap="square" lIns="0" tIns="0" rIns="0" bIns="0" anchor="ctr" anchorCtr="0">
            <a:normAutofit fontScale="92500" lnSpcReduction="10000"/>
          </a:bodyPr>
          <a:lstStyle/>
          <a:p>
            <a:pPr algn="ctr" fontAlgn="base"/>
            <a:endParaRPr lang="zh-CN" altLang="en-US" sz="4050" strike="noStrike" noProof="1" dirty="0">
              <a:solidFill>
                <a:schemeClr val="accent1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1926415" y="3024000"/>
            <a:ext cx="6187527" cy="800666"/>
          </a:xfrm>
        </p:spPr>
        <p:txBody>
          <a:bodyPr lIns="180000" tIns="0" rIns="0" bIns="0" anchor="ctr" anchorCtr="0">
            <a:normAutofit/>
          </a:bodyPr>
          <a:lstStyle>
            <a:lvl1pPr algn="l">
              <a:defRPr sz="2800" b="0">
                <a:solidFill>
                  <a:schemeClr val="accent1"/>
                </a:solidFill>
                <a:effectLst/>
              </a:defRPr>
            </a:lvl1pPr>
          </a:lstStyle>
          <a:p>
            <a:pPr fontAlgn="auto"/>
            <a:r>
              <a:rPr lang="zh-CN" altLang="en-US" strike="noStrike" noProof="1" dirty="0" smtClean="0"/>
              <a:t>此处添加您的标题</a:t>
            </a:r>
            <a:endParaRPr lang="en-US" strike="noStrike" noProof="1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2790103" y="4408317"/>
            <a:ext cx="4245697" cy="494755"/>
          </a:xfrm>
          <a:prstGeom prst="roundRect">
            <a:avLst>
              <a:gd name="adj" fmla="val 50000"/>
            </a:avLst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auto"/>
            <a:r>
              <a:rPr lang="zh-CN" altLang="en-US" strike="noStrike" noProof="1" dirty="0" smtClean="0"/>
              <a:t>单击此处添加您的副标题</a:t>
            </a:r>
            <a:endParaRPr lang="en-US" altLang="zh-CN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7B1873A2-D93D-4A0E-B684-E905E95F0B0B}" type="datetimeFigureOut">
              <a:rPr lang="zh-CN" altLang="en-US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76988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endParaRPr lang="zh-CN" altLang="en-US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0EE969A2-5029-44B4-98D3-0CD658CAAE18}" type="slidenum">
              <a:rPr lang="zh-CN" altLang="en-US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628650" y="1244602"/>
            <a:ext cx="3810000" cy="4932363"/>
          </a:xfrm>
        </p:spPr>
        <p:txBody>
          <a:bodyPr/>
          <a:lstStyle>
            <a:lvl1pPr>
              <a:defRPr sz="2400"/>
            </a:lvl1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5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4694763" y="1244602"/>
            <a:ext cx="3820587" cy="4932363"/>
          </a:xfrm>
        </p:spPr>
        <p:txBody>
          <a:bodyPr/>
          <a:lstStyle>
            <a:lvl1pPr>
              <a:defRPr sz="2400"/>
            </a:lvl1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5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  <a:lvl2pPr marL="685800" indent="-342900">
              <a:buClrTx/>
              <a:buFont typeface="Arial" panose="020B0604020202020204" pitchFamily="34" charset="0"/>
              <a:buChar char="•"/>
              <a:defRPr sz="2000"/>
            </a:lvl2pPr>
            <a:lvl3pPr marL="971550" indent="-285750">
              <a:buFont typeface="Arial" panose="020B0604020202020204" pitchFamily="34" charset="0"/>
              <a:buChar char="•"/>
              <a:defRPr/>
            </a:lvl3pPr>
            <a:lvl4pPr marL="1314450" indent="-285750">
              <a:buFont typeface="Arial" panose="020B0604020202020204" pitchFamily="34" charset="0"/>
              <a:buChar char="•"/>
              <a:defRPr/>
            </a:lvl4pPr>
            <a:lvl5pPr marL="1657350" indent="-285750">
              <a:buFont typeface="Arial" panose="020B0604020202020204" pitchFamily="34" charset="0"/>
              <a:buChar char="•"/>
              <a:defRPr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  <a:lvl2pPr marL="685800" indent="-342900">
              <a:buClrTx/>
              <a:buFont typeface="Arial" panose="020B0604020202020204" pitchFamily="34" charset="0"/>
              <a:buChar char="•"/>
              <a:defRPr sz="2000"/>
            </a:lvl2pPr>
            <a:lvl3pPr marL="971550" indent="-285750">
              <a:buFont typeface="Arial" panose="020B0604020202020204" pitchFamily="34" charset="0"/>
              <a:buChar char="•"/>
              <a:defRPr/>
            </a:lvl3pPr>
            <a:lvl4pPr marL="1314450" indent="-285750">
              <a:buFont typeface="Arial" panose="020B0604020202020204" pitchFamily="34" charset="0"/>
              <a:buChar char="•"/>
              <a:defRPr/>
            </a:lvl4pPr>
            <a:lvl5pPr marL="1657350" indent="-285750">
              <a:buFont typeface="Arial" panose="020B0604020202020204" pitchFamily="34" charset="0"/>
              <a:buChar char="•"/>
              <a:defRPr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2338000" y="2750400"/>
            <a:ext cx="4468000" cy="780200"/>
          </a:xfrm>
        </p:spPr>
        <p:txBody>
          <a:bodyPr lIns="0" tIns="0" rIns="0" bIns="72000">
            <a:noAutofit/>
          </a:bodyPr>
          <a:lstStyle>
            <a:lvl1pPr>
              <a:defRPr sz="28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E5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628650" y="954088"/>
            <a:ext cx="7886700" cy="0"/>
          </a:xfrm>
          <a:prstGeom prst="line">
            <a:avLst/>
          </a:prstGeom>
          <a:ln>
            <a:solidFill>
              <a:srgbClr val="311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28650" y="2278063"/>
            <a:ext cx="7886700" cy="0"/>
          </a:xfrm>
          <a:prstGeom prst="line">
            <a:avLst/>
          </a:prstGeom>
          <a:ln>
            <a:solidFill>
              <a:srgbClr val="311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630000" y="2432795"/>
            <a:ext cx="7885350" cy="3729971"/>
          </a:xfrm>
        </p:spPr>
        <p:txBody>
          <a:bodyPr anchor="ctr" anchorCtr="0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fontAlgn="auto"/>
            <a:r>
              <a:rPr lang="zh-CN" altLang="en-US" strike="noStrike" noProof="1" smtClean="0"/>
              <a:t>单击图标添加图片</a:t>
            </a:r>
            <a:endParaRPr 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628200" y="1040400"/>
            <a:ext cx="7887600" cy="11700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8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628650" y="166056"/>
            <a:ext cx="7886702" cy="719716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7B1873A2-D93D-4A0E-B684-E905E95F0B0B}" type="datetimeFigureOut">
              <a:rPr lang="zh-CN" altLang="en-US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76988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0EE969A2-5029-44B4-98D3-0CD658CAAE18}" type="slidenum">
              <a:rPr lang="zh-CN" altLang="en-US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7822" y="365124"/>
            <a:ext cx="886883" cy="5845175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26250" cy="5845175"/>
          </a:xfrm>
        </p:spPr>
        <p:txBody>
          <a:bodyPr vert="eaVert"/>
          <a:lstStyle>
            <a:lvl1pPr>
              <a:defRPr sz="2400"/>
            </a:lvl1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5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49" y="265113"/>
            <a:ext cx="7886701" cy="5995987"/>
          </a:xfrm>
        </p:spPr>
        <p:txBody>
          <a:bodyPr/>
          <a:lstStyle>
            <a:lvl1pPr>
              <a:defRPr sz="2400"/>
            </a:lvl1pPr>
            <a:lvl2pPr marL="257175" indent="-257175">
              <a:spcAft>
                <a:spcPts val="0"/>
              </a:spcAft>
              <a:buClrTx/>
              <a:buFont typeface="Arial" panose="020B0604020202020204" pitchFamily="34" charset="0"/>
              <a:buChar char="•"/>
              <a:defRPr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5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1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628650" y="1120775"/>
            <a:ext cx="7886700" cy="5178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5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628650" y="166688"/>
            <a:ext cx="7886700" cy="838200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76988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71780" indent="-271780" algn="just" defTabSz="51435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accent1"/>
        </a:buClr>
        <a:buSzPct val="80000"/>
        <a:buFont typeface="Webdings" panose="05030102010509060703" pitchFamily="18" charset="2"/>
        <a:buChar char="Ù"/>
        <a:defRPr lang="zh-CN" altLang="en-US" sz="24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just" defTabSz="51435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None/>
        <a:defRPr sz="1500" b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432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004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6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7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2056765" y="1932304"/>
            <a:ext cx="5132705" cy="1679575"/>
          </a:xfrm>
          <a:prstGeom prst="rect">
            <a:avLst/>
          </a:prstGeom>
          <a:effectLst>
            <a:glow rad="139700">
              <a:srgbClr val="00AEEF">
                <a:satMod val="175000"/>
                <a:alpha val="40000"/>
              </a:srgbClr>
            </a:glow>
          </a:effectLst>
        </p:spPr>
        <p:txBody>
          <a:bodyPr vert="horz" lIns="91440" tIns="45720" rIns="91440" bIns="45720" rtlCol="0" anchor="b">
            <a:normAutofit fontScale="80000"/>
          </a:bodyPr>
          <a:lstStyle>
            <a:lvl1pPr algn="ctr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baseline="0">
                <a:solidFill>
                  <a:srgbClr val="853689"/>
                </a:solidFill>
                <a:effectLst/>
                <a:latin typeface="Arial" panose="020B0604020202020204" pitchFamily="34" charset="0"/>
                <a:ea typeface="黑体" panose="02010600030101010101" charset="-122"/>
                <a:cs typeface="+mn-ea"/>
              </a:defRPr>
            </a:lvl1pPr>
          </a:lstStyle>
          <a:p>
            <a:pPr fontAlgn="base">
              <a:lnSpc>
                <a:spcPct val="110000"/>
              </a:lnSpc>
            </a:pPr>
            <a:r>
              <a:rPr lang="zh-CN" sz="7200" strike="noStrike" noProof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数学</a:t>
            </a:r>
            <a:br>
              <a:rPr lang="zh-CN" sz="4400" strike="noStrike" noProof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</a:br>
            <a:r>
              <a:rPr lang="zh-CN" sz="4400" strike="noStrike" noProof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复习题讲评</a:t>
            </a:r>
            <a:endParaRPr lang="zh-CN" sz="4400" strike="noStrike" noProof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170" name="副标题 2"/>
          <p:cNvSpPr>
            <a:spLocks noGrp="1"/>
          </p:cNvSpPr>
          <p:nvPr/>
        </p:nvSpPr>
        <p:spPr>
          <a:xfrm>
            <a:off x="1855788" y="4071938"/>
            <a:ext cx="5689600" cy="7524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/>
          <a:p>
            <a:pPr lvl="0" indent="0" algn="ctr">
              <a:lnSpc>
                <a:spcPct val="110000"/>
              </a:lnSpc>
              <a:spcBef>
                <a:spcPts val="900"/>
              </a:spcBef>
              <a:buClr>
                <a:srgbClr val="2CBEBB"/>
              </a:buClr>
              <a:buSzPct val="80000"/>
              <a:buFont typeface="Webdings" panose="05030102010509060703" pitchFamily="18" charset="2"/>
              <a:buNone/>
            </a:pPr>
            <a:r>
              <a:rPr lang="en-US" altLang="zh-CN" sz="24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NKOJ</a:t>
            </a:r>
            <a:r>
              <a:rPr lang="en-US" sz="24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3805 3798 2178 3804 3108</a:t>
            </a:r>
            <a:endParaRPr lang="en-US" b="1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01290" y="2508250"/>
            <a:ext cx="3740150" cy="12001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28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距离</a:t>
            </a:r>
            <a:r>
              <a:rPr lang="zh-CN" altLang="en-US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endParaRPr lang="zh-CN" altLang="en-US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NKOJ3805</a:t>
            </a:r>
            <a:endParaRPr lang="en-US" altLang="zh-CN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距离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NKOJ3805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4795" y="684530"/>
            <a:ext cx="8496300" cy="2072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</a:t>
            </a:r>
            <a:r>
              <a:rPr sz="20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对于两个正整数a、b，这样定义函数d(a,b)：每次操作可以选择一个质数p，将a变成a*p或a/p，如果选择变成a/p就要保证p是a的约数，d(a,b)表示将a变成b所需的最少操作次数。例如d(69,42)=3。</a:t>
            </a:r>
            <a:endParaRPr sz="2000" dirty="0" smtClean="0">
              <a:solidFill>
                <a:schemeClr val="bg1">
                  <a:lumMod val="50000"/>
                </a:schemeClr>
              </a:solidFill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sz="20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      现在给出n个正整数A1,A2,...,An，对于每个i (1&lt;=i&lt;=n)，求</a:t>
            </a:r>
            <a:r>
              <a:rPr sz="2000" b="1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最小的j</a:t>
            </a:r>
            <a:r>
              <a:rPr sz="20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 (1&lt;=j&lt;=n)使得i≠j</a:t>
            </a:r>
            <a:r>
              <a:rPr sz="2000" b="1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且d(Ai,Aj)最小</a:t>
            </a:r>
            <a:r>
              <a:rPr sz="20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。(2&lt;=n&lt;=100,000      Ai&lt;=1,000,000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)</a:t>
            </a:r>
            <a:endParaRPr lang="en-US" sz="2000" dirty="0" smtClean="0">
              <a:solidFill>
                <a:schemeClr val="bg1">
                  <a:lumMod val="50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4795" y="3044190"/>
            <a:ext cx="8810625" cy="19126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观察：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d(69,42) 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cs typeface="Arial" panose="020B0604020202020204" pitchFamily="34" charset="0"/>
              </a:rPr>
              <a:t>→ 69/</a:t>
            </a:r>
            <a:r>
              <a:rPr lang="en-US" altLang="zh-CN" dirty="0" smtClean="0">
                <a:solidFill>
                  <a:srgbClr val="0070C0"/>
                </a:solidFill>
                <a:latin typeface="微软雅黑 Light" panose="020B0502040204020203" charset="-122"/>
                <a:ea typeface="微软雅黑 Light" panose="020B0502040204020203" charset="-122"/>
                <a:cs typeface="Arial" panose="020B0604020202020204" pitchFamily="34" charset="0"/>
              </a:rPr>
              <a:t>23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cs typeface="Arial" panose="020B0604020202020204" pitchFamily="34" charset="0"/>
              </a:rPr>
              <a:t>=</a:t>
            </a:r>
            <a:r>
              <a:rPr lang="en-US" altLang="zh-CN" dirty="0" smtClean="0">
                <a:solidFill>
                  <a:srgbClr val="FF0066"/>
                </a:solidFill>
                <a:latin typeface="微软雅黑 Light" panose="020B0502040204020203" charset="-122"/>
                <a:ea typeface="微软雅黑 Light" panose="020B0502040204020203" charset="-122"/>
                <a:cs typeface="Arial" panose="020B0604020202020204" pitchFamily="34" charset="0"/>
              </a:rPr>
              <a:t>3  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cs typeface="Arial" panose="020B0604020202020204" pitchFamily="34" charset="0"/>
                <a:sym typeface="+mn-ea"/>
              </a:rPr>
              <a:t>→  3*</a:t>
            </a:r>
            <a:r>
              <a:rPr lang="en-US" altLang="zh-CN" dirty="0" smtClean="0">
                <a:solidFill>
                  <a:srgbClr val="0070C0"/>
                </a:solidFill>
                <a:latin typeface="微软雅黑 Light" panose="020B0502040204020203" charset="-122"/>
                <a:ea typeface="微软雅黑 Light" panose="020B0502040204020203" charset="-122"/>
                <a:cs typeface="Arial" panose="020B0604020202020204" pitchFamily="34" charset="0"/>
                <a:sym typeface="+mn-ea"/>
              </a:rPr>
              <a:t>2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cs typeface="Arial" panose="020B0604020202020204" pitchFamily="34" charset="0"/>
                <a:sym typeface="+mn-ea"/>
              </a:rPr>
              <a:t>=6  →  6*</a:t>
            </a:r>
            <a:r>
              <a:rPr lang="en-US" altLang="zh-CN" dirty="0" smtClean="0">
                <a:solidFill>
                  <a:srgbClr val="0070C0"/>
                </a:solidFill>
                <a:latin typeface="微软雅黑 Light" panose="020B0502040204020203" charset="-122"/>
                <a:ea typeface="微软雅黑 Light" panose="020B0502040204020203" charset="-122"/>
                <a:cs typeface="Arial" panose="020B0604020202020204" pitchFamily="34" charset="0"/>
                <a:sym typeface="+mn-ea"/>
              </a:rPr>
              <a:t>7</a:t>
            </a:r>
            <a:r>
              <a:rPr lang="en-US" altLang="zh-CN" sz="2000" dirty="0" smtClean="0">
                <a:latin typeface="微软雅黑 Light" panose="020B0502040204020203" charset="-122"/>
                <a:ea typeface="微软雅黑 Light" panose="020B0502040204020203" charset="-122"/>
                <a:cs typeface="Arial" panose="020B0604020202020204" pitchFamily="34" charset="0"/>
                <a:sym typeface="+mn-ea"/>
              </a:rPr>
              <a:t>=42</a:t>
            </a:r>
            <a:endParaRPr lang="en-US" altLang="zh-CN" sz="2000" dirty="0" smtClean="0">
              <a:latin typeface="微软雅黑 Light" panose="020B0502040204020203" charset="-122"/>
              <a:ea typeface="微软雅黑 Light" panose="020B0502040204020203" charset="-122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d(a,b) 就是让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先转换成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和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b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的</a:t>
            </a: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最大公约数，然后转换成b</a:t>
            </a:r>
            <a:endParaRPr lang="zh-CN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设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Cnt[x]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表示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包含的质因数的个数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Cnt[8]=3,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表示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8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中包含有三个质因数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和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显然我们有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: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d(a,b)=Cnt[a]+Cnt[b]-2*Cnt[</a:t>
            </a:r>
            <a:r>
              <a:rPr lang="en-US" alt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gcd(a,b)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cnt[]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数组我们用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线性筛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能很快预处理出来。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距离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NKOJ3805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4965" y="757555"/>
            <a:ext cx="8434705" cy="57912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dirty="0" smtClean="0">
                <a:solidFill>
                  <a:srgbClr val="0070C0"/>
                </a:solidFill>
                <a:latin typeface="微软雅黑 Light" panose="020B0502040204020203" charset="-122"/>
                <a:ea typeface="微软雅黑 Light" panose="020B0502040204020203" charset="-122"/>
              </a:rPr>
              <a:t>//</a:t>
            </a:r>
            <a:r>
              <a:rPr lang="en-US" altLang="zh-CN" dirty="0" smtClean="0">
                <a:solidFill>
                  <a:srgbClr val="0070C0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Cnt[x]</a:t>
            </a:r>
            <a:r>
              <a:rPr lang="zh-CN" altLang="en-US" dirty="0" smtClean="0">
                <a:solidFill>
                  <a:srgbClr val="0070C0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表示</a:t>
            </a:r>
            <a:r>
              <a:rPr lang="en-US" altLang="zh-CN" dirty="0" smtClean="0">
                <a:solidFill>
                  <a:srgbClr val="0070C0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x</a:t>
            </a:r>
            <a:r>
              <a:rPr lang="zh-CN" altLang="en-US" dirty="0" smtClean="0">
                <a:solidFill>
                  <a:srgbClr val="0070C0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包含的质因数的个数</a:t>
            </a:r>
            <a:endParaRPr lang="zh-CN" altLang="en-US" dirty="0" smtClean="0">
              <a:solidFill>
                <a:srgbClr val="0070C0"/>
              </a:solidFill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dirty="0" smtClean="0">
                <a:solidFill>
                  <a:srgbClr val="0070C0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//</a:t>
            </a:r>
            <a:r>
              <a:rPr lang="zh-CN" altLang="en-US" dirty="0" smtClean="0">
                <a:solidFill>
                  <a:srgbClr val="0070C0"/>
                </a:solidFill>
                <a:latin typeface="微软雅黑 Light" panose="020B0502040204020203" charset="-122"/>
                <a:ea typeface="微软雅黑 Light" panose="020B0502040204020203" charset="-122"/>
              </a:rPr>
              <a:t>线性筛求</a:t>
            </a:r>
            <a:r>
              <a:rPr lang="en-US" altLang="zh-CN" dirty="0" smtClean="0">
                <a:solidFill>
                  <a:srgbClr val="0070C0"/>
                </a:solidFill>
                <a:latin typeface="微软雅黑 Light" panose="020B0502040204020203" charset="-122"/>
                <a:ea typeface="微软雅黑 Light" panose="020B0502040204020203" charset="-122"/>
              </a:rPr>
              <a:t>Cnt[]</a:t>
            </a:r>
            <a:endParaRPr lang="en-US" altLang="zh-CN" dirty="0" smtClean="0">
              <a:solidFill>
                <a:srgbClr val="0070C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for(i=1;i&lt;=n;i++)</a:t>
            </a:r>
            <a:endParaRPr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endParaRPr 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        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scanf("%d",&amp;a[i])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        if(a[i]&gt;Max)Max=a[i];</a:t>
            </a:r>
            <a:endParaRPr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 for(i=2; i&lt;=Max; i++)</a:t>
            </a:r>
            <a:endParaRPr 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 {</a:t>
            </a:r>
            <a:endParaRPr 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        if(Cnt[i]==0){ Prime[++tot]=i; Cnt[i]=1;  }</a:t>
            </a:r>
            <a:endParaRPr 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        for(j=1; j&lt;=tot&amp;&amp;i*Prime[j]&lt;=Max; j++)</a:t>
            </a:r>
            <a:endParaRPr 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        {</a:t>
            </a:r>
            <a:endParaRPr 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Cnt[i*Prime[j]]=Cnt[i]+1;</a:t>
            </a:r>
            <a:endParaRPr 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if(i%Prime[j]==0)break;</a:t>
            </a:r>
            <a:endParaRPr 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        }</a:t>
            </a:r>
            <a:endParaRPr 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  }</a:t>
            </a:r>
            <a:r>
              <a:rPr lang="en-US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</a:rPr>
              <a:t>//O(n</a:t>
            </a:r>
            <a:r>
              <a:rPr lang="zh-CN" altLang="en-US" dirty="0" smtClean="0">
                <a:solidFill>
                  <a:schemeClr val="accent4"/>
                </a:solidFill>
                <a:ea typeface="微软雅黑" panose="020B0503020204020204" pitchFamily="34" charset="-122"/>
                <a:sym typeface="+mn-ea"/>
              </a:rPr>
              <a:t>√</a:t>
            </a:r>
            <a:r>
              <a:rPr lang="en-US" altLang="zh-CN" dirty="0" smtClean="0">
                <a:solidFill>
                  <a:schemeClr val="accent4"/>
                </a:solidFill>
                <a:ea typeface="微软雅黑" panose="020B0503020204020204" pitchFamily="34" charset="-122"/>
                <a:sym typeface="+mn-ea"/>
              </a:rPr>
              <a:t>n</a:t>
            </a:r>
            <a:r>
              <a:rPr lang="en-US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endParaRPr lang="en-US" dirty="0" smtClean="0">
              <a:solidFill>
                <a:schemeClr val="accent4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距离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NKOJ3805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4795" y="783590"/>
            <a:ext cx="8627745" cy="4476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d(Ai,Aj)=Cnt[Ai]+Cnt[Aj]-2*Cnt[</a:t>
            </a:r>
            <a:r>
              <a:rPr lang="en-US" alt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gcd(Ai,Aj)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4160" y="1441450"/>
            <a:ext cx="8628380" cy="128016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sz="2000" dirty="0" smtClean="0">
                <a:latin typeface="微软雅黑 Light" panose="020B0502040204020203" charset="-122"/>
                <a:ea typeface="微软雅黑 Light" panose="020B0502040204020203" charset="-122"/>
              </a:rPr>
              <a:t>对于第</a:t>
            </a:r>
            <a:r>
              <a:rPr lang="en-US" altLang="zh-CN" sz="20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sz="2000" dirty="0" smtClean="0">
                <a:latin typeface="微软雅黑 Light" panose="020B0502040204020203" charset="-122"/>
                <a:ea typeface="微软雅黑 Light" panose="020B0502040204020203" charset="-122"/>
              </a:rPr>
              <a:t>个数</a:t>
            </a:r>
            <a:r>
              <a:rPr lang="en-US" altLang="zh-CN" sz="2000" dirty="0" smtClean="0">
                <a:latin typeface="微软雅黑 Light" panose="020B0502040204020203" charset="-122"/>
                <a:ea typeface="微软雅黑 Light" panose="020B0502040204020203" charset="-122"/>
              </a:rPr>
              <a:t>Ai, </a:t>
            </a:r>
            <a:r>
              <a:rPr lang="zh-CN" altLang="en-US" sz="2000" dirty="0" smtClean="0">
                <a:latin typeface="微软雅黑 Light" panose="020B0502040204020203" charset="-122"/>
                <a:ea typeface="微软雅黑 Light" panose="020B0502040204020203" charset="-122"/>
              </a:rPr>
              <a:t>因为</a:t>
            </a:r>
            <a:r>
              <a:rPr lang="en-US" altLang="zh-CN" sz="2000" dirty="0" smtClean="0">
                <a:latin typeface="微软雅黑 Light" panose="020B0502040204020203" charset="-122"/>
                <a:ea typeface="微软雅黑 Light" panose="020B0502040204020203" charset="-122"/>
              </a:rPr>
              <a:t>cnt[Ai]</a:t>
            </a:r>
            <a:r>
              <a:rPr lang="zh-CN" altLang="en-US" sz="2000" dirty="0" smtClean="0">
                <a:latin typeface="微软雅黑 Light" panose="020B0502040204020203" charset="-122"/>
                <a:ea typeface="微软雅黑 Light" panose="020B0502040204020203" charset="-122"/>
              </a:rPr>
              <a:t>的值是固定的，我们要求一个最小的</a:t>
            </a:r>
            <a:r>
              <a:rPr lang="en-US" altLang="zh-CN" sz="2000" dirty="0" smtClean="0">
                <a:latin typeface="微软雅黑 Light" panose="020B0502040204020203" charset="-122"/>
                <a:ea typeface="微软雅黑 Light" panose="020B0502040204020203" charset="-122"/>
              </a:rPr>
              <a:t>d(Ai,Aj)</a:t>
            </a:r>
            <a:endParaRPr lang="en-US" altLang="zh-CN" sz="20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 smtClean="0">
                <a:latin typeface="微软雅黑 Light" panose="020B0502040204020203" charset="-122"/>
                <a:ea typeface="微软雅黑 Light" panose="020B0502040204020203" charset="-122"/>
              </a:rPr>
              <a:t>我们需要</a:t>
            </a:r>
            <a:r>
              <a:rPr lang="en-US" altLang="zh-CN" sz="2000" dirty="0" smtClean="0">
                <a:latin typeface="微软雅黑 Light" panose="020B0502040204020203" charset="-122"/>
                <a:ea typeface="微软雅黑 Light" panose="020B0502040204020203" charset="-122"/>
              </a:rPr>
              <a:t>cnt[Aj]-2*cnt[gcd(Ai,Aj)]</a:t>
            </a:r>
            <a:r>
              <a:rPr lang="zh-CN" altLang="en-US" sz="2000" dirty="0" smtClean="0">
                <a:latin typeface="微软雅黑 Light" panose="020B0502040204020203" charset="-122"/>
                <a:ea typeface="微软雅黑 Light" panose="020B0502040204020203" charset="-122"/>
              </a:rPr>
              <a:t>尽可能小。</a:t>
            </a:r>
            <a:endParaRPr lang="zh-CN" altLang="en-US" sz="20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枚举所有的gcd(</a:t>
            </a:r>
            <a:r>
              <a:rPr lang="en-US" altLang="zh-CN" sz="20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A</a:t>
            </a:r>
            <a:r>
              <a:rPr lang="zh-CN" altLang="en-US" sz="20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i,</a:t>
            </a:r>
            <a:r>
              <a:rPr lang="en-US" altLang="zh-CN" sz="20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A</a:t>
            </a:r>
            <a:r>
              <a:rPr lang="zh-CN" altLang="en-US" sz="20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j)</a:t>
            </a:r>
            <a:r>
              <a:rPr lang="en-US" altLang="zh-CN" sz="20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,</a:t>
            </a:r>
            <a:r>
              <a:rPr lang="zh-CN" altLang="en-US" sz="20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显然超时</a:t>
            </a:r>
            <a:r>
              <a:rPr lang="en-US" altLang="zh-CN" sz="20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,</a:t>
            </a:r>
            <a:r>
              <a:rPr lang="zh-CN" altLang="en-US" sz="20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怎么优化？</a:t>
            </a:r>
            <a:endParaRPr lang="zh-CN" altLang="en-US" sz="2000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4795" y="2981960"/>
            <a:ext cx="8627745" cy="246634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设</a:t>
            </a:r>
            <a:r>
              <a:rPr lang="en-US" altLang="zh-CN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x=</a:t>
            </a: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gcd(</a:t>
            </a:r>
            <a:r>
              <a:rPr lang="en-US" altLang="zh-CN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A</a:t>
            </a: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i,</a:t>
            </a:r>
            <a:r>
              <a:rPr lang="en-US" altLang="zh-CN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A</a:t>
            </a: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j)</a:t>
            </a:r>
            <a:r>
              <a:rPr lang="en-US" altLang="zh-CN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,</a:t>
            </a: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显然</a:t>
            </a:r>
            <a:r>
              <a:rPr lang="en-US" altLang="zh-CN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Aj</a:t>
            </a: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是</a:t>
            </a:r>
            <a:r>
              <a:rPr lang="en-US" altLang="zh-CN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x</a:t>
            </a: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的倍数，同时</a:t>
            </a:r>
            <a:r>
              <a:rPr lang="en-US" altLang="zh-CN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x</a:t>
            </a: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也是</a:t>
            </a:r>
            <a:r>
              <a:rPr lang="en-US" altLang="zh-CN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Ai</a:t>
            </a: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的因数。因此，对于</a:t>
            </a:r>
            <a:r>
              <a:rPr lang="en-US" altLang="zh-CN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Ai</a:t>
            </a: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的每个因数</a:t>
            </a:r>
            <a:r>
              <a:rPr lang="en-US" altLang="zh-CN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x</a:t>
            </a: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，如果我们能够预处理出它的倍数中，</a:t>
            </a:r>
            <a:r>
              <a:rPr lang="en-US" altLang="zh-CN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Cnt[]</a:t>
            </a: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值最小的那一个，就能大大提高效率。</a:t>
            </a:r>
            <a:endParaRPr lang="zh-CN" altLang="en-US" sz="2400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设</a:t>
            </a:r>
            <a:r>
              <a:rPr lang="en-US" altLang="zh-CN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f1[x]表示A</a:t>
            </a: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数列中</a:t>
            </a:r>
            <a:r>
              <a:rPr lang="en-US" altLang="zh-CN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,</a:t>
            </a: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所有为</a:t>
            </a:r>
            <a:r>
              <a:rPr lang="en-US" altLang="zh-CN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x的倍数的</a:t>
            </a: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数中，</a:t>
            </a:r>
            <a:r>
              <a:rPr lang="en-US" altLang="zh-CN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Cnt[]</a:t>
            </a: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值最小且编号较小那个数的编号。</a:t>
            </a:r>
            <a:endParaRPr lang="zh-CN" altLang="en-US" sz="2400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2" grpId="0" bldLvl="0" animBg="1"/>
      <p:bldP spid="5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距离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NKOJ3805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4965" y="677545"/>
            <a:ext cx="8434705" cy="61118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1600" dirty="0" smtClean="0">
                <a:solidFill>
                  <a:srgbClr val="0070C0"/>
                </a:solidFill>
                <a:latin typeface="微软雅黑 Light" panose="020B0502040204020203" charset="-122"/>
                <a:ea typeface="微软雅黑 Light" panose="020B0502040204020203" charset="-122"/>
              </a:rPr>
              <a:t>//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设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f1[x]表示A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数列中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,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所有为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x的倍数的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数中，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Cnt[]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值最小那个数的编号。</a:t>
            </a:r>
            <a:endParaRPr lang="zh-CN" altLang="en-US" sz="1600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 smtClean="0">
                <a:solidFill>
                  <a:srgbClr val="0070C0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//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设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f2[x]表示A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数列中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,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所有为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x的倍数的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数中，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Cnt[]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值次小那个数的编号。因为要求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i!=j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for(i=1;i&lt;=n;i++)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{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ans=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inf; 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Num=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inf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for(j=1;j*j&lt;=a[i];j++) 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//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枚举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</a:rPr>
              <a:t>a[i]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的因子</a:t>
            </a:r>
            <a:endParaRPr lang="zh-CN" altLang="en-US"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if(a[i]%j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==0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{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=j;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if(f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]!=i)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k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=f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];  else 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k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=f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];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t=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Cnt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[a[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k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]]-2*</a:t>
            </a:r>
            <a:r>
              <a:rPr lang="en-US" sz="1600" dirty="0" smtClean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Cnt</a:t>
            </a:r>
            <a:r>
              <a:rPr sz="1600" dirty="0" smtClean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lang="en-US" sz="1600" dirty="0" smtClean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sz="1600" dirty="0" smtClean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]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if(t&lt;ans||(t==ans&amp;&amp;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k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&lt;Num))ans=t,Num=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k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=a[i]/j;            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if(f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]!=i)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k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=f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]; else x=f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];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t=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Cnt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[a[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k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]]-2</a:t>
            </a:r>
            <a:r>
              <a:rPr sz="1600" dirty="0" smtClean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*</a:t>
            </a:r>
            <a:r>
              <a:rPr lang="en-US" sz="1600" dirty="0" smtClean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Cnt</a:t>
            </a:r>
            <a:r>
              <a:rPr sz="1600" dirty="0" smtClean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lang="en-US" sz="1600" dirty="0" smtClean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sz="1600" dirty="0" smtClean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]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if(t&lt;ans||(t==ans&amp;&amp;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k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&lt;Num))ans=t,Num=x;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}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printf("%d\n",Num);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}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距离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NKOJ3805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4965" y="677545"/>
            <a:ext cx="8587740" cy="44062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dirty="0" smtClean="0">
                <a:solidFill>
                  <a:srgbClr val="0070C0"/>
                </a:solidFill>
                <a:latin typeface="微软雅黑 Light" panose="020B0502040204020203" charset="-122"/>
                <a:ea typeface="微软雅黑 Light" panose="020B0502040204020203" charset="-122"/>
              </a:rPr>
              <a:t>//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设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f1[x]表示A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数列中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,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所有为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x的倍数的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数中，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Cnt[]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值最小那个数的编号。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dirty="0" smtClean="0">
                <a:solidFill>
                  <a:srgbClr val="0070C0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//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设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f2[x]表示A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数列中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,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所有为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x的倍数的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数中，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Cnt[]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值次小那个数的编号。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sz="2000" dirty="0" smtClean="0">
                <a:latin typeface="微软雅黑 Light" panose="020B0502040204020203" charset="-122"/>
                <a:ea typeface="微软雅黑 Light" panose="020B0502040204020203" charset="-122"/>
              </a:rPr>
              <a:t>//</a:t>
            </a:r>
            <a:r>
              <a:rPr lang="zh-CN" altLang="en-US" sz="2000" dirty="0" smtClean="0">
                <a:latin typeface="微软雅黑 Light" panose="020B0502040204020203" charset="-122"/>
                <a:ea typeface="微软雅黑 Light" panose="020B0502040204020203" charset="-122"/>
              </a:rPr>
              <a:t>求</a:t>
            </a:r>
            <a:r>
              <a:rPr lang="en-US" altLang="zh-CN" sz="2000" dirty="0" smtClean="0">
                <a:latin typeface="微软雅黑 Light" panose="020B0502040204020203" charset="-122"/>
                <a:ea typeface="微软雅黑 Light" panose="020B0502040204020203" charset="-122"/>
              </a:rPr>
              <a:t>f1[],f2[]</a:t>
            </a:r>
            <a:r>
              <a:rPr lang="zh-CN" altLang="en-US" sz="2000" dirty="0" smtClean="0">
                <a:latin typeface="微软雅黑 Light" panose="020B0502040204020203" charset="-122"/>
                <a:ea typeface="微软雅黑 Light" panose="020B0502040204020203" charset="-122"/>
              </a:rPr>
              <a:t>数组</a:t>
            </a:r>
            <a:r>
              <a:rPr sz="2000" dirty="0" smtClean="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endParaRPr sz="20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 for(i=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n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;i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&gt;=1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;i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--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endParaRPr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  {</a:t>
            </a:r>
            <a:endParaRPr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       for(j=1;j*j&lt;=a[i];j++)</a:t>
            </a:r>
            <a:endParaRPr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       if(a[i]%j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==0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endParaRPr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       {</a:t>
            </a:r>
            <a:endParaRPr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Change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(i,j);</a:t>
            </a:r>
            <a:endParaRPr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if(j*j!=a[i]) 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Change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(i,a[i]/j);</a:t>
            </a:r>
            <a:endParaRPr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       }</a:t>
            </a:r>
            <a:endParaRPr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  }</a:t>
            </a:r>
            <a:endParaRPr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15690" y="4508500"/>
            <a:ext cx="5245735" cy="2228850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void 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Change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(int 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,int 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    if(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Cnt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[a[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]]&lt;=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Cnt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[a[f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]])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{  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f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]=f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],f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]=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;  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    else if(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Cnt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[a[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]]&lt;=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Cnt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[a[f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]])f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]=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72990" y="1884680"/>
            <a:ext cx="3510915" cy="4876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本题得解，时间复杂的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O(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n√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n)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01290" y="2508250"/>
            <a:ext cx="3740150" cy="12001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28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有趣的数列</a:t>
            </a:r>
            <a:r>
              <a:rPr lang="zh-CN" altLang="en-US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endParaRPr lang="zh-CN" altLang="en-US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NKOJ3798</a:t>
            </a:r>
            <a:endParaRPr lang="en-US" altLang="zh-CN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有趣的数列 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NKOJ3798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4795" y="684530"/>
            <a:ext cx="8496300" cy="25850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我们称一个长度为2n的数列是有趣的，当且仅当该数列满足以下三个条件：</a:t>
            </a:r>
            <a:endParaRPr sz="1600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(1)它是从1到2n共2n个整数的一个排列{Ai}；</a:t>
            </a:r>
            <a:endParaRPr sz="1600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(2)所有的奇数项满足A</a:t>
            </a:r>
            <a:r>
              <a:rPr baseline="-25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</a:t>
            </a:r>
            <a:r>
              <a:rPr baseline="-25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&lt;…&lt;A</a:t>
            </a:r>
            <a:r>
              <a:rPr baseline="-25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2n-1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，所有的偶数项满足A</a:t>
            </a:r>
            <a:r>
              <a:rPr baseline="-25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</a:t>
            </a:r>
            <a:r>
              <a:rPr baseline="-25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&lt;…&lt;A</a:t>
            </a:r>
            <a:r>
              <a:rPr baseline="-25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2n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sz="1600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(3)任意相邻的两项A</a:t>
            </a:r>
            <a:r>
              <a:rPr baseline="-25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2i-1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与A</a:t>
            </a:r>
            <a:r>
              <a:rPr baseline="-25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2i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(1≤i≤n)满足奇数项小于偶数项，即：A</a:t>
            </a:r>
            <a:r>
              <a:rPr baseline="-25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2i-1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</a:t>
            </a:r>
            <a:r>
              <a:rPr baseline="-25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2i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600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现在的任务是：对于给定的n，请求出有多少个不同的长度为2n的有趣的数列。因为最后的答案可能很大，所以只要求输出答案 mod P的值。</a:t>
            </a:r>
            <a:endParaRPr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n≤1000000且P≤1000000000。</a:t>
            </a:r>
            <a:endParaRPr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4795" y="3642995"/>
            <a:ext cx="8810625" cy="8039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我们把奇数看成进栈，偶数看成出栈，发现偶数的进栈次数不能多于奇数的次数。</a:t>
            </a:r>
            <a:endParaRPr lang="zh-CN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于是这就是一个典型的卡特兰数。</a:t>
            </a:r>
            <a:endParaRPr lang="zh-CN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4795" y="4670425"/>
            <a:ext cx="8810625" cy="48768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根据卡特兰数的公式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ans=C</a:t>
            </a:r>
            <a:r>
              <a:rPr lang="en-US" altLang="zh-CN" sz="20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2n</a:t>
            </a:r>
            <a:r>
              <a:rPr lang="en-US" altLang="zh-CN" sz="20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/(n+1) mod p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4795" y="5296535"/>
            <a:ext cx="8810625" cy="48768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求组合数取模，线性筛分解质因数。</a:t>
            </a: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2" grpId="0" bldLvl="0" animBg="1"/>
      <p:bldP spid="6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01290" y="2508250"/>
            <a:ext cx="3740150" cy="12001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28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容易题</a:t>
            </a:r>
            <a:r>
              <a:rPr lang="zh-CN" altLang="en-US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endParaRPr lang="zh-CN" altLang="en-US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NKOJ2178</a:t>
            </a:r>
            <a:endParaRPr lang="en-US" altLang="zh-CN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容易题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NKOJ2178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4795" y="677545"/>
            <a:ext cx="8472170" cy="1280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</a:t>
            </a:r>
            <a:r>
              <a:rPr sz="20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有一个数列A已知对于所有的A[i]都是1~n的自然数，并且知道对于一些A[i]不能取哪些值，我们定义一个数列的积为该数列所有元素的乘积，要求你求出所有可能的数列的积的和 mod 1000000007的值</a:t>
            </a:r>
            <a:r>
              <a:rPr lang="zh-CN" sz="20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endParaRPr lang="zh-CN" sz="20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4795" y="2137410"/>
            <a:ext cx="8810625" cy="4476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讨论一种简单情况：设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n=3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A[1]=1,2   A[2]=1,2,3    A[3]=2,3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4795" y="2764790"/>
            <a:ext cx="8810625" cy="258508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ANS=A[1].1*A[2].1*A[3].2+A[1].1*A[2].1*A[3].3+</a:t>
            </a:r>
            <a:endParaRPr 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         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A[1].1*A[2].2*A[3].2+A[1].1*A[2].2*A[3].3+</a:t>
            </a:r>
            <a:br>
              <a:rPr 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</a:b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       A[1].1*A[2].3*A[3].2+A[1].1*A[2].3*A[3].3+</a:t>
            </a:r>
            <a:br>
              <a:rPr 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</a:b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       A[1].2*A[2].1*A[3].2+A[1].2*A[2].1*A[3].3+</a:t>
            </a:r>
            <a:br>
              <a:rPr 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</a:b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       A[1].2*A[2].2*A[3].2+A[1].2*A[2].2*A[3].3+</a:t>
            </a:r>
            <a:br>
              <a:rPr 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</a:b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       A[1].2*A[2].3*A[3].2+A[1].2*A[2].3*A[3].3</a:t>
            </a:r>
            <a:endParaRPr lang="en-US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   =(A[1].1+A[1].2)*(A[2].1+A[2].2+A[2].3)*(A[3].2+A[3].3)</a:t>
            </a:r>
            <a:endParaRPr lang="en-US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4795" y="5549265"/>
            <a:ext cx="8810625" cy="116014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于是推出结论：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ANS=∑A[1]*∑A[2]*...*∑A[n]</a:t>
            </a:r>
            <a:endParaRPr lang="en-US" altLang="zh-CN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         ∑A[i]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表示所有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A[i]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能取得数字总和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7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01290" y="2508250"/>
            <a:ext cx="3740150" cy="12001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28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机器人 M 号</a:t>
            </a:r>
            <a:r>
              <a:rPr lang="zh-CN" altLang="en-US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endParaRPr lang="zh-CN" altLang="en-US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NKOJ3804</a:t>
            </a:r>
            <a:endParaRPr lang="en-US" altLang="zh-CN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机器人 M 号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NKOJ3804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4795" y="677545"/>
            <a:ext cx="8658860" cy="16757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给出一个整数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</a:t>
            </a:r>
            <a:r>
              <a:rPr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endParaRPr sz="16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对于</a:t>
            </a:r>
            <a:r>
              <a:rPr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m的所有约数</a:t>
            </a:r>
            <a:r>
              <a:rPr lang="zh-CN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，计算：</a:t>
            </a:r>
            <a:endParaRPr lang="zh-CN" sz="16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问题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1.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若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可由</a:t>
            </a:r>
            <a:r>
              <a:rPr lang="zh-CN" altLang="en-US" sz="1600" b="1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奇数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个不同奇素数的积表示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,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称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为军人。求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Sum(Phi[x]),x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的约数；</a:t>
            </a:r>
            <a:endParaRPr lang="zh-CN" altLang="en-US" sz="16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问题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2.</a:t>
            </a:r>
            <a:r>
              <a:rPr lang="zh-CN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若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y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+mn-ea"/>
              </a:rPr>
              <a:t>可由</a:t>
            </a:r>
            <a:r>
              <a:rPr lang="zh-CN" altLang="en-US" sz="1600" b="1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+mn-ea"/>
              </a:rPr>
              <a:t>偶数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+mn-ea"/>
              </a:rPr>
              <a:t>个不同奇素数的积表示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+mn-ea"/>
              </a:rPr>
              <a:t>,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+mn-ea"/>
              </a:rPr>
              <a:t>称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+mn-ea"/>
              </a:rPr>
              <a:t>为政客。求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+mn-ea"/>
              </a:rPr>
              <a:t>Sum(Phi[y]),y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+mn-ea"/>
              </a:rPr>
              <a:t>为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+mn-ea"/>
              </a:rPr>
              <a:t>的约数；</a:t>
            </a:r>
            <a:endParaRPr lang="zh-CN" altLang="en-US" sz="1600" dirty="0" smtClean="0">
              <a:solidFill>
                <a:schemeClr val="bg1">
                  <a:lumMod val="50000"/>
                </a:schemeClr>
              </a:solidFill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问题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3.</a:t>
            </a:r>
            <a:r>
              <a:rPr lang="zh-CN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若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z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既不是军人也不是政客，称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z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为学者。求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Sum(Phi[z]),z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的约数；</a:t>
            </a:r>
            <a:endParaRPr lang="zh-CN" altLang="en-US" sz="16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4795" y="2546985"/>
            <a:ext cx="8810625" cy="8039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问题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：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f[i][0]表示前i个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质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因数（不含2）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构成的所有军人的欧拉函数之和。</a:t>
            </a:r>
            <a:b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问题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2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：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f[i][1]表示前i个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质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因数（不含2）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构成的所有政客的欧拉函数之和。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4795" y="3502660"/>
            <a:ext cx="8810625" cy="31400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f[i][0]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=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f[i-1][0]+(Phi(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政客</a:t>
            </a:r>
            <a:r>
              <a:rPr lang="en-US" altLang="zh-CN" baseline="-250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1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*A[i])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+Phi(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政客</a:t>
            </a:r>
            <a:r>
              <a:rPr lang="en-US" altLang="zh-CN" baseline="-250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2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*A[i])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+...+Phi(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政客</a:t>
            </a:r>
            <a:r>
              <a:rPr lang="en-US" altLang="zh-CN" baseline="-250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k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*A[i])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)</a:t>
            </a:r>
            <a:endParaRPr lang="en-US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sz="1600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//</a:t>
            </a:r>
            <a:r>
              <a:rPr lang="zh-CN" altLang="en-US" sz="1600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政客</a:t>
            </a:r>
            <a:r>
              <a:rPr lang="en-US" altLang="zh-CN" sz="1600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1</a:t>
            </a:r>
            <a:r>
              <a:rPr lang="zh-CN" altLang="en-US" sz="1600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到</a:t>
            </a:r>
            <a:r>
              <a:rPr lang="en-US" altLang="zh-CN" sz="1600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k</a:t>
            </a:r>
            <a:r>
              <a:rPr lang="zh-CN" altLang="en-US" sz="1600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表示目前为止得到的所有政客，其中每个政客都等于偶数个质数之乘积</a:t>
            </a:r>
            <a:endParaRPr lang="zh-CN" altLang="en-US" sz="1600" dirty="0" smtClean="0">
              <a:solidFill>
                <a:schemeClr val="accent4"/>
              </a:solidFill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sz="1600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</a:rPr>
              <a:t>//</a:t>
            </a:r>
            <a:r>
              <a:rPr lang="zh-CN" altLang="en-US" sz="1600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</a:rPr>
              <a:t>由于</a:t>
            </a:r>
            <a:r>
              <a:rPr lang="zh-CN" altLang="en-US" sz="1600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政客是偶数个质数之积，再乘一个质数即变为军人</a:t>
            </a:r>
            <a:endParaRPr lang="zh-CN" altLang="en-US" sz="1600" dirty="0" smtClean="0">
              <a:solidFill>
                <a:schemeClr val="accent4"/>
              </a:solidFill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sz="1600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</a:rPr>
              <a:t>//</a:t>
            </a:r>
            <a:r>
              <a:rPr lang="zh-CN" altLang="en-US" sz="1600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</a:rPr>
              <a:t>又因为欧拉函数式积性的函数，所以有：</a:t>
            </a:r>
            <a:endParaRPr lang="zh-CN" altLang="en-US" sz="1600" dirty="0" smtClean="0">
              <a:solidFill>
                <a:schemeClr val="accent4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sz="1600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</a:rPr>
              <a:t>//(Phi(政客1*A[i])+Phi(政客2*A[i])+...+Phi(政客k*A[i]))=Sum(Phi(</a:t>
            </a:r>
            <a:r>
              <a:rPr lang="zh-CN" altLang="en-US" sz="1600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</a:rPr>
              <a:t>政客</a:t>
            </a:r>
            <a:r>
              <a:rPr lang="en-US" sz="1600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</a:rPr>
              <a:t>))*(Phi(A[i]))</a:t>
            </a:r>
            <a:br>
              <a:rPr lang="en-US" sz="1600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en-US" sz="1600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</a:t>
            </a:r>
            <a:r>
              <a:rPr lang="en-US" sz="1600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=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f[i-1][0]+Sum(Phi(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政客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)*Phi(A[i])    </a:t>
            </a:r>
            <a:r>
              <a:rPr lang="en-US" sz="1400" dirty="0" smtClean="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endParaRPr lang="zh-CN" altLang="en-US" sz="1400" dirty="0" smtClean="0">
              <a:solidFill>
                <a:schemeClr val="accent4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        =f[i-1][0]+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Sum(Phi[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政客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])*(A[i]-1)   </a:t>
            </a:r>
            <a:r>
              <a:rPr lang="en-US" sz="1600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//A[i]</a:t>
            </a:r>
            <a:r>
              <a:rPr lang="zh-CN" altLang="en-US" sz="1600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是质数，</a:t>
            </a:r>
            <a:r>
              <a:rPr lang="en-US" altLang="zh-CN" sz="1600" dirty="0" smtClean="0">
                <a:solidFill>
                  <a:schemeClr val="accent4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Phi[A[i]]=A[i]-1</a:t>
            </a:r>
            <a:endParaRPr lang="en-US" altLang="zh-CN" sz="1600" dirty="0" smtClean="0">
              <a:solidFill>
                <a:schemeClr val="accent4"/>
              </a:solidFill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      =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f[i-1][0]+f[i-1][1]*(A[i]-1)</a:t>
            </a:r>
            <a:endParaRPr lang="en-US" altLang="zh-CN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同理：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f[i][1]=f[i-1][1]+f[i-1][0]*(A[i]-1)</a:t>
            </a:r>
            <a:endParaRPr lang="zh-CN" altLang="en-US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6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机器人 M 号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NKOJ3804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3040" y="779145"/>
            <a:ext cx="8810625" cy="8039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问题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：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f[i][0]表示前i个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质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因数（不含2）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构成的所有军人的欧拉函数之和。</a:t>
            </a:r>
            <a:b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问题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2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：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f[i][1]表示前i个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质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因数（不含2）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构成的所有政客的欧拉函数之和。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0" y="2244725"/>
            <a:ext cx="3185795" cy="15513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93040" y="1673860"/>
            <a:ext cx="5963920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dirty="0" smtClean="0">
                <a:latin typeface="微软雅黑 Light" panose="020B0502040204020203" charset="-122"/>
                <a:ea typeface="微软雅黑 Light" panose="020B0502040204020203" charset="-122"/>
              </a:rPr>
              <a:t>欧拉函数的性质（</a:t>
            </a:r>
            <a:r>
              <a:rPr lang="en-US" altLang="zh-CN" sz="2000" dirty="0" smtClean="0">
                <a:latin typeface="微软雅黑 Light" panose="020B0502040204020203" charset="-122"/>
                <a:ea typeface="微软雅黑 Light" panose="020B0502040204020203" charset="-122"/>
              </a:rPr>
              <a:t>d|n</a:t>
            </a:r>
            <a:r>
              <a:rPr lang="zh-CN" altLang="en-US" sz="2000" dirty="0" smtClean="0">
                <a:latin typeface="微软雅黑 Light" panose="020B0502040204020203" charset="-122"/>
                <a:ea typeface="微软雅黑 Light" panose="020B0502040204020203" charset="-122"/>
              </a:rPr>
              <a:t>表示</a:t>
            </a:r>
            <a:r>
              <a:rPr lang="en-US" altLang="zh-CN" sz="2000" dirty="0" smtClean="0">
                <a:latin typeface="微软雅黑 Light" panose="020B0502040204020203" charset="-122"/>
                <a:ea typeface="微软雅黑 Light" panose="020B0502040204020203" charset="-122"/>
              </a:rPr>
              <a:t>d</a:t>
            </a:r>
            <a:r>
              <a:rPr lang="zh-CN" altLang="en-US" sz="2000" dirty="0" smtClean="0">
                <a:latin typeface="微软雅黑 Light" panose="020B0502040204020203" charset="-122"/>
                <a:ea typeface="微软雅黑 Light" panose="020B0502040204020203" charset="-122"/>
              </a:rPr>
              <a:t>是</a:t>
            </a:r>
            <a:r>
              <a:rPr lang="en-US" altLang="zh-CN" sz="2000" dirty="0" smtClean="0">
                <a:latin typeface="微软雅黑 Light" panose="020B0502040204020203" charset="-122"/>
                <a:ea typeface="微软雅黑 Light" panose="020B0502040204020203" charset="-122"/>
              </a:rPr>
              <a:t>n</a:t>
            </a:r>
            <a:r>
              <a:rPr lang="zh-CN" altLang="en-US" sz="2000" dirty="0" smtClean="0">
                <a:latin typeface="微软雅黑 Light" panose="020B0502040204020203" charset="-122"/>
                <a:ea typeface="微软雅黑 Light" panose="020B0502040204020203" charset="-122"/>
              </a:rPr>
              <a:t>的约数）：</a:t>
            </a:r>
            <a:endParaRPr lang="zh-CN" altLang="en-US" sz="2000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3040" y="4131310"/>
            <a:ext cx="4503420" cy="1516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sz="2400" dirty="0" smtClean="0">
                <a:latin typeface="微软雅黑 Light" panose="020B0502040204020203" charset="-122"/>
                <a:ea typeface="微软雅黑 Light" panose="020B0502040204020203" charset="-122"/>
              </a:rPr>
              <a:t>于是问题</a:t>
            </a:r>
            <a:r>
              <a:rPr lang="en-US" altLang="zh-CN" sz="2400" dirty="0" smtClean="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</a:rPr>
              <a:t>就简单了：</a:t>
            </a:r>
            <a:endParaRPr lang="zh-CN" altLang="en-US" sz="24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2400" dirty="0" smtClean="0">
                <a:latin typeface="微软雅黑 Light" panose="020B0502040204020203" charset="-122"/>
                <a:ea typeface="微软雅黑 Light" panose="020B0502040204020203" charset="-122"/>
              </a:rPr>
              <a:t>m-f[tot][0]-f[tot][1]</a:t>
            </a: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</a:rPr>
              <a:t>即可</a:t>
            </a:r>
            <a:endParaRPr lang="zh-CN" altLang="en-US" sz="24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2400" dirty="0" smtClean="0">
                <a:latin typeface="微软雅黑 Light" panose="020B0502040204020203" charset="-122"/>
                <a:ea typeface="微软雅黑 Light" panose="020B0502040204020203" charset="-122"/>
              </a:rPr>
              <a:t>tot</a:t>
            </a: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</a:rPr>
              <a:t>为</a:t>
            </a:r>
            <a:r>
              <a:rPr lang="en-US" altLang="zh-CN" sz="2400" dirty="0" smtClean="0">
                <a:latin typeface="微软雅黑 Light" panose="020B0502040204020203" charset="-122"/>
                <a:ea typeface="微软雅黑 Light" panose="020B0502040204020203" charset="-122"/>
              </a:rPr>
              <a:t>m</a:t>
            </a:r>
            <a:r>
              <a:rPr lang="zh-CN" altLang="en-US" sz="2400" dirty="0" smtClean="0">
                <a:latin typeface="微软雅黑 Light" panose="020B0502040204020203" charset="-122"/>
                <a:ea typeface="微软雅黑 Light" panose="020B0502040204020203" charset="-122"/>
              </a:rPr>
              <a:t>质因数总个数</a:t>
            </a:r>
            <a:endParaRPr lang="zh-CN" altLang="en-US" sz="2400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01290" y="2508250"/>
            <a:ext cx="3740150" cy="12001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28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解方程</a:t>
            </a:r>
            <a:r>
              <a:rPr lang="zh-CN" altLang="en-US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endParaRPr lang="zh-CN" altLang="en-US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NKOJ3108</a:t>
            </a:r>
            <a:endParaRPr lang="en-US" altLang="zh-CN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解方程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NKOJ3108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5921" r="10635"/>
          <a:stretch>
            <a:fillRect/>
          </a:stretch>
        </p:blipFill>
        <p:spPr>
          <a:xfrm>
            <a:off x="554990" y="727075"/>
            <a:ext cx="7993380" cy="15176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r="9685"/>
          <a:stretch>
            <a:fillRect/>
          </a:stretch>
        </p:blipFill>
        <p:spPr>
          <a:xfrm>
            <a:off x="554990" y="2389505"/>
            <a:ext cx="7993380" cy="17843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文本框 7"/>
          <p:cNvSpPr txBox="1"/>
          <p:nvPr/>
        </p:nvSpPr>
        <p:spPr>
          <a:xfrm>
            <a:off x="554990" y="4286250"/>
            <a:ext cx="6313170" cy="4476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方法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：暴力枚举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[1,m]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中每个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  期望得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30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分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4990" y="4980305"/>
            <a:ext cx="6313170" cy="116014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方法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：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秦九韶算法 </a:t>
            </a: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将原方程转换为如下形式 </a:t>
            </a:r>
            <a:endParaRPr lang="en-US" altLang="zh-CN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 (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...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(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baseline="-25000" dirty="0" smtClean="0">
                <a:latin typeface="微软雅黑 Light" panose="020B0502040204020203" charset="-122"/>
                <a:ea typeface="微软雅黑 Light" panose="020B0502040204020203" charset="-122"/>
              </a:rPr>
              <a:t>n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) 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*x+A</a:t>
            </a:r>
            <a:r>
              <a:rPr baseline="-25000" dirty="0" smtClean="0">
                <a:latin typeface="微软雅黑 Light" panose="020B0502040204020203" charset="-122"/>
                <a:ea typeface="微软雅黑 Light" panose="020B0502040204020203" charset="-122"/>
              </a:rPr>
              <a:t>n-1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）*x+A</a:t>
            </a:r>
            <a:r>
              <a:rPr baseline="-25000" dirty="0" smtClean="0">
                <a:latin typeface="微软雅黑 Light" panose="020B0502040204020203" charset="-122"/>
                <a:ea typeface="微软雅黑 Light" panose="020B0502040204020203" charset="-122"/>
              </a:rPr>
              <a:t>n-2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) *x+A</a:t>
            </a:r>
            <a:r>
              <a:rPr baseline="-25000" dirty="0" smtClean="0">
                <a:latin typeface="微软雅黑 Light" panose="020B0502040204020203" charset="-122"/>
                <a:ea typeface="微软雅黑 Light" panose="020B0502040204020203" charset="-122"/>
              </a:rPr>
              <a:t>n-3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) *x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+.....</a:t>
            </a: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*x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+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baseline="-25000" dirty="0" smtClean="0"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r>
              <a:rPr 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=0</a:t>
            </a:r>
            <a:endParaRPr 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将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[1,m]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中每个数一一带入讨论，期望得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50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分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解方程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NKOJ3108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5921" t="38848" r="10635"/>
          <a:stretch>
            <a:fillRect/>
          </a:stretch>
        </p:blipFill>
        <p:spPr>
          <a:xfrm>
            <a:off x="351155" y="765810"/>
            <a:ext cx="5396865" cy="6267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文本框 7"/>
          <p:cNvSpPr txBox="1"/>
          <p:nvPr/>
        </p:nvSpPr>
        <p:spPr>
          <a:xfrm>
            <a:off x="112395" y="1607820"/>
            <a:ext cx="9041765" cy="472249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进一步分析：</a:t>
            </a:r>
            <a:endParaRPr lang="zh-CN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0 mod 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任何数 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=0  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那我们将方程左右两边同时模一个数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x'</a:t>
            </a:r>
            <a:endParaRPr lang="en-US" altLang="zh-CN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左边 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mod x' =  0 mod x'  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显然  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x' 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必须是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en-US" altLang="zh-CN" baseline="-25000" dirty="0" smtClean="0"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的约数才行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我们枚举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[1,m]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内所有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en-US" altLang="zh-CN" baseline="-25000" dirty="0" smtClean="0"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的约数，再用</a:t>
            </a:r>
            <a:r>
              <a:rPr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秦九韶算法</a:t>
            </a: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去讨论。</a:t>
            </a:r>
            <a:endParaRPr lang="zh-CN" dirty="0" smtClean="0"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但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A</a:t>
            </a:r>
            <a:r>
              <a:rPr lang="en-US" altLang="zh-CN" baseline="-25000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0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可能非常大，约数非常多，</a:t>
            </a: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这样可能还是会超时。</a:t>
            </a:r>
            <a:endParaRPr lang="zh-CN" dirty="0" smtClean="0"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我们考虑把系数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A</a:t>
            </a:r>
            <a:r>
              <a:rPr lang="en-US" altLang="zh-CN" baseline="-25000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i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变小！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根据多项式的性质：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f(x) mod p=f(x mod p) mod p=f(x+p)mod p</a:t>
            </a:r>
            <a:endParaRPr lang="en-US" altLang="zh-CN" dirty="0" smtClean="0"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即若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x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是解，那么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x+p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也是解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这里我们就不必要去枚举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[1,m]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，只需讨论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[1,p-1]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里面的解，若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1&lt;=k&lt;=p-1,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且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f(k)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！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=0 </a:t>
            </a:r>
            <a:endParaRPr lang="en-US" altLang="zh-CN" dirty="0" smtClean="0"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k+p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也不是解，那么我们可用类似筛法将关于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k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的解筛掉。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p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选质数比较好，这样不容易出现相同的公倍数。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取几个质数验证一下，如果这几个数都没有将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x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筛掉，那么我们认为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x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是方程的解。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  <a:cs typeface="+mn-cs"/>
                <a:sym typeface="+mn-ea"/>
              </a:rPr>
              <a:t>  </a:t>
            </a:r>
            <a:endParaRPr lang="en-US" altLang="zh-CN" dirty="0" smtClean="0">
              <a:latin typeface="微软雅黑 Light" panose="020B0502040204020203" charset="-122"/>
              <a:ea typeface="微软雅黑 Light" panose="020B0502040204020203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tags/tag1.xml><?xml version="1.0" encoding="utf-8"?>
<p:tagLst xmlns:p="http://schemas.openxmlformats.org/presentationml/2006/main">
  <p:tag name="KSO_WM_TEMPLATE_THUMBS_INDEX" val="1、4、5、9、12、15、20、25、26、27"/>
  <p:tag name="KSO_WM_TEMPLATE_CATEGORY" val="custom"/>
  <p:tag name="KSO_WM_TEMPLATE_INDEX" val="247"/>
  <p:tag name="KSO_WM_TAG_VERSION" val="1.0"/>
  <p:tag name="KSO_WM_SLIDE_ID" val="custom247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自定义 630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2CBEBB"/>
      </a:accent1>
      <a:accent2>
        <a:srgbClr val="00AEEF"/>
      </a:accent2>
      <a:accent3>
        <a:srgbClr val="00989D"/>
      </a:accent3>
      <a:accent4>
        <a:srgbClr val="5277C2"/>
      </a:accent4>
      <a:accent5>
        <a:srgbClr val="853689"/>
      </a:accent5>
      <a:accent6>
        <a:srgbClr val="E33F61"/>
      </a:accent6>
      <a:hlink>
        <a:srgbClr val="00B0F0"/>
      </a:hlink>
      <a:folHlink>
        <a:srgbClr val="7F7F7F"/>
      </a:folHlink>
    </a:clrScheme>
    <a:fontScheme name="自定义 10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4423</Words>
  <Application>WPS 演示</Application>
  <PresentationFormat/>
  <Paragraphs>189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Webdings</vt:lpstr>
      <vt:lpstr>幼圆</vt:lpstr>
      <vt:lpstr>Times New Roman</vt:lpstr>
      <vt:lpstr>黑体</vt:lpstr>
      <vt:lpstr>微软雅黑 Light</vt:lpstr>
      <vt:lpstr>Calibri</vt:lpstr>
      <vt:lpstr>1_A000120140530A99PPBG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何浪</dc:creator>
  <cp:lastModifiedBy>Administrator</cp:lastModifiedBy>
  <cp:revision>878</cp:revision>
  <dcterms:created xsi:type="dcterms:W3CDTF">2016-06-22T03:39:00Z</dcterms:created>
  <dcterms:modified xsi:type="dcterms:W3CDTF">2016-10-18T10:01:22Z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2052-10.1.0.5973</vt:lpwstr>
  </property>
</Properties>
</file>