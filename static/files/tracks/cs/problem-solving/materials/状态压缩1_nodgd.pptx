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2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69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状态压缩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CN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——By nodgd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165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思考这样的问题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6916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个物品，每个物品有一定的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价值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，你要用你的背包带走一些，使得总价值尽可能大。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每个物品有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重量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，背包要求总重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量不能超过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𝑊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每个物品有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重量、体积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，背包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要求总重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量不能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超过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𝑊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总体积不能超过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𝑉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每个物品有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重量、体积、内能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，背包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要求总重量不能超过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𝑊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，总体积不能超过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𝑉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，总内能不能超过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𝑈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每个物品有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重量、体积、内能、弹性限度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。你的背包总重量、体积、内能、劲度系数强分别不能超过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𝑊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𝑉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𝑈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𝑙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……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每个物品有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重量、体积、内能、弹性限度、电阻、电容、</a:t>
                </a:r>
                <a:r>
                  <a:rPr lang="zh-CN" altLang="en-US" sz="2000" dirty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电荷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量、电感、转动惯量、声压、发光强度</a:t>
                </a:r>
                <a:r>
                  <a:rPr lang="en-US" altLang="zh-CN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……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共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/>
                        <a:ea typeface="黑体" panose="02010609060101010101" pitchFamily="49" charset="-122"/>
                      </a:rPr>
                      <m:t>𝐾</m:t>
                    </m:r>
                  </m:oMath>
                </a14:m>
                <a:r>
                  <a:rPr lang="zh-CN" altLang="en-US" sz="2000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个属性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，你的背包要求总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各种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分别不能超过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𝑊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𝑉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𝑈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𝑙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𝑅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𝐶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𝑄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𝐿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𝐽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𝑝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𝐼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……</m:t>
                    </m:r>
                  </m:oMath>
                </a14:m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膜膜膜！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69160"/>
              </a:xfrm>
              <a:blipFill rotWithShape="1">
                <a:blip r:embed="rId2"/>
                <a:stretch>
                  <a:fillRect l="-593" t="-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88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思考这样的问题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000" b="0" dirty="0" smtClean="0">
                    <a:ea typeface="黑体" panose="02010609060101010101" pitchFamily="49" charset="-122"/>
                  </a:rPr>
                  <a:t>假设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𝐾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个属性上限分别是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，那么可以用一个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𝐾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维动态规划来解决。枚举物品，第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𝑖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个物品属性为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𝑖𝐾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，价值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，那么状态转移：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/>
                </a:r>
                <a:b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</a:b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𝐾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/>
                            <a:ea typeface="黑体" panose="02010609060101010101" pitchFamily="49" charset="-122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"/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2000" b="0" i="1" smtClean="0">
                                    <a:latin typeface="Cambria Math"/>
                                    <a:ea typeface="黑体" panose="02010609060101010101" pitchFamily="49" charset="-122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000" b="0" i="1" smtClean="0">
                                    <a:latin typeface="Cambria Math"/>
                                    <a:ea typeface="黑体" panose="02010609060101010101" pitchFamily="49" charset="-122"/>
                                  </a:rPr>
                                  <m:t>𝑓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2000" b="0" i="1" smtClean="0">
                                    <a:latin typeface="Cambria Math"/>
                                    <a:ea typeface="黑体" panose="02010609060101010101" pitchFamily="49" charset="-122"/>
                                  </a:rPr>
                                  <m:t>…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sz="2000" b="0" i="1" smtClean="0">
                                    <a:latin typeface="Cambria Math"/>
                                    <a:ea typeface="黑体" panose="02010609060101010101" pitchFamily="49" charset="-122"/>
                                  </a:rPr>
                                  <m:t>𝑓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2000" b="0" i="1" smtClean="0">
                                    <a:latin typeface="Cambria Math"/>
                                    <a:ea typeface="黑体" panose="02010609060101010101" pitchFamily="49" charset="-122"/>
                                  </a:rPr>
                                  <m:t>…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/>
                                            <a:ea typeface="黑体" panose="02010609060101010101" pitchFamily="49" charset="-122"/>
                                          </a:rPr>
                                          <m:t>𝑖𝐾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2000" b="0" i="1" smtClean="0">
                                    <a:latin typeface="Cambria Math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/>
                                        <a:ea typeface="黑体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e>
                    </m:func>
                  </m:oMath>
                </a14:m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时间复杂度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，空间复杂度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那么问题来了！如果题目没有给定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𝐾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的具体数值，程序应该怎么写呢？也就是说，你的数组开多少维？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可以把不足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𝐾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个属性强行补全变成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𝐾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个属性，新属性的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𝑀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/>
                        <a:ea typeface="黑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，这样就只需要开一个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𝐾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维数组。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那么问题又来了！如果给出范围：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…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𝐾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≤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，但每个维度没有具体范围，怎么办？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膜膜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膜！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  <a:blipFill rotWithShape="1">
                <a:blip r:embed="rId2"/>
                <a:stretch>
                  <a:fillRect l="-578" t="-842" b="-2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37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还有其他问题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000" b="0" dirty="0" smtClean="0">
                    <a:latin typeface="Cambria Math"/>
                    <a:ea typeface="黑体" panose="02010609060101010101" pitchFamily="49" charset="-122"/>
                  </a:rPr>
                  <a:t>前面的问题可以归结为，如何把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b="0" dirty="0" smtClean="0">
                    <a:latin typeface="Cambria Math"/>
                    <a:ea typeface="黑体" panose="02010609060101010101" pitchFamily="49" charset="-122"/>
                  </a:rPr>
                  <a:t>个数的复杂状态用很简练的方式表达出来，而且还要方便进行动态规划。</a:t>
                </a:r>
                <a:endParaRPr lang="en-US" altLang="zh-CN" sz="2000" b="0" dirty="0" smtClean="0">
                  <a:latin typeface="Cambria Math"/>
                  <a:ea typeface="黑体" panose="02010609060101010101" pitchFamily="49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个物品当中已经用掉了一部分，怎么记录使用情况，既简练又方便？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个数的一个排列，怎样记录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才能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简练方便？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这些全都要用状态压缩！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膜膜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膜！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那么问题又来了，状态压缩是啥？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  <a:blipFill rotWithShape="1">
                <a:blip r:embed="rId2"/>
                <a:stretch>
                  <a:fillRect l="-578" t="-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10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二进制状态压缩 概述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二进制状态压缩，是最常用、最实用、最好写的状态压缩方式。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个物品，每个物品有用过或者没被用过两种情况，那么可以用一个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位二进制数来表达这堆物品的使用情况。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相比另一种表达方法，开一个大小为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的数组，用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位二进制数的有点很多。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比如它可以用来当数组下标，这在写程序的时候就能让多维状态变成一维状态。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比如它可以很容易的复制出新版本并随意修改不影响原来的版本，当程序在进行深搜之类的递归操作时这会非常有用。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比如这样写出来的程序，实际运行效率会高于数组写法，因为位运算比数组寻址用到的乘法加法快很多。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比如这样写更加节省内存。一个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bool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类型是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个二进制位，那么开一个大小为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bool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数组其实占用了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倍的内存！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……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  <a:blipFill rotWithShape="1">
                <a:blip r:embed="rId2"/>
                <a:stretch>
                  <a:fillRect l="-578" t="-602" r="-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762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二进制状态压缩 题目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来看一道水题：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个节点的无向图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是偶数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𝑛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条边把节点两两配对，使得选边的总权值最小。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算法一，大力深搜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+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剪枝！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时间复杂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‼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，空间复杂度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，可以通过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≤18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算法二，状态压缩动态规划！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一个状态可以定义为，已经使用的过的点的集合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。每次找出两个不在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中的节点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𝑢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𝑣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，进行状态转移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：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/>
                </a:r>
                <a:b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</a:b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  <m:r>
                          <a:rPr lang="zh-CN" altLang="en-US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𝑢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zh-CN" altLang="en-US" sz="2000" b="0" i="1" smtClean="0">
                        <a:latin typeface="Cambria Math"/>
                        <a:ea typeface="黑体" panose="02010609060101010101" pitchFamily="49" charset="-122"/>
                      </a:rPr>
                      <m:t>←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𝑣</m:t>
                        </m:r>
                      </m:sub>
                    </m:sSub>
                  </m:oMath>
                </a14:m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可以令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𝑢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是某个特定节点，例如不在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集合当中的编号最小的节点，枚举剩下的所有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𝑣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时间复杂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𝑛</m:t>
                        </m:r>
                      </m:sup>
                    </m:sSup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，空间复杂度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，可以通过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≤22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的数据。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算法三，带花树，时间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，空间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，可以通过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≤100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的数据。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  <a:blipFill rotWithShape="1">
                <a:blip r:embed="rId2"/>
                <a:stretch>
                  <a:fillRect l="-578" t="-6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37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二进制状态压缩 题目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节点编号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0~N-1</a:t>
            </a:r>
            <a:r>
              <a:rPr lang="zh-CN" altLang="en-US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，边权存在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w[][]</a:t>
            </a:r>
            <a:r>
              <a:rPr lang="zh-CN" altLang="en-US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数组里</a:t>
            </a:r>
            <a:endParaRPr lang="en-US" altLang="zh-CN" sz="1400" dirty="0" smtClean="0"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for(S=0;S&lt;1&lt;&lt;N;S++)</a:t>
            </a:r>
            <a:endParaRPr lang="en-US" altLang="zh-CN" sz="1400" dirty="0"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f[S]=</a:t>
            </a:r>
            <a:r>
              <a:rPr lang="en-US" altLang="zh-CN" sz="1400" dirty="0" err="1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inf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;               //</a:t>
            </a:r>
            <a:r>
              <a:rPr lang="zh-CN" altLang="en-US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赋初值</a:t>
            </a:r>
            <a:endParaRPr lang="en-US" altLang="zh-CN" sz="1400" dirty="0" smtClean="0"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f[0]=0;</a:t>
            </a:r>
          </a:p>
          <a:p>
            <a:pPr marL="0" indent="0">
              <a:buNone/>
            </a:pP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for(S=0;S&lt;(1&lt;&lt;N)-1;S++)</a:t>
            </a:r>
          </a:p>
          <a:p>
            <a:pPr marL="0" indent="0">
              <a:buNone/>
            </a:pP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1400" dirty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if(f[S]==</a:t>
            </a:r>
            <a:r>
              <a:rPr lang="en-US" altLang="zh-CN" sz="1400" dirty="0" err="1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inf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1400" dirty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continue;           //</a:t>
            </a:r>
            <a:r>
              <a:rPr lang="zh-CN" altLang="en-US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这种情况只会在集合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</a:t>
            </a:r>
            <a:r>
              <a:rPr lang="zh-CN" altLang="en-US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包含奇数个节点的时候出现</a:t>
            </a:r>
            <a:endParaRPr lang="en-US" altLang="zh-CN" sz="1400" dirty="0" smtClean="0"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for(u=0;S&gt;&gt;u&amp;1;u++);    //</a:t>
            </a:r>
            <a:r>
              <a:rPr lang="zh-CN" altLang="en-US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找编号最小的没用过的点</a:t>
            </a:r>
            <a:endParaRPr lang="en-US" altLang="zh-CN" sz="1400" dirty="0" smtClean="0"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for(v=u+1;v&lt;</a:t>
            </a:r>
            <a:r>
              <a:rPr lang="en-US" altLang="zh-CN" sz="1400" dirty="0" err="1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N;v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++)      //</a:t>
            </a:r>
            <a:r>
              <a:rPr lang="zh-CN" altLang="en-US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枚举与它配对的点</a:t>
            </a:r>
            <a:endParaRPr lang="en-US" altLang="zh-CN" sz="1400" dirty="0" smtClean="0"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400" dirty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{</a:t>
            </a:r>
          </a:p>
          <a:p>
            <a:pPr marL="0" indent="0">
              <a:buNone/>
            </a:pPr>
            <a:r>
              <a:rPr lang="en-US" altLang="zh-CN" sz="1400" dirty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if(S&gt;&gt;v&amp;1)</a:t>
            </a:r>
          </a:p>
          <a:p>
            <a:pPr marL="0" indent="0">
              <a:buNone/>
            </a:pPr>
            <a:r>
              <a:rPr lang="en-US" altLang="zh-CN" sz="1400" dirty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   continue;</a:t>
            </a:r>
          </a:p>
          <a:p>
            <a:pPr marL="0" indent="0">
              <a:buNone/>
            </a:pPr>
            <a:r>
              <a:rPr lang="en-US" altLang="zh-CN" sz="1400" dirty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if(f[S|1&lt;&lt;u|1&lt;&lt;v]&gt;f[S]+w[u][v])</a:t>
            </a:r>
          </a:p>
          <a:p>
            <a:pPr marL="0" indent="0">
              <a:buNone/>
            </a:pPr>
            <a:r>
              <a:rPr lang="en-US" altLang="zh-CN" sz="1400" dirty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       f[S|1&lt;&lt;u|1&lt;&lt;v]=f[S]+w[u][v];</a:t>
            </a:r>
          </a:p>
          <a:p>
            <a:pPr marL="0" indent="0">
              <a:buNone/>
            </a:pP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//</a:t>
            </a:r>
            <a:r>
              <a:rPr lang="zh-CN" altLang="en-US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答案是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f[(1&lt;&lt;N)-1]</a:t>
            </a:r>
          </a:p>
          <a:p>
            <a:pPr marL="0" indent="0">
              <a:buNone/>
            </a:pP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/* </a:t>
            </a:r>
            <a:r>
              <a:rPr lang="zh-CN" altLang="en-US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这代码如果有问题，我一概不负责！ </a:t>
            </a:r>
            <a:r>
              <a:rPr lang="en-US" altLang="zh-CN" sz="1400" dirty="0" smtClean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113899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二进制状态压缩 题目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再来看一道简单题：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ea typeface="黑体" panose="02010609060101010101" pitchFamily="49" charset="-122"/>
                  </a:rPr>
                  <a:t>包含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个节点的一个简单有向图，找出最短的哈密顿回路！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算法一，大力深搜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+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剪枝！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时间复杂度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  <m:t>!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，空间复杂度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，大概可以解决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≤10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的数据。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算法二，状态压缩动态规划！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哈密顿回路要经过每个点，转化为找一条从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号点出发，把经过每个点恰好一次，最后再回到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号点的路，这样会方便一些。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设计状态，需要已经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走过的节点的集合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，走过这个集合的点最后停下的节点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𝑢</m:t>
                    </m:r>
                    <m:d>
                      <m:dPr>
                        <m:ctrlP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lang="zh-CN" altLang="en-US" sz="2000" i="1">
                            <a:latin typeface="Cambria Math"/>
                            <a:ea typeface="黑体" panose="02010609060101010101" pitchFamily="49" charset="-122"/>
                          </a:rPr>
                          <m:t>∈</m:t>
                        </m:r>
                        <m: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是一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位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二进制数，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已经走过的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点对应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的二进制位是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，没走过的点是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枚举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𝑣</m:t>
                    </m:r>
                    <m:r>
                      <a:rPr lang="zh-CN" altLang="en-US" sz="2000" b="0" i="1" smtClean="0">
                        <a:latin typeface="Cambria Math"/>
                        <a:ea typeface="黑体" panose="02010609060101010101" pitchFamily="49" charset="-122"/>
                      </a:rPr>
                      <m:t>∉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进行状态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转移：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/>
                </a:r>
                <a:b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</a:b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  <m:r>
                          <a:rPr lang="zh-CN" altLang="en-US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∪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{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𝑣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}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𝑣</m:t>
                        </m:r>
                      </m:e>
                    </m:d>
                    <m:r>
                      <a:rPr lang="zh-CN" altLang="en-US" sz="2000" b="0" i="1" smtClean="0">
                        <a:latin typeface="Cambria Math"/>
                        <a:ea typeface="黑体" panose="02010609060101010101" pitchFamily="49" charset="-122"/>
                      </a:rPr>
                      <m:t>←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𝑢</m:t>
                        </m:r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𝑣</m:t>
                        </m:r>
                      </m:sub>
                    </m:sSub>
                  </m:oMath>
                </a14:m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时间复杂度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，空间复杂度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，可以解决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≤18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的数据！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  <a:blipFill rotWithShape="1">
                <a:blip r:embed="rId2"/>
                <a:stretch>
                  <a:fillRect l="-578" t="-6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59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二进制状态压缩 题目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继续看水题：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个物品，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个容器，每个容器只能装某一个特定的子集，不能多也不能少。每个容器有相应的费用，现在希望把全部物品都装进容器，且使用容器的总费用最少。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可能非常非常大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一，大力搜索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+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剪枝！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复杂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度不太好算，膜膜膜！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算法二，状态压缩动态规划！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状态仍然是已经装进容器的集合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，但是转移需要枚举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的子集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𝑇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：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/>
                </a:r>
                <a:b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</a:b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</m:e>
                    </m:d>
                    <m:r>
                      <a:rPr lang="zh-CN" altLang="en-US" sz="2000" b="0" i="1" smtClean="0">
                        <a:latin typeface="Cambria Math"/>
                        <a:ea typeface="黑体" panose="02010609060101010101" pitchFamily="49" charset="-122"/>
                      </a:rPr>
                      <m:t>←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\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𝑇</m:t>
                        </m:r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/>
                </a:r>
                <a:b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</a:b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需要先把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个容器的信息记录在每个子集上，变成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那么问题来了，如何枚举子集呢？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  <a:blipFill rotWithShape="1">
                <a:blip r:embed="rId2"/>
                <a:stretch>
                  <a:fillRect l="-578" t="-602" r="-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86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二进制状态压缩 题目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</p:spPr>
            <p:txBody>
              <a:bodyPr>
                <a:noAutofit/>
              </a:bodyPr>
              <a:lstStyle/>
              <a:p>
                <a:r>
                  <a:rPr lang="en-US" altLang="zh-CN" sz="2000" dirty="0" smtClean="0">
                    <a:latin typeface="Courier New" panose="02070309020205020404" pitchFamily="49" charset="0"/>
                    <a:ea typeface="黑体" panose="02010609060101010101" pitchFamily="49" charset="-122"/>
                    <a:cs typeface="Courier New" panose="02070309020205020404" pitchFamily="49" charset="0"/>
                  </a:rPr>
                  <a:t>for(T=S&amp;S-1;T</a:t>
                </a:r>
                <a:r>
                  <a:rPr lang="en-US" altLang="zh-CN" sz="2000" dirty="0">
                    <a:latin typeface="Courier New" panose="02070309020205020404" pitchFamily="49" charset="0"/>
                    <a:ea typeface="黑体" panose="02010609060101010101" pitchFamily="49" charset="-122"/>
                    <a:cs typeface="Courier New" panose="02070309020205020404" pitchFamily="49" charset="0"/>
                  </a:rPr>
                  <a:t>!=0;T=S&amp;T-1)...</a:t>
                </a: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这个循环可以从大到小依次枚举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的所有非空真子集。如果确实需要枚举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/>
                        <a:ea typeface="黑体" panose="02010609060101010101" pitchFamily="49" charset="-122"/>
                      </a:rPr>
                      <m:t>T</m:t>
                    </m:r>
                    <m:r>
                      <a:rPr lang="en-US" altLang="zh-CN" sz="2000">
                        <a:latin typeface="Cambria Math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𝑇</m:t>
                    </m:r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=∅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，补写一两句话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那么，这样的算法时间复杂度是多少呢？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对于枚举的一个集合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/>
                        <a:ea typeface="黑体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个元素，则有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个子集。全集共有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/>
                        <a:ea typeface="黑体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元子集，所以枚举子集部分的时间复杂度是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/>
                </a:r>
                <a:b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</a:b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𝑇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𝑛</m:t>
                        </m:r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0</m:t>
                        </m:r>
                      </m:sup>
                    </m:sSup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×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1</m:t>
                        </m:r>
                      </m:sup>
                    </m:sSup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×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e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+…+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𝑛</m:t>
                        </m:r>
                      </m:sup>
                    </m:sSup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×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e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e>
                        </m:eqArr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3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000" b="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b="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那么，总的时间复杂度就是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𝑚𝑛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b="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，空间复杂度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b="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算法三，跳舞链做精确覆盖，时间复杂度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/>
                        <a:ea typeface="黑体" panose="02010609060101010101" pitchFamily="49" charset="-122"/>
                      </a:rPr>
                      <m:t>Ω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𝑚𝑛</m:t>
                        </m:r>
                      </m:e>
                    </m:d>
                  </m:oMath>
                </a14:m>
                <a:r>
                  <a:rPr lang="zh-CN" altLang="en-US" sz="2000" b="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膜</a:t>
                </a:r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膜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膜！</a:t>
                </a:r>
                <a:endParaRPr lang="en-US" altLang="zh-CN" sz="2000" b="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  <a:blipFill rotWithShape="1">
                <a:blip r:embed="rId2"/>
                <a:stretch>
                  <a:fillRect l="-578" t="-6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048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二进制状态压缩 题目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继续看水题：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平面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𝑋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×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网格上有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个目标格子，其他格子有各自的费用，你的任务是把目标格子连通，且花费的总费用最小。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算法一，大力深搜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+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剪枝！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时间复杂度上限是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𝑋𝑌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，空间复杂度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𝑋𝑌</m:t>
                        </m:r>
                      </m:e>
                    </m:d>
                    <m:r>
                      <a:rPr lang="zh-CN" altLang="en-US" sz="2000" b="0" i="1" smtClean="0">
                        <a:latin typeface="Cambria Math"/>
                        <a:ea typeface="黑体" panose="02010609060101010101" pitchFamily="49" charset="-122"/>
                      </a:rPr>
                      <m:t>。</m:t>
                    </m:r>
                  </m:oMath>
                </a14:m>
                <a:endParaRPr lang="en-US" altLang="zh-CN" sz="2000" b="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算法二，状态压缩动态规划！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如何设计状态？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设计一个状态：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表示把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集合里面的目标点连通，且还与坐标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的空格子连通，花费的最小总费用。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状态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转移分为两种，首先，可以根据坐标进行相邻转移：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/>
                </a:r>
                <a:b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</a:b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zh-CN" altLang="en-US" sz="2000" b="0" i="1" smtClean="0">
                        <a:latin typeface="Cambria Math"/>
                        <a:ea typeface="黑体" panose="02010609060101010101" pitchFamily="49" charset="-122"/>
                      </a:rPr>
                      <m:t>←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𝑑𝑥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𝑦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𝑑𝑦</m:t>
                            </m:r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𝑤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sz="2000" b="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还可以在一个坐标格子的位置把两个集合合并起来：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/>
                </a:r>
                <a:b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</a:b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zh-CN" altLang="en-US" sz="2000" b="0" i="1" smtClean="0">
                        <a:latin typeface="Cambria Math"/>
                        <a:ea typeface="黑体" panose="02010609060101010101" pitchFamily="49" charset="-122"/>
                      </a:rPr>
                      <m:t>←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𝑇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𝑆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\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𝑇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𝑤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时间复杂度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𝑋𝑌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3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𝑁</m:t>
                        </m:r>
                      </m:sup>
                    </m:sSup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，空间复杂度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𝑋𝑌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𝑁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  <a:blipFill rotWithShape="1">
                <a:blip r:embed="rId2"/>
                <a:stretch>
                  <a:fillRect l="-578" t="-602" r="-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73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二进制状态压缩 小结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用一个二进制数表示一个集合，一般是“用过的</a:t>
                </a:r>
                <a:r>
                  <a:rPr lang="en-US" altLang="zh-CN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XX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”这样的信息。</a:t>
                </a:r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有时候状态转移需要枚举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的子集，于是复杂度里面的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变成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  <m:t>3</m:t>
                        </m:r>
                      </m:e>
                      <m:sup>
                        <m:r>
                          <a:rPr lang="en-US" altLang="zh-CN" sz="2000" i="1">
                            <a:latin typeface="Cambria Math"/>
                            <a:ea typeface="黑体" panose="02010609060101010101" pitchFamily="49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状态包含集合信息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，有时候还需要加入其它的信息，否则无法进行状态转移。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当加入了其他信息的时候，有可能状态转移就有多种方式，注意考虑全面。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endPara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好，接下来是写代码时间！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  <a:blipFill rotWithShape="1">
                <a:blip r:embed="rId2"/>
                <a:stretch>
                  <a:fillRect l="-578" t="-602" r="-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733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变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进制状态压缩 概述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回到最开始的问题，每个物品有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𝐾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个属性，你的背包对每个属性的上限分别是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，这样的任意维度背包问题怎么解决呢？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如果套用固定维度的背包问题的做法，状态数组就应该是这个样子：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/>
                </a:r>
                <a:b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</a:b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0…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0…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0…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这样做的问题是，不知道每一个维度需要开多大的数组，但是使用的数组总大小是可以接受的。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那么，如果我们能把状态压缩为一个整数，就能很容易的进行动态规划了，于是就用到了变进制状态压缩。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b="0" dirty="0" smtClean="0">
                    <a:ea typeface="黑体" panose="02010609060101010101" pitchFamily="49" charset="-122"/>
                  </a:rPr>
                  <a:t>把状态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变成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 dirty="0">
                        <a:latin typeface="Cambria Math"/>
                        <a:ea typeface="黑体" panose="02010609060101010101" pitchFamily="49" charset="-122"/>
                      </a:rPr>
                      <m:t>+</m:t>
                    </m:r>
                    <m:d>
                      <m:dPr>
                        <m:ctrlP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+1</m:t>
                        </m:r>
                      </m:e>
                    </m:d>
                    <m:sSub>
                      <m:sSubPr>
                        <m:ctrlP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 dirty="0">
                        <a:latin typeface="Cambria Math"/>
                        <a:ea typeface="黑体" panose="02010609060101010101" pitchFamily="49" charset="-122"/>
                      </a:rPr>
                      <m:t>+</m:t>
                    </m:r>
                    <m:d>
                      <m:dPr>
                        <m:ctrlP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+1</m:t>
                        </m:r>
                      </m:e>
                    </m:d>
                    <m:sSub>
                      <m:sSubPr>
                        <m:ctrlP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3</m:t>
                        </m:r>
                      </m:sub>
                    </m:sSub>
                    <m:r>
                      <a:rPr lang="en-US" altLang="zh-CN" sz="2000" i="1" dirty="0">
                        <a:latin typeface="Cambria Math"/>
                        <a:ea typeface="黑体" panose="02010609060101010101" pitchFamily="49" charset="-122"/>
                      </a:rPr>
                      <m:t>+…+</m:t>
                    </m:r>
                    <m:d>
                      <m:dPr>
                        <m:ctrlP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+1</m:t>
                        </m:r>
                      </m:e>
                    </m:d>
                    <m:r>
                      <a:rPr lang="en-US" altLang="zh-CN" sz="2000" i="1" dirty="0">
                        <a:latin typeface="Cambria Math"/>
                        <a:ea typeface="黑体" panose="02010609060101010101" pitchFamily="49" charset="-122"/>
                      </a:rPr>
                      <m:t>…</m:t>
                    </m:r>
                    <m:d>
                      <m:dPr>
                        <m:ctrlP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𝐾</m:t>
                            </m:r>
                            <m:r>
                              <a:rPr lang="en-US" altLang="zh-CN" sz="2000" i="1" dirty="0">
                                <a:latin typeface="Cambria Math"/>
                                <a:ea typeface="黑体" panose="02010609060101010101" pitchFamily="49" charset="-122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+1</m:t>
                        </m:r>
                      </m:e>
                    </m:d>
                    <m:sSub>
                      <m:sSubPr>
                        <m:ctrlP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i="1" dirty="0">
                            <a:latin typeface="Cambria Math"/>
                            <a:ea typeface="黑体" panose="02010609060101010101" pitchFamily="49" charset="-122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，显然可以做到这一点。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为了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方便，记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+1</m:t>
                        </m:r>
                      </m:e>
                    </m:d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…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+1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，那么状态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就重新对应为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𝐽</m:t>
                    </m:r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+…+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容易</a:t>
                </a:r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发现，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𝑗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𝐽</m:t>
                        </m:r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%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𝐽</m:t>
                        </m:r>
                      </m:num>
                      <m:den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%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+1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显然，二进制状态压缩是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=…=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  <a:ea typeface="黑体" panose="02010609060101010101" pitchFamily="49" charset="-122"/>
                          </a:rPr>
                          <m:t>𝐾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  <a:ea typeface="黑体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sz="2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的特例。</a:t>
                </a:r>
                <a:endParaRPr lang="en-US" altLang="zh-CN" sz="2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5069160"/>
              </a:xfrm>
              <a:blipFill rotWithShape="1">
                <a:blip r:embed="rId2"/>
                <a:stretch>
                  <a:fillRect l="-578" t="-842" r="-289" b="-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53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变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进制状态压缩 题目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069160"/>
          </a:xfrm>
        </p:spPr>
        <p:txBody>
          <a:bodyPr>
            <a:noAutofit/>
          </a:bodyPr>
          <a:lstStyle/>
          <a:p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来看一道例题：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NKOJ1903</a:t>
            </a:r>
          </a:p>
          <a:p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999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1535</Words>
  <Application>Microsoft Office PowerPoint</Application>
  <PresentationFormat>全屏显示(4:3)</PresentationFormat>
  <Paragraphs>123</Paragraphs>
  <Slides>14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Office 主题</vt:lpstr>
      <vt:lpstr>状态压缩</vt:lpstr>
      <vt:lpstr>思考这样的问题</vt:lpstr>
      <vt:lpstr>思考这样的问题</vt:lpstr>
      <vt:lpstr>还有其他问题</vt:lpstr>
      <vt:lpstr>二进制状态压缩 概述</vt:lpstr>
      <vt:lpstr>二进制状态压缩 题目</vt:lpstr>
      <vt:lpstr>二进制状态压缩 题目</vt:lpstr>
      <vt:lpstr>二进制状态压缩 题目</vt:lpstr>
      <vt:lpstr>二进制状态压缩 题目</vt:lpstr>
      <vt:lpstr>二进制状态压缩 题目</vt:lpstr>
      <vt:lpstr>二进制状态压缩 题目</vt:lpstr>
      <vt:lpstr>二进制状态压缩 小结</vt:lpstr>
      <vt:lpstr>变进制状态压缩 概述</vt:lpstr>
      <vt:lpstr>变进制状态压缩 题目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状态压缩 入门篇</dc:title>
  <dc:creator>Administrator_nodgd</dc:creator>
  <cp:lastModifiedBy>dcc1234@qq.com</cp:lastModifiedBy>
  <cp:revision>56</cp:revision>
  <dcterms:created xsi:type="dcterms:W3CDTF">2016-07-13T13:18:56Z</dcterms:created>
  <dcterms:modified xsi:type="dcterms:W3CDTF">2016-07-21T01:47:55Z</dcterms:modified>
</cp:coreProperties>
</file>