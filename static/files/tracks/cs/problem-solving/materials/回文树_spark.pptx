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6" r:id="rId5"/>
    <p:sldId id="258" r:id="rId6"/>
    <p:sldId id="268" r:id="rId7"/>
    <p:sldId id="269" r:id="rId8"/>
    <p:sldId id="271" r:id="rId9"/>
    <p:sldId id="286" r:id="rId10"/>
    <p:sldId id="270" r:id="rId11"/>
    <p:sldId id="272" r:id="rId12"/>
    <p:sldId id="273" r:id="rId13"/>
    <p:sldId id="288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4" r:id="rId23"/>
    <p:sldId id="275" r:id="rId24"/>
    <p:sldId id="279" r:id="rId25"/>
    <p:sldId id="298" r:id="rId26"/>
    <p:sldId id="281" r:id="rId27"/>
    <p:sldId id="282" r:id="rId28"/>
    <p:sldId id="261" r:id="rId29"/>
    <p:sldId id="265" r:id="rId30"/>
  </p:sldIdLst>
  <p:sldSz cx="9144000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69" d="100"/>
          <a:sy n="69" d="100"/>
        </p:scale>
        <p:origin x="-138" y="-102"/>
      </p:cViewPr>
      <p:guideLst>
        <p:guide orient="horz" pos="213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 userDrawn="1"/>
        </p:nvSpPr>
        <p:spPr>
          <a:xfrm>
            <a:off x="-33337" y="0"/>
            <a:ext cx="9177337" cy="3886200"/>
          </a:xfrm>
          <a:prstGeom prst="rect">
            <a:avLst/>
          </a:pr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51" name="标题 2050"/>
          <p:cNvSpPr>
            <a:spLocks noGrp="1"/>
          </p:cNvSpPr>
          <p:nvPr>
            <p:ph type="ctrTitle"/>
          </p:nvPr>
        </p:nvSpPr>
        <p:spPr>
          <a:xfrm>
            <a:off x="685800" y="4149725"/>
            <a:ext cx="7772400" cy="11064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 algn="ctr">
              <a:defRPr sz="4000" b="1" kern="1200"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5373688"/>
            <a:ext cx="6400800" cy="9112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None/>
              <a:defRPr sz="2800" kern="1200"/>
            </a:lvl1pPr>
            <a:lvl2pPr marL="457200" lvl="1" indent="-457200" algn="ctr">
              <a:buNone/>
              <a:defRPr sz="2000" kern="1200"/>
            </a:lvl2pPr>
            <a:lvl3pPr marL="914400" lvl="2" indent="-914400" algn="ctr">
              <a:buNone/>
              <a:defRPr sz="2000" kern="1200"/>
            </a:lvl3pPr>
            <a:lvl4pPr marL="1371600" lvl="3" indent="-1371600" algn="ctr">
              <a:buNone/>
              <a:defRPr sz="2000" kern="1200"/>
            </a:lvl4pPr>
            <a:lvl5pPr marL="1828800" lvl="4" indent="-1828800" algn="ctr">
              <a:buNone/>
              <a:defRPr sz="2000" kern="1200"/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3" name="菱形 2052"/>
          <p:cNvSpPr/>
          <p:nvPr userDrawn="1"/>
        </p:nvSpPr>
        <p:spPr>
          <a:xfrm>
            <a:off x="8102600" y="450850"/>
            <a:ext cx="646113" cy="609600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54" name="菱形 2053"/>
          <p:cNvSpPr/>
          <p:nvPr userDrawn="1"/>
        </p:nvSpPr>
        <p:spPr>
          <a:xfrm>
            <a:off x="7985125" y="685800"/>
            <a:ext cx="511175" cy="511175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55" name="菱形 2054"/>
          <p:cNvSpPr/>
          <p:nvPr userDrawn="1"/>
        </p:nvSpPr>
        <p:spPr>
          <a:xfrm>
            <a:off x="8355013" y="692150"/>
            <a:ext cx="511175" cy="512763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56" name="菱形 2055"/>
          <p:cNvSpPr/>
          <p:nvPr userDrawn="1"/>
        </p:nvSpPr>
        <p:spPr>
          <a:xfrm>
            <a:off x="7961313" y="301625"/>
            <a:ext cx="511175" cy="512763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57" name="菱形 2056"/>
          <p:cNvSpPr/>
          <p:nvPr userDrawn="1"/>
        </p:nvSpPr>
        <p:spPr>
          <a:xfrm>
            <a:off x="8339138" y="333375"/>
            <a:ext cx="512762" cy="511175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8788" y="1598613"/>
            <a:ext cx="4030948" cy="4527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65" y="1598613"/>
            <a:ext cx="4030948" cy="4527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8607" y="274638"/>
            <a:ext cx="2056606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8788" y="274638"/>
            <a:ext cx="6050595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 userDrawn="1"/>
        </p:nvSpPr>
        <p:spPr>
          <a:xfrm>
            <a:off x="0" y="1588"/>
            <a:ext cx="9144000" cy="1417637"/>
          </a:xfrm>
          <a:prstGeom prst="rect">
            <a:avLst/>
          </a:pr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9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hangingPunct="1"/>
          </a:p>
        </p:txBody>
      </p:sp>
      <p:sp>
        <p:nvSpPr>
          <p:cNvPr id="1030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hangingPunct="1"/>
          </a:p>
        </p:txBody>
      </p:sp>
      <p:sp>
        <p:nvSpPr>
          <p:cNvPr id="1031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  <p:sp>
        <p:nvSpPr>
          <p:cNvPr id="1032" name="矩形 1031"/>
          <p:cNvSpPr/>
          <p:nvPr userDrawn="1"/>
        </p:nvSpPr>
        <p:spPr>
          <a:xfrm>
            <a:off x="0" y="6126163"/>
            <a:ext cx="9144000" cy="731837"/>
          </a:xfrm>
          <a:prstGeom prst="rect">
            <a:avLst/>
          </a:prstGeom>
          <a:solidFill>
            <a:srgbClr val="99CC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菱形 1032"/>
          <p:cNvSpPr/>
          <p:nvPr userDrawn="1"/>
        </p:nvSpPr>
        <p:spPr>
          <a:xfrm>
            <a:off x="8102600" y="6346825"/>
            <a:ext cx="358775" cy="358775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4" name="菱形 1033"/>
          <p:cNvSpPr/>
          <p:nvPr userDrawn="1"/>
        </p:nvSpPr>
        <p:spPr>
          <a:xfrm>
            <a:off x="7985125" y="6588125"/>
            <a:ext cx="234950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5" name="菱形 1034"/>
          <p:cNvSpPr/>
          <p:nvPr userDrawn="1"/>
        </p:nvSpPr>
        <p:spPr>
          <a:xfrm>
            <a:off x="8339138" y="6588125"/>
            <a:ext cx="236537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6" name="菱形 1035"/>
          <p:cNvSpPr/>
          <p:nvPr userDrawn="1"/>
        </p:nvSpPr>
        <p:spPr>
          <a:xfrm>
            <a:off x="7978775" y="6237288"/>
            <a:ext cx="234950" cy="236537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7" name="菱形 1036"/>
          <p:cNvSpPr/>
          <p:nvPr userDrawn="1"/>
        </p:nvSpPr>
        <p:spPr>
          <a:xfrm>
            <a:off x="8339138" y="6235700"/>
            <a:ext cx="236537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3073"/>
          <p:cNvSpPr/>
          <p:nvPr userDrawn="1"/>
        </p:nvSpPr>
        <p:spPr>
          <a:xfrm>
            <a:off x="0" y="-23812"/>
            <a:ext cx="9144000" cy="430212"/>
          </a:xfrm>
          <a:prstGeom prst="rect">
            <a:avLst/>
          </a:prstGeom>
          <a:solidFill>
            <a:srgbClr val="99CC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6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7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hangingPunct="1"/>
          </a:p>
        </p:txBody>
      </p:sp>
      <p:sp>
        <p:nvSpPr>
          <p:cNvPr id="3078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hangingPunct="1"/>
          </a:p>
        </p:txBody>
      </p:sp>
      <p:sp>
        <p:nvSpPr>
          <p:cNvPr id="3079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/>
            </a:fld>
            <a:endParaRPr lang="zh-CN"/>
          </a:p>
        </p:txBody>
      </p:sp>
      <p:sp>
        <p:nvSpPr>
          <p:cNvPr id="3080" name="矩形 3079"/>
          <p:cNvSpPr/>
          <p:nvPr userDrawn="1"/>
        </p:nvSpPr>
        <p:spPr>
          <a:xfrm>
            <a:off x="0" y="6126163"/>
            <a:ext cx="9144000" cy="731837"/>
          </a:xfrm>
          <a:prstGeom prst="rect">
            <a:avLst/>
          </a:prstGeom>
          <a:solidFill>
            <a:srgbClr val="99CC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1" name="菱形 3080"/>
          <p:cNvSpPr/>
          <p:nvPr userDrawn="1"/>
        </p:nvSpPr>
        <p:spPr>
          <a:xfrm>
            <a:off x="8102600" y="6346825"/>
            <a:ext cx="358775" cy="358775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2" name="菱形 3081"/>
          <p:cNvSpPr/>
          <p:nvPr userDrawn="1"/>
        </p:nvSpPr>
        <p:spPr>
          <a:xfrm>
            <a:off x="7985125" y="6588125"/>
            <a:ext cx="234950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3" name="菱形 3082"/>
          <p:cNvSpPr/>
          <p:nvPr userDrawn="1"/>
        </p:nvSpPr>
        <p:spPr>
          <a:xfrm>
            <a:off x="8339138" y="6588125"/>
            <a:ext cx="236537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4" name="菱形 3083"/>
          <p:cNvSpPr/>
          <p:nvPr userDrawn="1"/>
        </p:nvSpPr>
        <p:spPr>
          <a:xfrm>
            <a:off x="7978775" y="6237288"/>
            <a:ext cx="234950" cy="236537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5" name="菱形 3084"/>
          <p:cNvSpPr/>
          <p:nvPr userDrawn="1"/>
        </p:nvSpPr>
        <p:spPr>
          <a:xfrm>
            <a:off x="8339138" y="6235700"/>
            <a:ext cx="236537" cy="236538"/>
          </a:xfrm>
          <a:prstGeom prst="diamond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 4097"/>
          <p:cNvSpPr>
            <a:spLocks noGrp="1"/>
          </p:cNvSpPr>
          <p:nvPr>
            <p:ph type="title"/>
          </p:nvPr>
        </p:nvSpPr>
        <p:spPr>
          <a:xfrm>
            <a:off x="458788" y="274638"/>
            <a:ext cx="8226425" cy="1143000"/>
          </a:xfrm>
          <a:prstGeom prst="rect">
            <a:avLst/>
          </a:prstGeom>
          <a:noFill/>
          <a:ln w="9525">
            <a:noFill/>
          </a:ln>
        </p:spPr>
        <p:txBody>
          <a:bodyPr lIns="89544" tIns="44772" rIns="89544" bIns="44772"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文本占位符 4098"/>
          <p:cNvSpPr>
            <a:spLocks noGrp="1"/>
          </p:cNvSpPr>
          <p:nvPr>
            <p:ph type="body" idx="1"/>
          </p:nvPr>
        </p:nvSpPr>
        <p:spPr>
          <a:xfrm>
            <a:off x="458788" y="1598613"/>
            <a:ext cx="8226425" cy="4527550"/>
          </a:xfrm>
          <a:prstGeom prst="rect">
            <a:avLst/>
          </a:prstGeom>
          <a:noFill/>
          <a:ln w="9525">
            <a:noFill/>
          </a:ln>
        </p:spPr>
        <p:txBody>
          <a:bodyPr lIns="89544" tIns="44772" rIns="89544" bIns="44772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0" name="日期占位符 4099"/>
          <p:cNvSpPr>
            <a:spLocks noGrp="1"/>
          </p:cNvSpPr>
          <p:nvPr>
            <p:ph type="dt" sz="half" idx="2"/>
          </p:nvPr>
        </p:nvSpPr>
        <p:spPr>
          <a:xfrm>
            <a:off x="458788" y="6245225"/>
            <a:ext cx="2130425" cy="476250"/>
          </a:xfrm>
          <a:prstGeom prst="rect">
            <a:avLst/>
          </a:prstGeom>
          <a:noFill/>
          <a:ln w="9525">
            <a:noFill/>
          </a:ln>
        </p:spPr>
        <p:txBody>
          <a:bodyPr lIns="89544" tIns="44772" rIns="89544" bIns="44772"/>
          <a:lstStyle>
            <a:lvl1pPr>
              <a:defRPr sz="1300"/>
            </a:lvl1pPr>
          </a:lstStyle>
          <a:p>
            <a:pPr lvl="0"/>
            <a:endParaRPr lang="zh-CN" altLang="en-US"/>
          </a:p>
        </p:txBody>
      </p:sp>
      <p:sp>
        <p:nvSpPr>
          <p:cNvPr id="4101" name="页脚占位符 4100"/>
          <p:cNvSpPr>
            <a:spLocks noGrp="1"/>
          </p:cNvSpPr>
          <p:nvPr>
            <p:ph type="ftr" sz="quarter" idx="3"/>
          </p:nvPr>
        </p:nvSpPr>
        <p:spPr>
          <a:xfrm>
            <a:off x="3122613" y="6245225"/>
            <a:ext cx="2898775" cy="476250"/>
          </a:xfrm>
          <a:prstGeom prst="rect">
            <a:avLst/>
          </a:prstGeom>
          <a:noFill/>
          <a:ln w="9525">
            <a:noFill/>
          </a:ln>
        </p:spPr>
        <p:txBody>
          <a:bodyPr lIns="89544" tIns="44772" rIns="89544" bIns="44772"/>
          <a:lstStyle>
            <a:lvl1pPr algn="ctr">
              <a:defRPr sz="1300"/>
            </a:lvl1pPr>
          </a:lstStyle>
          <a:p>
            <a:pPr lvl="0"/>
            <a:endParaRPr lang="zh-CN"/>
          </a:p>
        </p:txBody>
      </p:sp>
      <p:sp>
        <p:nvSpPr>
          <p:cNvPr id="4102" name="灯片编号占位符 4101"/>
          <p:cNvSpPr>
            <a:spLocks noGrp="1"/>
          </p:cNvSpPr>
          <p:nvPr>
            <p:ph type="sldNum" sz="quarter" idx="4"/>
          </p:nvPr>
        </p:nvSpPr>
        <p:spPr>
          <a:xfrm>
            <a:off x="6554788" y="6245225"/>
            <a:ext cx="2130425" cy="476250"/>
          </a:xfrm>
          <a:prstGeom prst="rect">
            <a:avLst/>
          </a:prstGeom>
          <a:noFill/>
          <a:ln w="9525">
            <a:noFill/>
          </a:ln>
        </p:spPr>
        <p:txBody>
          <a:bodyPr lIns="89544" tIns="44772" rIns="89544" bIns="44772"/>
          <a:lstStyle>
            <a:lvl1pPr algn="r">
              <a:defRPr sz="1300"/>
            </a:lvl1pPr>
          </a:lstStyle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89535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36550" lvl="0" indent="-33655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27075" lvl="1" indent="-27940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7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19505" lvl="2" indent="-224155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567180" lvl="3" indent="-224155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14855" lvl="4" indent="-224155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89535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ctrTitle"/>
          </p:nvPr>
        </p:nvSpPr>
        <p:spPr>
          <a:xfrm>
            <a:off x="752475" y="2564130"/>
            <a:ext cx="7772400" cy="1977390"/>
          </a:xfrm>
        </p:spPr>
        <p:txBody>
          <a:bodyPr anchor="ctr"/>
          <a:p>
            <a:pPr defTabSz="914400">
              <a:buNone/>
            </a:pPr>
            <a:r>
              <a:rPr lang="zh-CN" altLang="en-US" sz="4400" kern="1200" baseline="0">
                <a:solidFill>
                  <a:schemeClr val="bg1"/>
                </a:solidFill>
                <a:latin typeface="Arial" charset="0"/>
                <a:ea typeface="微软雅黑" charset="-122"/>
              </a:rPr>
              <a:t>回文树</a:t>
            </a:r>
            <a:br>
              <a:rPr lang="zh-CN" altLang="en-US" sz="4400" kern="1200" baseline="0">
                <a:solidFill>
                  <a:schemeClr val="bg1"/>
                </a:solidFill>
                <a:latin typeface="Arial" charset="0"/>
                <a:ea typeface="微软雅黑" charset="-122"/>
              </a:rPr>
            </a:br>
            <a:r>
              <a:rPr lang="en-US" altLang="zh-CN" sz="4400">
                <a:solidFill>
                  <a:schemeClr val="bg1"/>
                </a:solidFill>
                <a:latin typeface="Arial" charset="0"/>
                <a:ea typeface="微软雅黑" charset="-122"/>
                <a:sym typeface="+mn-ea"/>
              </a:rPr>
              <a:t>Palindromic Tree</a:t>
            </a:r>
            <a:br>
              <a:rPr lang="en-US" altLang="zh-CN" sz="4400" kern="1200" baseline="0">
                <a:solidFill>
                  <a:schemeClr val="bg1"/>
                </a:solidFill>
                <a:latin typeface="Arial" charset="0"/>
                <a:ea typeface="微软雅黑" charset="-122"/>
              </a:rPr>
            </a:br>
            <a:endParaRPr lang="zh-CN" altLang="en-US" sz="4400" kern="1200" baseline="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338"/>
            <a:ext cx="8229600" cy="4570412"/>
          </a:xfrm>
        </p:spPr>
        <p:txBody>
          <a:bodyPr/>
          <a:p>
            <a:r>
              <a:rPr lang="zh-CN" altLang="en-US" sz="2800"/>
              <a:t>回文树由若干个节点组成，每个节点代表一个回文串(palindrome)。</a:t>
            </a:r>
            <a:endParaRPr lang="zh-CN" altLang="en-US" sz="2800"/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6883" y="969645"/>
            <a:ext cx="3530600" cy="48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 eaLnBrk="1" latinLnBrk="0" hangingPunct="1"/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、节点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3829" t="50945" r="57448" b="4557"/>
          <a:stretch>
            <a:fillRect/>
          </a:stretch>
        </p:blipFill>
        <p:spPr>
          <a:xfrm>
            <a:off x="509905" y="2632075"/>
            <a:ext cx="1367790" cy="12712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59621" t="50567" r="17536" b="6979"/>
          <a:stretch>
            <a:fillRect/>
          </a:stretch>
        </p:blipFill>
        <p:spPr>
          <a:xfrm>
            <a:off x="2035810" y="2632075"/>
            <a:ext cx="1087755" cy="12128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9905" y="4154170"/>
            <a:ext cx="7829550" cy="97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ea typeface="+mn-ea"/>
              </a:rPr>
              <a:t>对于一个给定的字符串s，它所对应的回文树就包含了s所有的回文子串。</a:t>
            </a:r>
            <a:endParaRPr lang="zh-CN" altLang="en-US" sz="28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655"/>
            <a:ext cx="8229600" cy="1919605"/>
          </a:xfrm>
        </p:spPr>
        <p:txBody>
          <a:bodyPr/>
          <a:p>
            <a:pPr marL="0" indent="0">
              <a:buNone/>
            </a:pPr>
            <a:r>
              <a:rPr lang="zh-CN" altLang="en-US"/>
              <a:t>回文树有两个根：</a:t>
            </a:r>
            <a:endParaRPr lang="zh-CN" altLang="en-US"/>
          </a:p>
          <a:p>
            <a:pPr>
              <a:buClrTx/>
              <a:buFont typeface="Wingdings" charset="0"/>
              <a:buChar char="l"/>
            </a:pPr>
            <a:r>
              <a:rPr lang="en-US" altLang="zh-CN"/>
              <a:t>1</a:t>
            </a:r>
            <a:r>
              <a:rPr lang="zh-CN" altLang="en-US"/>
              <a:t>号根表示</a:t>
            </a:r>
            <a:r>
              <a:rPr lang="zh-CN" altLang="en-US">
                <a:solidFill>
                  <a:srgbClr val="FF0000"/>
                </a:solidFill>
              </a:rPr>
              <a:t>长度为-1</a:t>
            </a:r>
            <a:r>
              <a:rPr lang="zh-CN" altLang="en-US"/>
              <a:t>的回文串，是我们为了方便操作加进去的，长度为1的回文串可以通过它左右两侧各添加一个字符得到</a:t>
            </a:r>
            <a:r>
              <a:rPr lang="zh-CN" altLang="en-US" sz="2800"/>
              <a:t>。</a:t>
            </a:r>
            <a:endParaRPr lang="zh-CN" altLang="en-US" sz="2800"/>
          </a:p>
          <a:p>
            <a:pPr marL="0" indent="0">
              <a:buNone/>
            </a:pPr>
            <a:endParaRPr lang="zh-CN" altLang="en-US" sz="2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7890" y="4734560"/>
            <a:ext cx="7829550" cy="97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ea typeface="+mn-ea"/>
              </a:rPr>
              <a:t>长度为</a:t>
            </a:r>
            <a:r>
              <a:rPr lang="en-US" altLang="zh-CN" sz="2800">
                <a:latin typeface="+mn-ea"/>
                <a:ea typeface="+mn-ea"/>
              </a:rPr>
              <a:t>n</a:t>
            </a:r>
            <a:r>
              <a:rPr lang="zh-CN" altLang="en-US" sz="2800">
                <a:latin typeface="+mn-ea"/>
                <a:ea typeface="+mn-ea"/>
              </a:rPr>
              <a:t>的字符串对应的回文树的节点最多有多少个？</a:t>
            </a:r>
            <a:endParaRPr lang="zh-CN" altLang="en-US" sz="280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3660140"/>
            <a:ext cx="8270240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ClrTx/>
              <a:buFont typeface="Wingdings" charset="0"/>
              <a:buChar char="l"/>
            </a:pPr>
            <a:r>
              <a:rPr lang="en-US" altLang="zh-CN" sz="2400">
                <a:latin typeface="+mn-ea"/>
                <a:ea typeface="+mn-ea"/>
                <a:sym typeface="+mn-ea"/>
              </a:rPr>
              <a:t>2</a:t>
            </a:r>
            <a:r>
              <a:rPr lang="zh-CN" altLang="en-US" sz="2400">
                <a:latin typeface="+mn-ea"/>
                <a:ea typeface="+mn-ea"/>
                <a:sym typeface="+mn-ea"/>
              </a:rPr>
              <a:t>号根表示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长度为0</a:t>
            </a:r>
            <a:r>
              <a:rPr lang="zh-CN" altLang="en-US" sz="2400">
                <a:latin typeface="+mn-ea"/>
                <a:ea typeface="+mn-ea"/>
                <a:sym typeface="+mn-ea"/>
              </a:rPr>
              <a:t>的回文串，即空串</a:t>
            </a:r>
            <a:endParaRPr lang="zh-CN" altLang="en-US" sz="24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83690"/>
            <a:ext cx="8229600" cy="1009650"/>
          </a:xfrm>
        </p:spPr>
        <p:txBody>
          <a:bodyPr/>
          <a:p>
            <a:pPr marL="0" indent="0">
              <a:buNone/>
            </a:pPr>
            <a:r>
              <a:rPr lang="en-US" altLang="zh-CN" sz="2800"/>
              <a:t>      </a:t>
            </a:r>
            <a:r>
              <a:rPr lang="zh-CN" altLang="en-US" sz="2800"/>
              <a:t>节点之间通过有向边连接起来，回文树中有两种类型的边。</a:t>
            </a:r>
            <a:endParaRPr lang="zh-CN" altLang="en-US" sz="2800"/>
          </a:p>
          <a:p>
            <a:endParaRPr lang="zh-CN" altLang="en-US" sz="1800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509588" y="956310"/>
            <a:ext cx="3530600" cy="48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 eaLnBrk="1" latinLnBrk="0" hangingPunct="1"/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、边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4412" r="55897" b="3762"/>
          <a:stretch>
            <a:fillRect/>
          </a:stretch>
        </p:blipFill>
        <p:spPr>
          <a:xfrm>
            <a:off x="918845" y="4123690"/>
            <a:ext cx="1152525" cy="2241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4490" y="2593340"/>
            <a:ext cx="8717280" cy="1214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0" hangingPunct="0">
              <a:spcBef>
                <a:spcPct val="20000"/>
              </a:spcBef>
            </a:pPr>
            <a:r>
              <a:rPr lang="zh-CN" altLang="en-US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+mn-ea"/>
              </a:rPr>
              <a:t>       第一种边上同时有字符做标记（类似</a:t>
            </a:r>
            <a:r>
              <a:rPr lang="en-US" altLang="zh-CN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+mn-ea"/>
              </a:rPr>
              <a:t>trie</a:t>
            </a:r>
            <a:r>
              <a:rPr lang="zh-CN" altLang="en-US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+mn-ea"/>
              </a:rPr>
              <a:t>的处理方法），也就是说，u和v通过带字符X的边连接起来，表示节点u所表示的回文串两边添加X字符可以得到v节点所表示的回文串。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338"/>
            <a:ext cx="8229600" cy="4570412"/>
          </a:xfrm>
        </p:spPr>
        <p:txBody>
          <a:bodyPr/>
          <a:p>
            <a:pPr marL="0" indent="0">
              <a:buNone/>
            </a:pPr>
            <a:r>
              <a:rPr lang="zh-CN" altLang="en-US"/>
              <a:t>第二种类型的边是后缀链接边(suffix link)。从u到w存在一条后缀链接边，当且仅当w节点所代表的回文串是u的后缀</a:t>
            </a:r>
            <a:r>
              <a:rPr lang="zh-CN" altLang="en-US" b="1"/>
              <a:t>中最长的回文串</a:t>
            </a:r>
            <a:r>
              <a:rPr lang="zh-CN" altLang="en-US"/>
              <a:t>，但w和u不能相同</a:t>
            </a:r>
            <a:endParaRPr lang="zh-CN" altLang="en-US"/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 b="1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10205"/>
            <a:ext cx="4761865" cy="2856865"/>
          </a:xfrm>
          <a:prstGeom prst="rect">
            <a:avLst/>
          </a:prstGeom>
        </p:spPr>
      </p:pic>
      <p:sp>
        <p:nvSpPr>
          <p:cNvPr id="6" name="左箭头 5"/>
          <p:cNvSpPr/>
          <p:nvPr/>
        </p:nvSpPr>
        <p:spPr>
          <a:xfrm>
            <a:off x="3203575" y="4221480"/>
            <a:ext cx="3211195" cy="215900"/>
          </a:xfrm>
          <a:prstGeom prst="lef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87795" y="3968750"/>
            <a:ext cx="219900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ea typeface="+mn-ea"/>
                <a:sym typeface="+mn-ea"/>
              </a:rPr>
              <a:t>后缀链接边</a:t>
            </a:r>
            <a:endParaRPr lang="zh-CN" altLang="en-US" sz="28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439228"/>
            <a:ext cx="8229600" cy="4570412"/>
          </a:xfrm>
        </p:spPr>
        <p:txBody>
          <a:bodyPr/>
          <a:p>
            <a:pPr marL="0" indent="0">
              <a:buNone/>
            </a:pPr>
            <a:r>
              <a:rPr lang="en-US" altLang="zh-CN" sz="1800"/>
              <a:t>     </a:t>
            </a:r>
            <a:r>
              <a:rPr lang="zh-CN" altLang="en-US" sz="1800"/>
              <a:t>其中一棵树存长度是偶数的回文串，其根节点编号为</a:t>
            </a:r>
            <a:r>
              <a:rPr lang="en-US" altLang="zh-CN" sz="1800"/>
              <a:t>2</a:t>
            </a:r>
            <a:r>
              <a:rPr lang="zh-CN" altLang="en-US" sz="1800"/>
              <a:t>，</a:t>
            </a:r>
            <a:r>
              <a:rPr lang="zh-CN" altLang="en-US" sz="1800"/>
              <a:t>长度为</a:t>
            </a:r>
            <a:r>
              <a:rPr lang="en-US" altLang="zh-CN" sz="1800"/>
              <a:t>0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     另一棵树存长度是奇数的回文串，其根节点编号为</a:t>
            </a:r>
            <a:r>
              <a:rPr lang="en-US" altLang="zh-CN" sz="1800"/>
              <a:t>1</a:t>
            </a:r>
            <a:r>
              <a:rPr lang="zh-CN" altLang="en-US" sz="1800"/>
              <a:t>，长度为</a:t>
            </a:r>
            <a:r>
              <a:rPr lang="en-US" altLang="zh-CN" sz="1800"/>
              <a:t>-1</a:t>
            </a:r>
            <a:br>
              <a:rPr lang="en-US" altLang="zh-CN" sz="1800"/>
            </a:br>
            <a:r>
              <a:rPr lang="en-US" altLang="zh-CN" sz="1800"/>
              <a:t>     </a:t>
            </a:r>
            <a:r>
              <a:rPr lang="zh-CN" altLang="en-US" sz="1800"/>
              <a:t>在树中，每一次增加一个新节点，都是在其父亲节点两边加上一个字符，即新节点长度是其父亲节点长度</a:t>
            </a:r>
            <a:r>
              <a:rPr lang="en-US" altLang="zh-CN" sz="1800"/>
              <a:t>+2</a:t>
            </a:r>
            <a:r>
              <a:rPr lang="zh-CN" altLang="en-US" sz="1800"/>
              <a:t>。 开始时</a:t>
            </a:r>
            <a:r>
              <a:rPr lang="en-US" altLang="zh-CN" sz="1800"/>
              <a:t>2</a:t>
            </a:r>
            <a:r>
              <a:rPr lang="zh-CN" altLang="en-US" sz="1800"/>
              <a:t>号和</a:t>
            </a:r>
            <a:r>
              <a:rPr lang="en-US" altLang="zh-CN" sz="1800"/>
              <a:t>1</a:t>
            </a:r>
            <a:r>
              <a:rPr lang="zh-CN" altLang="en-US" sz="1800"/>
              <a:t>号点的后缀链都指向</a:t>
            </a:r>
            <a:r>
              <a:rPr lang="en-US" altLang="zh-CN" sz="1800"/>
              <a:t>1</a:t>
            </a:r>
            <a:r>
              <a:rPr lang="zh-CN" altLang="en-US" sz="1800"/>
              <a:t>号点</a:t>
            </a:r>
            <a:r>
              <a:rPr lang="zh-CN" altLang="en-US" sz="1800"/>
              <a:t>。</a:t>
            </a:r>
            <a:endParaRPr lang="en-US" altLang="zh-CN" sz="1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56310"/>
            <a:ext cx="866711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回文树可以看做是由两棵树和多条后缀链构成。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b="4444"/>
          <a:stretch>
            <a:fillRect/>
          </a:stretch>
        </p:blipFill>
        <p:spPr>
          <a:xfrm>
            <a:off x="2341245" y="2581275"/>
            <a:ext cx="4336415" cy="430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回文树的构造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655"/>
            <a:ext cx="8229600" cy="885190"/>
          </a:xfrm>
        </p:spPr>
        <p:txBody>
          <a:bodyPr/>
          <a:p>
            <a:pPr marL="0" indent="0">
              <a:buNone/>
            </a:pPr>
            <a:r>
              <a:rPr lang="zh-CN" altLang="en-US"/>
              <a:t>从空串开始，每次添加一个字符，并更新回文树。假设我们已经处理了字符串的某个前缀p，接下来要添加的字符是x。</a:t>
            </a:r>
            <a:endParaRPr lang="zh-CN" altLang="en-US"/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 b="1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73755"/>
            <a:ext cx="5714365" cy="1905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7200" y="2597785"/>
            <a:ext cx="5713730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+mn-ea"/>
                <a:ea typeface="+mn-ea"/>
                <a:sym typeface="+mn-ea"/>
              </a:rPr>
              <a:t>t</a:t>
            </a:r>
            <a:r>
              <a:rPr lang="zh-CN" altLang="en-US" sz="2400">
                <a:latin typeface="+mn-ea"/>
                <a:ea typeface="+mn-ea"/>
                <a:sym typeface="+mn-ea"/>
              </a:rPr>
              <a:t>表示前缀p的最长后缀回文串。</a:t>
            </a: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5393690"/>
            <a:ext cx="6901815" cy="848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+mn-ea"/>
                <a:ea typeface="+mn-ea"/>
              </a:rPr>
              <a:t>怎样得到新串</a:t>
            </a:r>
            <a:r>
              <a:rPr lang="en-US" altLang="zh-CN" sz="2400">
                <a:latin typeface="+mn-ea"/>
                <a:ea typeface="+mn-ea"/>
              </a:rPr>
              <a:t>p+x</a:t>
            </a:r>
            <a:r>
              <a:rPr lang="zh-CN" altLang="en-US" sz="2400">
                <a:latin typeface="+mn-ea"/>
                <a:ea typeface="+mn-ea"/>
              </a:rPr>
              <a:t>的最长后缀回文子串？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zh-CN" altLang="en-US" sz="2400">
                <a:latin typeface="+mn-ea"/>
                <a:ea typeface="+mn-ea"/>
              </a:rPr>
              <a:t>怎样更新新回文串和已有节点的关系？</a:t>
            </a:r>
            <a:endParaRPr lang="zh-CN" altLang="en-US" sz="24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回文树的构造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655"/>
            <a:ext cx="8229600" cy="1035685"/>
          </a:xfrm>
        </p:spPr>
        <p:txBody>
          <a:bodyPr/>
          <a:p>
            <a:pPr marL="0" indent="0">
              <a:buNone/>
            </a:pPr>
            <a:r>
              <a:rPr lang="zh-CN" altLang="en-US"/>
              <a:t>t对应的回文树上的某个节点，这个节点会有后缀链接边指向其他节点，然后这个节点再指向其他节点，形成一个链。</a:t>
            </a:r>
            <a:endParaRPr lang="zh-CN" altLang="en-US"/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" y="2738755"/>
            <a:ext cx="4783455" cy="31896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81955" y="2742565"/>
            <a:ext cx="3126105" cy="2312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+mn-ea"/>
                <a:ea typeface="+mn-ea"/>
              </a:rPr>
              <a:t>      </a:t>
            </a:r>
            <a:r>
              <a:rPr lang="zh-CN" altLang="en-US" sz="2400">
                <a:latin typeface="+mn-ea"/>
                <a:ea typeface="+mn-ea"/>
              </a:rPr>
              <a:t>类似</a:t>
            </a:r>
            <a:r>
              <a:rPr lang="en-US" altLang="zh-CN" sz="2400">
                <a:latin typeface="+mn-ea"/>
                <a:ea typeface="+mn-ea"/>
              </a:rPr>
              <a:t>kmp</a:t>
            </a:r>
            <a:r>
              <a:rPr lang="zh-CN" altLang="en-US" sz="2400">
                <a:latin typeface="+mn-ea"/>
                <a:ea typeface="+mn-ea"/>
              </a:rPr>
              <a:t>，一直顺着后缀边走，直到这个回文串的前一个字母也是</a:t>
            </a:r>
            <a:r>
              <a:rPr lang="en-US" altLang="zh-CN" sz="2400">
                <a:latin typeface="+mn-ea"/>
                <a:ea typeface="+mn-ea"/>
              </a:rPr>
              <a:t>x</a:t>
            </a:r>
            <a:r>
              <a:rPr lang="zh-CN" altLang="en-US" sz="2400">
                <a:latin typeface="+mn-ea"/>
                <a:ea typeface="+mn-ea"/>
              </a:rPr>
              <a:t>（图中的</a:t>
            </a:r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zh-CN" altLang="en-US" sz="2400">
                <a:latin typeface="+mn-ea"/>
                <a:ea typeface="+mn-ea"/>
              </a:rPr>
              <a:t>），</a:t>
            </a:r>
            <a:r>
              <a:rPr lang="zh-CN" sz="2400">
                <a:latin typeface="+mn-ea"/>
                <a:ea typeface="+mn-ea"/>
              </a:rPr>
              <a:t>就找到了</a:t>
            </a:r>
            <a:r>
              <a:rPr lang="en-US" altLang="zh-CN" sz="2400">
                <a:latin typeface="+mn-ea"/>
                <a:ea typeface="+mn-ea"/>
              </a:rPr>
              <a:t>p+x</a:t>
            </a:r>
            <a:r>
              <a:rPr lang="zh-CN" altLang="en-US" sz="2400">
                <a:latin typeface="+mn-ea"/>
                <a:ea typeface="+mn-ea"/>
              </a:rPr>
              <a:t>是由</a:t>
            </a:r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zh-CN" altLang="en-US" sz="2400">
                <a:latin typeface="+mn-ea"/>
                <a:ea typeface="+mn-ea"/>
              </a:rPr>
              <a:t>两边加上</a:t>
            </a:r>
            <a:r>
              <a:rPr lang="en-US" altLang="zh-CN" sz="2400">
                <a:latin typeface="+mn-ea"/>
                <a:ea typeface="+mn-ea"/>
              </a:rPr>
              <a:t>x</a:t>
            </a:r>
            <a:r>
              <a:rPr lang="zh-CN" altLang="en-US" sz="2400">
                <a:latin typeface="+mn-ea"/>
                <a:ea typeface="+mn-ea"/>
              </a:rPr>
              <a:t>得到的。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标题 8193"/>
          <p:cNvSpPr>
            <a:spLocks noGrp="1"/>
          </p:cNvSpPr>
          <p:nvPr/>
        </p:nvSpPr>
        <p:spPr>
          <a:xfrm>
            <a:off x="457200" y="680085"/>
            <a:ext cx="82296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2400">
                <a:solidFill>
                  <a:schemeClr val="bg1"/>
                </a:solidFill>
                <a:latin typeface="+mn-ea"/>
                <a:ea typeface="+mn-ea"/>
              </a:rPr>
              <a:t>更新与已有节点的关系</a:t>
            </a:r>
            <a:endParaRPr lang="zh-CN" sz="240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655"/>
            <a:ext cx="8229600" cy="17481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+mn-ea"/>
              </a:rPr>
              <a:t>如果后缀链接边已经存在，那就不需要做任何事情了。</a:t>
            </a:r>
            <a:endParaRPr lang="zh-CN" altLang="en-US">
              <a:latin typeface="+mn-ea"/>
            </a:endParaRPr>
          </a:p>
          <a:p>
            <a:pPr marL="0" indent="0">
              <a:buNone/>
            </a:pPr>
            <a:r>
              <a:rPr lang="zh-CN" altLang="en-US">
                <a:latin typeface="+mn-ea"/>
              </a:rPr>
              <a:t>否则，我们我们要找的后缀必定是有xBx的形式，其中B有可能是空串。按照前面的思路，B是前缀p的后缀回文串并且可以继续顺着后缀边走通过边可达。</a:t>
            </a:r>
            <a:endParaRPr lang="zh-CN" altLang="en-US">
              <a:latin typeface="+mn-ea"/>
            </a:endParaRPr>
          </a:p>
          <a:p>
            <a:pPr marL="0" indent="0">
              <a:buNone/>
            </a:pPr>
            <a:endParaRPr lang="zh-CN" altLang="en-US">
              <a:latin typeface="+mn-ea"/>
            </a:endParaRPr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6883" y="969645"/>
            <a:ext cx="3530600" cy="48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维护最长后缀回文串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3225165"/>
            <a:ext cx="43434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626"/>
          <a:stretch>
            <a:fillRect/>
          </a:stretch>
        </p:blipFill>
        <p:spPr>
          <a:xfrm>
            <a:off x="796925" y="2147570"/>
            <a:ext cx="7321550" cy="13366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1545" y="3663950"/>
            <a:ext cx="7544435" cy="13322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初始情况</a:t>
            </a:r>
            <a:r>
              <a:rPr lang="zh-CN" altLang="en-US" sz="2000" b="1">
                <a:latin typeface="+mn-ea"/>
                <a:ea typeface="+mn-ea"/>
              </a:rPr>
              <a:t>：</a:t>
            </a:r>
            <a:br>
              <a:rPr lang="zh-CN" altLang="en-US" sz="2000" b="1">
                <a:latin typeface="+mn-ea"/>
                <a:ea typeface="+mn-ea"/>
              </a:rPr>
            </a:br>
            <a:r>
              <a:rPr lang="zh-CN" altLang="en-US" sz="2000" b="1">
                <a:latin typeface="+mn-ea"/>
                <a:ea typeface="+mn-ea"/>
              </a:rPr>
              <a:t>我们把代表偶数长度的回文串的根节点编号为</a:t>
            </a:r>
            <a:r>
              <a:rPr lang="en-US" altLang="zh-CN" sz="2000" b="1">
                <a:latin typeface="+mn-ea"/>
                <a:ea typeface="+mn-ea"/>
              </a:rPr>
              <a:t>0</a:t>
            </a:r>
            <a:br>
              <a:rPr lang="en-US" altLang="zh-CN" sz="2000" b="1">
                <a:latin typeface="+mn-ea"/>
                <a:ea typeface="+mn-ea"/>
              </a:rPr>
            </a:br>
            <a:r>
              <a:rPr lang="zh-CN" altLang="en-US" sz="2000" b="1">
                <a:latin typeface="+mn-ea"/>
                <a:ea typeface="+mn-ea"/>
              </a:rPr>
              <a:t>代表奇数长度的回文串的树根编号为</a:t>
            </a:r>
            <a:r>
              <a:rPr lang="en-US" altLang="zh-CN" sz="2000" b="1">
                <a:latin typeface="+mn-ea"/>
                <a:ea typeface="+mn-ea"/>
              </a:rPr>
              <a:t>1</a:t>
            </a:r>
            <a:endParaRPr lang="en-US" altLang="zh-CN" sz="2000" b="1">
              <a:latin typeface="+mn-ea"/>
              <a:ea typeface="+mn-ea"/>
            </a:endParaRPr>
          </a:p>
          <a:p>
            <a:r>
              <a:rPr lang="en-US" altLang="zh-CN" sz="2000" b="1">
                <a:latin typeface="+mn-ea"/>
                <a:ea typeface="+mn-ea"/>
              </a:rPr>
              <a:t>0</a:t>
            </a:r>
            <a:r>
              <a:rPr lang="zh-CN" altLang="en-US" sz="2000" b="1">
                <a:latin typeface="+mn-ea"/>
                <a:ea typeface="+mn-ea"/>
              </a:rPr>
              <a:t>和</a:t>
            </a:r>
            <a:r>
              <a:rPr lang="en-US" altLang="zh-CN" sz="2000" b="1">
                <a:latin typeface="+mn-ea"/>
                <a:ea typeface="+mn-ea"/>
              </a:rPr>
              <a:t>1</a:t>
            </a:r>
            <a:r>
              <a:rPr lang="zh-CN" altLang="en-US" sz="2000" b="1">
                <a:latin typeface="+mn-ea"/>
                <a:ea typeface="+mn-ea"/>
              </a:rPr>
              <a:t>号点的后缀链都指向</a:t>
            </a:r>
            <a:r>
              <a:rPr lang="en-US" altLang="zh-CN" sz="2000" b="1">
                <a:latin typeface="+mn-ea"/>
                <a:ea typeface="+mn-ea"/>
              </a:rPr>
              <a:t>1</a:t>
            </a:r>
            <a:r>
              <a:rPr lang="zh-CN" altLang="en-US" sz="2000" b="1">
                <a:latin typeface="+mn-ea"/>
                <a:ea typeface="+mn-ea"/>
              </a:rPr>
              <a:t>号点。</a:t>
            </a:r>
            <a:endParaRPr lang="zh-CN" altLang="en-US" sz="2000" b="1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5970" y="4728210"/>
            <a:ext cx="7734935" cy="7226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1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'a'</a:t>
            </a:r>
            <a:r>
              <a:rPr lang="zh-CN" altLang="en-US" sz="2000" b="1">
                <a:latin typeface="+mn-ea"/>
                <a:ea typeface="+mn-ea"/>
              </a:rPr>
              <a:t>加</a:t>
            </a:r>
            <a:r>
              <a:rPr lang="zh-CN" altLang="en-US" sz="2000" b="1">
                <a:latin typeface="+mn-ea"/>
                <a:ea typeface="+mn-ea"/>
              </a:rPr>
              <a:t>进树</a:t>
            </a:r>
            <a:br>
              <a:rPr lang="zh-CN" altLang="en-US" sz="2000" b="1">
                <a:latin typeface="+mn-ea"/>
                <a:ea typeface="+mn-ea"/>
              </a:rPr>
            </a:br>
            <a:r>
              <a:rPr lang="zh-CN" altLang="en-US" sz="2000" b="1">
                <a:latin typeface="+mn-ea"/>
                <a:ea typeface="+mn-ea"/>
              </a:rPr>
              <a:t>回文串</a:t>
            </a:r>
            <a:r>
              <a:rPr lang="en-US" altLang="zh-CN" sz="2000" b="1">
                <a:latin typeface="+mn-ea"/>
                <a:ea typeface="+mn-ea"/>
              </a:rPr>
              <a:t>“a”</a:t>
            </a:r>
            <a:r>
              <a:rPr lang="zh-CN" altLang="en-US" sz="2000" b="1">
                <a:latin typeface="+mn-ea"/>
                <a:ea typeface="+mn-ea"/>
              </a:rPr>
              <a:t>的后缀回文串长度为</a:t>
            </a:r>
            <a:r>
              <a:rPr lang="en-US" altLang="zh-CN" sz="2000" b="1">
                <a:latin typeface="+mn-ea"/>
                <a:ea typeface="+mn-ea"/>
              </a:rPr>
              <a:t>0</a:t>
            </a:r>
            <a:r>
              <a:rPr lang="zh-CN" altLang="en-US" sz="2000" b="1">
                <a:latin typeface="+mn-ea"/>
                <a:ea typeface="+mn-ea"/>
              </a:rPr>
              <a:t>，所以，其后缀链指向</a:t>
            </a:r>
            <a:r>
              <a:rPr lang="en-US" altLang="zh-CN" sz="2000" b="1">
                <a:latin typeface="+mn-ea"/>
                <a:ea typeface="+mn-ea"/>
              </a:rPr>
              <a:t>0</a:t>
            </a:r>
            <a:r>
              <a:rPr lang="zh-CN" altLang="en-US" sz="2000" b="1">
                <a:latin typeface="+mn-ea"/>
                <a:ea typeface="+mn-ea"/>
              </a:rPr>
              <a:t>号点。。</a:t>
            </a:r>
            <a:endParaRPr lang="zh-CN" altLang="en-US" sz="2000" b="1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521"/>
          <a:stretch>
            <a:fillRect/>
          </a:stretch>
        </p:blipFill>
        <p:spPr>
          <a:xfrm>
            <a:off x="1234440" y="1689100"/>
            <a:ext cx="5761990" cy="26269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5970" y="4728210"/>
            <a:ext cx="7734935" cy="7226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2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'b'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br>
              <a:rPr lang="zh-CN" altLang="en-US" sz="2000" b="1">
                <a:latin typeface="+mn-ea"/>
                <a:ea typeface="+mn-ea"/>
              </a:rPr>
            </a:br>
            <a:r>
              <a:rPr lang="zh-CN" altLang="en-US" sz="2000" b="1">
                <a:latin typeface="+mn-ea"/>
                <a:ea typeface="+mn-ea"/>
              </a:rPr>
              <a:t>回文串</a:t>
            </a:r>
            <a:r>
              <a:rPr lang="en-US" altLang="zh-CN" sz="2000" b="1">
                <a:latin typeface="+mn-ea"/>
                <a:ea typeface="+mn-ea"/>
              </a:rPr>
              <a:t>“b”</a:t>
            </a:r>
            <a:r>
              <a:rPr lang="zh-CN" altLang="en-US" sz="2000" b="1">
                <a:latin typeface="+mn-ea"/>
                <a:ea typeface="+mn-ea"/>
              </a:rPr>
              <a:t>的后缀回文串长度为</a:t>
            </a:r>
            <a:r>
              <a:rPr lang="en-US" altLang="zh-CN" sz="2000" b="1">
                <a:latin typeface="+mn-ea"/>
                <a:ea typeface="+mn-ea"/>
              </a:rPr>
              <a:t>0</a:t>
            </a:r>
            <a:r>
              <a:rPr lang="zh-CN" altLang="en-US" sz="2000" b="1">
                <a:latin typeface="+mn-ea"/>
                <a:ea typeface="+mn-ea"/>
              </a:rPr>
              <a:t>，所以，其后缀链指向</a:t>
            </a:r>
            <a:r>
              <a:rPr lang="en-US" altLang="zh-CN" sz="2000" b="1">
                <a:latin typeface="+mn-ea"/>
                <a:ea typeface="+mn-ea"/>
              </a:rPr>
              <a:t>0</a:t>
            </a:r>
            <a:r>
              <a:rPr lang="zh-CN" altLang="en-US" sz="2000" b="1">
                <a:latin typeface="+mn-ea"/>
                <a:ea typeface="+mn-ea"/>
              </a:rPr>
              <a:t>号点。。</a:t>
            </a:r>
            <a:endParaRPr lang="zh-CN" altLang="en-US" sz="2000" b="1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510" y="1633220"/>
            <a:ext cx="5561965" cy="3094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5208270"/>
            <a:ext cx="773493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3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'b'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254"/>
          <a:stretch>
            <a:fillRect/>
          </a:stretch>
        </p:blipFill>
        <p:spPr>
          <a:xfrm>
            <a:off x="815975" y="1572260"/>
            <a:ext cx="7302500" cy="35166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58060" y="4172585"/>
            <a:ext cx="58991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b</a:t>
            </a:r>
            <a:r>
              <a:rPr lang="en-US" altLang="zh-CN" sz="2400" b="1">
                <a:solidFill>
                  <a:schemeClr val="tx1"/>
                </a:solidFill>
              </a:rPr>
              <a:t>b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4215" y="6132830"/>
            <a:ext cx="7734935" cy="7226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前一个字符是</a:t>
            </a:r>
            <a:r>
              <a:rPr lang="en-US" altLang="zh-CN" sz="200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的最长回文串是</a:t>
            </a:r>
            <a:r>
              <a:rPr lang="en-US" altLang="zh-CN" sz="2000">
                <a:solidFill>
                  <a:schemeClr val="bg1"/>
                </a:solidFill>
                <a:latin typeface="+mn-ea"/>
                <a:ea typeface="+mn-ea"/>
              </a:rPr>
              <a:t>0</a:t>
            </a:r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号点表示的（空）字符串。在该字符串的左右两侧都添加一个</a:t>
            </a:r>
            <a:r>
              <a:rPr lang="en-US" altLang="zh-CN" sz="2000">
                <a:solidFill>
                  <a:schemeClr val="bg1"/>
                </a:solidFill>
                <a:latin typeface="+mn-ea"/>
                <a:ea typeface="+mn-ea"/>
              </a:rPr>
              <a:t>b,</a:t>
            </a:r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将得到一个长度为</a:t>
            </a:r>
            <a:r>
              <a:rPr lang="en-US" altLang="zh-CN" sz="2000">
                <a:solidFill>
                  <a:schemeClr val="bg1"/>
                </a:solidFill>
                <a:latin typeface="+mn-ea"/>
                <a:ea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的回文串</a:t>
            </a:r>
            <a:r>
              <a:rPr lang="en-US" altLang="zh-CN" sz="2000">
                <a:solidFill>
                  <a:schemeClr val="bg1"/>
                </a:solidFill>
                <a:latin typeface="+mn-ea"/>
                <a:ea typeface="+mn-ea"/>
              </a:rPr>
              <a:t>bb</a:t>
            </a:r>
            <a:r>
              <a:rPr lang="zh-CN" altLang="en-US" sz="2000">
                <a:solidFill>
                  <a:schemeClr val="bg1"/>
                </a:solidFill>
                <a:latin typeface="+mn-ea"/>
                <a:ea typeface="+mn-ea"/>
              </a:rPr>
              <a:t>。</a:t>
            </a:r>
            <a:endParaRPr lang="zh-CN" altLang="en-US" sz="200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681"/>
          <a:stretch>
            <a:fillRect/>
          </a:stretch>
        </p:blipFill>
        <p:spPr>
          <a:xfrm>
            <a:off x="899160" y="1452880"/>
            <a:ext cx="7219315" cy="4309745"/>
          </a:xfrm>
          <a:prstGeom prst="rect">
            <a:avLst/>
          </a:prstGeom>
        </p:spPr>
      </p:pic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6765" y="5715000"/>
            <a:ext cx="773493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4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'a'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00275" y="3637280"/>
            <a:ext cx="58991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b</a:t>
            </a:r>
            <a:r>
              <a:rPr lang="en-US" altLang="zh-CN" sz="2400" b="1">
                <a:solidFill>
                  <a:schemeClr val="tx1"/>
                </a:solidFill>
              </a:rPr>
              <a:t>b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755" y="6132830"/>
            <a:ext cx="8367395" cy="840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我们找到目前最长回文串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“bb”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的左边是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'a',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于是我们让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bb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的左右两侧</a:t>
            </a:r>
            <a:b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都添加上一个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'a',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得到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“abba”,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并让该串成为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”bb”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的儿子。然后找出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“abba”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的最长回文后缀的编号，并用后缀链连接。</a:t>
            </a:r>
            <a:endParaRPr lang="zh-CN" altLang="en-US" sz="160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31085" y="515874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bba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1452880"/>
            <a:ext cx="6762115" cy="4290060"/>
          </a:xfrm>
          <a:prstGeom prst="rect">
            <a:avLst/>
          </a:prstGeom>
        </p:spPr>
      </p:pic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6765" y="5715000"/>
            <a:ext cx="773493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5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'a'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8135" y="351409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b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99105" y="4915535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bba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75765" y="350266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a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755" y="6132830"/>
            <a:ext cx="8367395" cy="596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solidFill>
                  <a:schemeClr val="bg1"/>
                </a:solidFill>
                <a:latin typeface="+mn-ea"/>
                <a:ea typeface="+mn-ea"/>
              </a:rPr>
              <a:t>添加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‘a’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的过程。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号点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——&gt;2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号点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——&gt;0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号点。</a:t>
            </a:r>
            <a:b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0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号点的左侧是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‘a',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满足查找要求，在其左右两侧添加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'a'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，得到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0</a:t>
            </a:r>
            <a:r>
              <a:rPr lang="zh-CN" altLang="en-US" sz="1600">
                <a:solidFill>
                  <a:schemeClr val="bg1"/>
                </a:solidFill>
                <a:latin typeface="+mn-ea"/>
                <a:ea typeface="+mn-ea"/>
              </a:rPr>
              <a:t>的儿子</a:t>
            </a:r>
            <a:r>
              <a:rPr lang="en-US" altLang="zh-CN" sz="1600">
                <a:solidFill>
                  <a:schemeClr val="bg1"/>
                </a:solidFill>
                <a:latin typeface="+mn-ea"/>
                <a:ea typeface="+mn-ea"/>
              </a:rPr>
              <a:t>“aa”</a:t>
            </a:r>
            <a:endParaRPr lang="en-US" altLang="zh-CN" sz="160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-474"/>
          <a:stretch>
            <a:fillRect/>
          </a:stretch>
        </p:blipFill>
        <p:spPr>
          <a:xfrm>
            <a:off x="561975" y="1452880"/>
            <a:ext cx="6629400" cy="4171315"/>
          </a:xfrm>
          <a:prstGeom prst="rect">
            <a:avLst/>
          </a:prstGeom>
        </p:spPr>
      </p:pic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6765" y="5715000"/>
            <a:ext cx="773493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6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'b'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45080" y="347980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b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96845" y="483489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bba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94460" y="346837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a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34795" y="480060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aab</a:t>
            </a:r>
            <a:endParaRPr lang="en-US" altLang="zh-CN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452880"/>
            <a:ext cx="5637530" cy="4538345"/>
          </a:xfrm>
          <a:prstGeom prst="rect">
            <a:avLst/>
          </a:prstGeom>
        </p:spPr>
      </p:pic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90140" y="5691505"/>
            <a:ext cx="403415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7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'b'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87295" y="311658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16200" y="426212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bba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94460" y="346837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a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423926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aab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81175" y="533527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baabb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1055" y="1452880"/>
            <a:ext cx="5322570" cy="5417820"/>
          </a:xfrm>
          <a:prstGeom prst="rect">
            <a:avLst/>
          </a:prstGeom>
        </p:spPr>
      </p:pic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回文树的结构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457200" y="969645"/>
            <a:ext cx="7661275" cy="48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将字符串S = 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“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abbaabba</a:t>
            </a:r>
            <a:r>
              <a:rPr lang="en-US" altLang="zh-CN" sz="2400">
                <a:solidFill>
                  <a:schemeClr val="bg1"/>
                </a:solidFill>
                <a:latin typeface="Arial" charset="0"/>
                <a:ea typeface="微软雅黑" charset="-122"/>
              </a:rPr>
              <a:t>” </a:t>
            </a:r>
            <a:r>
              <a:rPr lang="zh-CN" altLang="en-US" sz="2400">
                <a:solidFill>
                  <a:schemeClr val="bg1"/>
                </a:solidFill>
                <a:latin typeface="Arial" charset="0"/>
                <a:ea typeface="微软雅黑" charset="-122"/>
              </a:rPr>
              <a:t>构造成回文树</a:t>
            </a:r>
            <a:endParaRPr lang="zh-CN" altLang="en-US" sz="2400">
              <a:solidFill>
                <a:schemeClr val="bg1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54425" y="6452235"/>
            <a:ext cx="403415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latin typeface="+mn-ea"/>
                <a:ea typeface="+mn-ea"/>
              </a:rPr>
              <a:t>添加</a:t>
            </a:r>
            <a:r>
              <a:rPr lang="en-US" altLang="zh-CN" sz="2000" b="1">
                <a:latin typeface="+mn-ea"/>
                <a:ea typeface="+mn-ea"/>
              </a:rPr>
              <a:t>S</a:t>
            </a:r>
            <a:r>
              <a:rPr lang="zh-CN" altLang="en-US" sz="2000" b="1">
                <a:latin typeface="+mn-ea"/>
                <a:ea typeface="+mn-ea"/>
              </a:rPr>
              <a:t>的第</a:t>
            </a:r>
            <a:r>
              <a:rPr lang="en-US" altLang="zh-CN" sz="2000" b="1">
                <a:latin typeface="+mn-ea"/>
                <a:ea typeface="+mn-ea"/>
              </a:rPr>
              <a:t>7</a:t>
            </a:r>
            <a:r>
              <a:rPr lang="zh-CN" altLang="en-US" sz="2000" b="1">
                <a:latin typeface="+mn-ea"/>
                <a:ea typeface="+mn-ea"/>
              </a:rPr>
              <a:t>个</a:t>
            </a:r>
            <a:r>
              <a:rPr lang="zh-CN" sz="2000" b="1">
                <a:latin typeface="+mn-ea"/>
                <a:ea typeface="+mn-ea"/>
              </a:rPr>
              <a:t>字符</a:t>
            </a:r>
            <a:r>
              <a:rPr lang="en-US" altLang="zh-CN" sz="2000" b="1">
                <a:latin typeface="+mn-ea"/>
                <a:ea typeface="+mn-ea"/>
              </a:rPr>
              <a:t>'a'</a:t>
            </a:r>
            <a:r>
              <a:rPr lang="zh-CN" altLang="en-US" sz="2000" b="1">
                <a:latin typeface="+mn-ea"/>
                <a:ea typeface="+mn-ea"/>
              </a:rPr>
              <a:t>加进树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69820" y="299974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b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98725" y="408686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bba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66215" y="298831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a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60830" y="4067810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aab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75130" y="5102225"/>
            <a:ext cx="835025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baabb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63700" y="6187440"/>
            <a:ext cx="975360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baabba</a:t>
            </a:r>
            <a:endParaRPr lang="en-US" altLang="zh-CN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代码实现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7200" y="1557655"/>
            <a:ext cx="7701915" cy="202501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+mn-ea"/>
              </a:rPr>
              <a:t>节点和</a:t>
            </a:r>
            <a:r>
              <a:rPr lang="en-US" altLang="zh-CN">
                <a:latin typeface="+mn-ea"/>
              </a:rPr>
              <a:t>trie</a:t>
            </a:r>
            <a:r>
              <a:rPr lang="zh-CN" altLang="en-US">
                <a:latin typeface="+mn-ea"/>
              </a:rPr>
              <a:t>类似，存储三个信息：该回文串的长度、后缀连接边、可以加字符到达的节点。</a:t>
            </a:r>
            <a:endParaRPr lang="zh-CN" altLang="en-US">
              <a:latin typeface="+mn-ea"/>
            </a:endParaRPr>
          </a:p>
          <a:p>
            <a:pPr marL="0" indent="0">
              <a:buNone/>
            </a:pPr>
            <a:r>
              <a:rPr lang="zh-CN" altLang="en-US" sz="1600" b="1">
                <a:latin typeface="+mn-ea"/>
              </a:rPr>
              <a:t>struct node{  </a:t>
            </a:r>
            <a:endParaRPr lang="zh-CN" altLang="en-US" sz="1600" b="1">
              <a:latin typeface="+mn-ea"/>
            </a:endParaRPr>
          </a:p>
          <a:p>
            <a:pPr marL="0" indent="0">
              <a:buNone/>
            </a:pPr>
            <a:r>
              <a:rPr lang="zh-CN" altLang="en-US" sz="1600" b="1">
                <a:latin typeface="+mn-ea"/>
              </a:rPr>
              <a:t>    int len,suffix;  </a:t>
            </a:r>
            <a:r>
              <a:rPr lang="en-US" altLang="zh-CN" sz="1600" b="1">
                <a:latin typeface="+mn-ea"/>
              </a:rPr>
              <a:t>//</a:t>
            </a:r>
            <a:r>
              <a:rPr lang="zh-CN" altLang="en-US" sz="1600" b="1">
                <a:latin typeface="+mn-ea"/>
              </a:rPr>
              <a:t>该节点表示的回文串的长度和后缀链指向的节点编号</a:t>
            </a:r>
            <a:endParaRPr lang="zh-CN" altLang="en-US" sz="1600" b="1">
              <a:latin typeface="+mn-ea"/>
            </a:endParaRPr>
          </a:p>
          <a:p>
            <a:pPr marL="0" indent="0">
              <a:buNone/>
            </a:pPr>
            <a:r>
              <a:rPr lang="zh-CN" altLang="en-US" sz="1600" b="1">
                <a:latin typeface="+mn-ea"/>
              </a:rPr>
              <a:t>    int Next[26];   </a:t>
            </a:r>
            <a:endParaRPr lang="zh-CN" altLang="en-US" sz="1600" b="1">
              <a:latin typeface="+mn-ea"/>
            </a:endParaRPr>
          </a:p>
          <a:p>
            <a:pPr marL="0" indent="0">
              <a:buNone/>
            </a:pPr>
            <a:r>
              <a:rPr lang="zh-CN" altLang="en-US" sz="1600" b="1">
                <a:latin typeface="+mn-ea"/>
              </a:rPr>
              <a:t>}; </a:t>
            </a:r>
            <a:endParaRPr lang="zh-CN" altLang="en-US" sz="1600" b="1">
              <a:latin typeface="+mn-ea"/>
            </a:endParaRPr>
          </a:p>
          <a:p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8770" y="3735705"/>
            <a:ext cx="7840345" cy="2403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+mn-ea"/>
                <a:ea typeface="+mn-ea"/>
              </a:rPr>
              <a:t>初始化：添加两个根</a:t>
            </a:r>
            <a:endParaRPr lang="zh-CN" altLang="en-US"/>
          </a:p>
          <a:p>
            <a:r>
              <a:rPr lang="zh-CN" altLang="en-US" b="1"/>
              <a:t>void init(){  </a:t>
            </a:r>
            <a:endParaRPr lang="zh-CN" altLang="en-US" b="1"/>
          </a:p>
          <a:p>
            <a:r>
              <a:rPr lang="zh-CN" altLang="en-US" b="1"/>
              <a:t>    memset(s,0,sizeof(s));  </a:t>
            </a:r>
            <a:endParaRPr lang="zh-CN" altLang="en-US" b="1"/>
          </a:p>
          <a:p>
            <a:r>
              <a:rPr lang="zh-CN" altLang="en-US" b="1"/>
              <a:t>    tot=max_suffix=2; len=0;  </a:t>
            </a:r>
            <a:endParaRPr lang="zh-CN" altLang="en-US" b="1"/>
          </a:p>
          <a:p>
            <a:r>
              <a:rPr lang="zh-CN" altLang="en-US" b="1"/>
              <a:t>    tree[1].len=-1;  //根节点1，长度为-1，可以向下构成单字母的串   </a:t>
            </a:r>
            <a:endParaRPr lang="zh-CN" altLang="en-US" b="1"/>
          </a:p>
          <a:p>
            <a:r>
              <a:rPr lang="zh-CN" altLang="en-US" b="1"/>
              <a:t>    tree[2].len=0;   //根节点2，长度为0。   </a:t>
            </a:r>
            <a:endParaRPr lang="zh-CN" altLang="en-US" b="1"/>
          </a:p>
          <a:p>
            <a:r>
              <a:rPr lang="zh-CN" altLang="en-US" b="1"/>
              <a:t>    tree[2].suffix=tree[1].suffix=1;  </a:t>
            </a:r>
            <a:endParaRPr lang="zh-CN" altLang="en-US" b="1"/>
          </a:p>
          <a:p>
            <a:r>
              <a:rPr lang="zh-CN" altLang="en-US" b="1"/>
              <a:t>}  </a:t>
            </a:r>
            <a:endParaRPr lang="zh-CN" altLang="en-US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代码实现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637540" y="3218815"/>
            <a:ext cx="7701915" cy="2447290"/>
          </a:xfrm>
        </p:spPr>
        <p:txBody>
          <a:bodyPr/>
          <a:p>
            <a:pPr marL="0" indent="0">
              <a:buNone/>
            </a:pP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int Match(int x){   //匹配操作，当前讨论到字符串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s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的第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pos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个字符</a:t>
            </a:r>
            <a:endParaRPr lang="zh-CN" altLang="en-US" sz="1800" b="1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	while(s[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pos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]!=s[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pos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-tree[x].len-1]) x=tree[x].suffix;</a:t>
            </a:r>
            <a:endParaRPr lang="zh-CN" altLang="en-US" sz="1800" b="1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	return x;</a:t>
            </a:r>
            <a:endParaRPr lang="zh-CN" altLang="en-US" sz="1800" b="1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}</a:t>
            </a:r>
            <a:endParaRPr lang="zh-CN" altLang="en-US" sz="1800" b="1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在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号节点表示的回文串及其子串中，查找前一个字母与</a:t>
            </a:r>
            <a:r>
              <a:rPr lang="en-US" altLang="zh-CN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s[len]</a:t>
            </a:r>
            <a:r>
              <a:rPr lang="zh-CN" altLang="en-US" sz="1800" b="1">
                <a:solidFill>
                  <a:schemeClr val="accent1">
                    <a:lumMod val="50000"/>
                  </a:schemeClr>
                </a:solidFill>
                <a:latin typeface="+mn-ea"/>
              </a:rPr>
              <a:t>相同的回文串，并返回其编号。</a:t>
            </a:r>
            <a:endParaRPr lang="zh-CN" altLang="en-US" sz="1800" b="1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1800" b="1">
                <a:latin typeface="+mn-ea"/>
              </a:rPr>
              <a:t>其原理类似于</a:t>
            </a:r>
            <a:r>
              <a:rPr lang="en-US" altLang="zh-CN" sz="1800" b="1">
                <a:latin typeface="+mn-ea"/>
              </a:rPr>
              <a:t>kmp</a:t>
            </a:r>
            <a:endParaRPr lang="en-US" altLang="zh-CN" sz="1800" b="1">
              <a:latin typeface="+mn-ea"/>
            </a:endParaRPr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1975" y="838200"/>
            <a:ext cx="398081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</a:rPr>
              <a:t>Part  1  </a:t>
            </a:r>
            <a:r>
              <a:rPr lang="zh-CN" altLang="en-US" sz="2800">
                <a:solidFill>
                  <a:schemeClr val="bg1"/>
                </a:solidFill>
                <a:latin typeface="+mj-ea"/>
                <a:ea typeface="+mj-ea"/>
              </a:rPr>
              <a:t>匹配操作</a:t>
            </a:r>
            <a:endParaRPr lang="zh-CN" altLang="en-US" sz="28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5315" y="1674495"/>
            <a:ext cx="7544435" cy="1027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+mn-ea"/>
                <a:ea typeface="+mn-ea"/>
              </a:rPr>
              <a:t>之前的讨论中提到了一种匹配的操作：</a:t>
            </a:r>
            <a:endParaRPr lang="zh-CN" altLang="en-US" sz="2000" b="1">
              <a:latin typeface="+mn-ea"/>
              <a:ea typeface="+mn-ea"/>
            </a:endParaRPr>
          </a:p>
          <a:p>
            <a:r>
              <a:rPr lang="zh-CN" altLang="en-US" sz="2000" b="1">
                <a:latin typeface="+mn-ea"/>
                <a:ea typeface="+mn-ea"/>
                <a:sym typeface="+mn-ea"/>
              </a:rPr>
              <a:t>一直顺着后缀边走，直到找到一个回文串的前一个字母也是</a:t>
            </a:r>
            <a:r>
              <a:rPr lang="en-US" altLang="zh-CN" sz="2000" b="1">
                <a:latin typeface="+mn-ea"/>
                <a:ea typeface="+mn-ea"/>
                <a:sym typeface="+mn-ea"/>
              </a:rPr>
              <a:t>x</a:t>
            </a:r>
            <a:endParaRPr lang="en-US" altLang="zh-CN" sz="2000" b="1">
              <a:latin typeface="+mn-ea"/>
              <a:ea typeface="+mn-ea"/>
              <a:sym typeface="+mn-ea"/>
            </a:endParaRPr>
          </a:p>
          <a:p>
            <a:r>
              <a:rPr lang="zh-CN" altLang="en-US" sz="2000" b="1">
                <a:latin typeface="+mn-ea"/>
                <a:ea typeface="+mn-ea"/>
              </a:rPr>
              <a:t>这是很重要的一个操作，代码如下：</a:t>
            </a:r>
            <a:endParaRPr lang="zh-CN" altLang="en-US" sz="2000" b="1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代码实现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100965" y="600710"/>
            <a:ext cx="8586470" cy="6073140"/>
          </a:xfrm>
        </p:spPr>
        <p:txBody>
          <a:bodyPr/>
          <a:p>
            <a:pPr marL="0" indent="0">
              <a:buNone/>
            </a:pPr>
            <a:endParaRPr lang="zh-CN" altLang="en-US">
              <a:latin typeface="+mn-ea"/>
            </a:endParaRPr>
          </a:p>
          <a:p>
            <a:pPr marL="0" indent="0">
              <a:buNone/>
            </a:pP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bool add_letter(char x){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s[++</a:t>
            </a:r>
            <a:r>
              <a:rPr lang="en-US" altLang="zh-CN" sz="1600" b="1"/>
              <a:t>pos</a:t>
            </a:r>
            <a:r>
              <a:rPr lang="zh-CN" altLang="en-US" sz="1600" b="1"/>
              <a:t>]=x;    int cur,id=idx(x);                 </a:t>
            </a:r>
            <a:r>
              <a:rPr lang="en-US" altLang="zh-CN" sz="1600" b="1"/>
              <a:t>//idx(x)</a:t>
            </a:r>
            <a:r>
              <a:rPr lang="zh-CN" altLang="en-US" sz="1600" b="1"/>
              <a:t>将字符</a:t>
            </a:r>
            <a:r>
              <a:rPr lang="en-US" altLang="zh-CN" sz="1600" b="1"/>
              <a:t>x</a:t>
            </a:r>
            <a:r>
              <a:rPr lang="zh-CN" altLang="en-US" sz="1600" b="1"/>
              <a:t>转换成对应数字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cur=Match(max_suffix);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if(tree[cur].Next[id]){   //已经存在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    max_suffix=tree[cur].Next[id];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    return false;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}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max_suffix= ++tot;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tree[cur].Next[id]= tot;  </a:t>
            </a:r>
            <a:r>
              <a:rPr lang="zh-CN" altLang="en-US" sz="1600" b="1">
                <a:sym typeface="+mn-ea"/>
              </a:rPr>
              <a:t>                                       //添加新节点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tree[tot].len=tree[cur].len+2;                               //处理新节点的suffix边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if(tree[tot].len==1){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    tree[tot].suffix=2;                                             /</a:t>
            </a:r>
            <a:r>
              <a:rPr lang="en-US" altLang="zh-CN" sz="1600" b="1"/>
              <a:t>/</a:t>
            </a:r>
            <a:r>
              <a:rPr lang="zh-CN" altLang="en-US" sz="1600" b="1"/>
              <a:t> 单独的字符，后缀链指向空串，</a:t>
            </a:r>
            <a:r>
              <a:rPr lang="en-US" altLang="zh-CN" sz="1600" b="1"/>
              <a:t>2</a:t>
            </a:r>
            <a:r>
              <a:rPr lang="zh-CN" altLang="en-US" sz="1600" b="1"/>
              <a:t>号串</a:t>
            </a:r>
            <a:r>
              <a:rPr lang="zh-CN" altLang="en-US" sz="1600" b="1"/>
              <a:t>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    return true;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}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cur=Match(tree[cur].suffix);  //再次查找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tree[tot].suffix=tree[cur].Next[id];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    return true;   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}  </a:t>
            </a:r>
            <a:endParaRPr lang="zh-CN" altLang="en-US" sz="1600" b="1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1155" y="838200"/>
            <a:ext cx="235902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</a:rPr>
              <a:t>Part  2 </a:t>
            </a:r>
            <a:r>
              <a:rPr lang="zh-CN" altLang="en-US" sz="2800">
                <a:solidFill>
                  <a:schemeClr val="bg1"/>
                </a:solidFill>
                <a:latin typeface="+mj-ea"/>
                <a:ea typeface="+mj-ea"/>
              </a:rPr>
              <a:t>建点</a:t>
            </a:r>
            <a:endParaRPr lang="zh-CN" altLang="en-US" sz="28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4490" y="1740535"/>
            <a:ext cx="8109585" cy="3648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微软雅黑" charset="0"/>
                <a:ea typeface="微软雅黑" charset="0"/>
              </a:rPr>
              <a:t>时间复杂度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endParaRPr lang="zh-CN" altLang="en-US" sz="2400">
              <a:latin typeface="微软雅黑" charset="0"/>
              <a:ea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</a:rPr>
              <a:t>注意到，在从左到右扫描字符串的过程中，最长后缀回文串的左边界只可能向右移动，并且最多移动n次，与后缀链接边相对应的左边界也只可能向右移动，并且最多移动n词。因此总的时间复杂度是O(|S|)或者说O(N)的。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endParaRPr lang="zh-CN" altLang="en-US" sz="2400">
              <a:latin typeface="微软雅黑" charset="0"/>
              <a:ea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</a:rPr>
              <a:t>空间复杂度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endParaRPr lang="zh-CN" altLang="en-US" sz="2400">
              <a:latin typeface="微软雅黑" charset="0"/>
              <a:ea typeface="微软雅黑" charset="0"/>
            </a:endParaRPr>
          </a:p>
          <a:p>
            <a:r>
              <a:rPr lang="zh-CN" altLang="en-US" sz="2000">
                <a:latin typeface="微软雅黑" charset="0"/>
                <a:ea typeface="微软雅黑" charset="0"/>
              </a:rPr>
              <a:t>空间复杂度为O(|alphbet|∗N)，还有其他几个数组，可以忽略掉。对于小写英文字母表|alphabet|=26。</a:t>
            </a:r>
            <a:endParaRPr lang="zh-CN" altLang="en-US" sz="20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来搞道题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351155" y="838200"/>
            <a:ext cx="7701915" cy="6073140"/>
          </a:xfrm>
        </p:spPr>
        <p:txBody>
          <a:bodyPr/>
          <a:p>
            <a:pPr marL="0" indent="0">
              <a:buNone/>
            </a:pPr>
            <a:endParaRPr lang="zh-CN" altLang="en-US" sz="1800" b="1"/>
          </a:p>
          <a:p>
            <a:pPr marL="0" indent="0">
              <a:buNone/>
            </a:pP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           输入长度为n的串S，求S的最长双回文子串T,即可将T分为两部分X，Y，（|X|,|Y|≥1）且X和Y都是回文串。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Input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一行由小写英文字母组成的字符串S。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Output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一行一个整数，表示最长双回文子串的长度。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Sample Input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baacaabbacabb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Sample Output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12</a:t>
            </a:r>
            <a:endParaRPr lang="zh-CN" altLang="en-US" sz="1800" b="1"/>
          </a:p>
          <a:p>
            <a:pPr marL="0" indent="0">
              <a:buNone/>
            </a:pP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样例说明</a:t>
            </a: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从第二个字符开始的字符串aacaabbacabb可分为aacaa与bbacabb两部分，且两者都是回文串。</a:t>
            </a:r>
            <a:endParaRPr lang="zh-CN" altLang="en-US" sz="1800" b="1"/>
          </a:p>
          <a:p>
            <a:pPr marL="0" indent="0">
              <a:buNone/>
            </a:pPr>
            <a:endParaRPr lang="zh-CN" altLang="en-US" sz="1800" b="1"/>
          </a:p>
          <a:p>
            <a:pPr marL="0" indent="0">
              <a:buNone/>
            </a:pPr>
            <a:r>
              <a:rPr lang="zh-CN" altLang="en-US" sz="1800" b="1"/>
              <a:t>对于100%的数据，2≤|S|≤10^5</a:t>
            </a:r>
            <a:endParaRPr lang="zh-CN" altLang="en-US" sz="1800" b="1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1155" y="838200"/>
            <a:ext cx="555053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800">
                <a:solidFill>
                  <a:schemeClr val="bg1"/>
                </a:solidFill>
                <a:latin typeface="+mj-ea"/>
                <a:ea typeface="+mj-ea"/>
              </a:rPr>
              <a:t> BZOJ 2565 最长双回文串</a:t>
            </a:r>
            <a:endParaRPr sz="28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457200" y="117475"/>
            <a:ext cx="8229600" cy="720725"/>
          </a:xfrm>
        </p:spPr>
        <p:txBody>
          <a:bodyPr anchor="ctr"/>
          <a:p>
            <a:r>
              <a:rPr lang="zh-CN" sz="3200">
                <a:solidFill>
                  <a:schemeClr val="bg1"/>
                </a:solidFill>
              </a:rPr>
              <a:t>一起来搞</a:t>
            </a:r>
            <a:endParaRPr lang="zh-CN" sz="3200">
              <a:solidFill>
                <a:schemeClr val="bg1"/>
              </a:solidFill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34925" y="1562735"/>
            <a:ext cx="8967470" cy="1880870"/>
          </a:xfrm>
        </p:spPr>
        <p:txBody>
          <a:bodyPr/>
          <a:p>
            <a:pPr marL="0" indent="0">
              <a:buNone/>
            </a:pPr>
            <a:r>
              <a:rPr lang="zh-CN" altLang="en-US" sz="2000" b="1"/>
              <a:t>不妨讨论从哪个地方分开：</a:t>
            </a:r>
            <a:endParaRPr lang="zh-CN" altLang="en-US" sz="2000" b="1"/>
          </a:p>
          <a:p>
            <a:pPr marL="0" indent="0">
              <a:buNone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</a:rPr>
              <a:t>L[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</a:rPr>
              <a:t>i]</a:t>
            </a: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</a:rPr>
              <a:t>表示s[1] s[2]......s[i]    的最长回文后缀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</a:rPr>
              <a:t>R[i]表示s[i] s[i+1]......s[n]的最长回文前缀   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000" b="1"/>
          </a:p>
          <a:p>
            <a:pPr marL="0" indent="0">
              <a:buNone/>
            </a:pPr>
            <a:r>
              <a:rPr lang="en-US" altLang="zh-CN" sz="2000" b="1"/>
              <a:t>那么所求的答案就是   L[i] + R[i+1] 的最大值  ，其中（1&lt;=i&lt;=n-1）。</a:t>
            </a:r>
            <a:endParaRPr lang="zh-CN" altLang="en-US" sz="2000" b="1"/>
          </a:p>
        </p:txBody>
      </p:sp>
      <p:sp>
        <p:nvSpPr>
          <p:cNvPr id="8196" name="直接连接符 8195"/>
          <p:cNvSpPr/>
          <p:nvPr/>
        </p:nvSpPr>
        <p:spPr>
          <a:xfrm>
            <a:off x="561975" y="838200"/>
            <a:ext cx="7777163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1155" y="838200"/>
            <a:ext cx="235902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>
                <a:solidFill>
                  <a:schemeClr val="bg1"/>
                </a:solidFill>
                <a:latin typeface="+mj-ea"/>
                <a:ea typeface="+mj-ea"/>
              </a:rPr>
              <a:t>问题分析</a:t>
            </a:r>
            <a:endParaRPr lang="zh-CN" sz="28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25" y="3443605"/>
            <a:ext cx="849312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000" b="1">
                <a:latin typeface="+mn-ea"/>
                <a:ea typeface="+mn-ea"/>
                <a:sym typeface="+mn-ea"/>
              </a:rPr>
              <a:t>显然</a:t>
            </a:r>
            <a:r>
              <a:rPr lang="en-US" altLang="zh-CN" sz="2000" b="1">
                <a:latin typeface="+mn-ea"/>
                <a:ea typeface="+mn-ea"/>
                <a:sym typeface="+mn-ea"/>
              </a:rPr>
              <a:t>L[i]</a:t>
            </a:r>
            <a:r>
              <a:rPr lang="zh-CN" altLang="en-US" sz="2000" b="1">
                <a:latin typeface="+mn-ea"/>
                <a:ea typeface="+mn-ea"/>
                <a:sym typeface="+mn-ea"/>
              </a:rPr>
              <a:t>就是回文树的功能之一，每加一个字母进去，记下最长回文后缀的长度即可。</a:t>
            </a:r>
            <a:endParaRPr lang="zh-CN" altLang="en-US" sz="2000" b="1"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2000" b="1">
                <a:latin typeface="+mn-ea"/>
                <a:ea typeface="+mn-ea"/>
                <a:sym typeface="+mn-ea"/>
              </a:rPr>
              <a:t>怎么求</a:t>
            </a:r>
            <a:r>
              <a:rPr lang="en-US" altLang="zh-CN" sz="2000" b="1">
                <a:latin typeface="+mn-ea"/>
                <a:ea typeface="+mn-ea"/>
                <a:sym typeface="+mn-ea"/>
              </a:rPr>
              <a:t>R[i]?</a:t>
            </a:r>
            <a:endParaRPr lang="zh-CN" altLang="en-US" sz="2000" b="1">
              <a:latin typeface="+mn-ea"/>
              <a:ea typeface="+mn-ea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7200" y="4632325"/>
            <a:ext cx="7987665" cy="848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将字符串倒过来建一遍树，每加一个字母记下最长回文后缀的长度！</a:t>
            </a:r>
            <a:endParaRPr lang="zh-CN" altLang="en-US" sz="2400" b="1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内容占位符 9217"/>
          <p:cNvSpPr txBox="1"/>
          <p:nvPr>
            <p:ph sz="half" idx="2"/>
          </p:nvPr>
        </p:nvSpPr>
        <p:spPr>
          <a:xfrm>
            <a:off x="456883" y="784225"/>
            <a:ext cx="894080" cy="548640"/>
          </a:xfrm>
        </p:spPr>
        <p:txBody>
          <a:bodyPr wrap="none">
            <a:spAutoFit/>
          </a:bodyPr>
          <a:p>
            <a:pPr eaLnBrk="1" hangingPunct="1">
              <a:buNone/>
            </a:pPr>
            <a:r>
              <a:rPr lang="zh-CN" altLang="en-US" sz="2800" kern="1200">
                <a:solidFill>
                  <a:schemeClr val="folHlink"/>
                </a:solidFill>
                <a:ea typeface="微软雅黑" charset="-122"/>
              </a:rPr>
              <a:t>习题</a:t>
            </a:r>
            <a:endParaRPr lang="zh-CN" altLang="en-US" sz="2800" kern="1200">
              <a:solidFill>
                <a:schemeClr val="folHlink"/>
              </a:solidFill>
              <a:ea typeface="微软雅黑" charset="-122"/>
            </a:endParaRPr>
          </a:p>
        </p:txBody>
      </p:sp>
      <p:sp>
        <p:nvSpPr>
          <p:cNvPr id="2" name="内容占位符 1"/>
          <p:cNvSpPr/>
          <p:nvPr>
            <p:ph sz="half" idx="1"/>
          </p:nvPr>
        </p:nvSpPr>
        <p:spPr>
          <a:xfrm>
            <a:off x="312420" y="1680210"/>
            <a:ext cx="9255125" cy="3497580"/>
          </a:xfrm>
        </p:spPr>
        <p:txBody>
          <a:bodyPr/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</a:rPr>
              <a:t>BZOJ 2565 最长双回文串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</a:rPr>
              <a:t>模板题 ural1960. Palindromes and Super  Abilities </a:t>
            </a:r>
            <a:endParaRPr lang="zh-CN" sz="2800" b="1">
              <a:solidFill>
                <a:schemeClr val="accent1">
                  <a:lumMod val="50000"/>
                </a:schemeClr>
              </a:solidFill>
              <a:sym typeface="+mn-ea"/>
            </a:endParaRPr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HDU 5394 Trie in Tina Town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文本框 10241"/>
          <p:cNvSpPr txBox="1"/>
          <p:nvPr/>
        </p:nvSpPr>
        <p:spPr>
          <a:xfrm>
            <a:off x="2370138" y="2773363"/>
            <a:ext cx="3870325" cy="10969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latinLnBrk="0" hangingPunct="1"/>
            <a:r>
              <a:rPr lang="zh-CN" altLang="en-US" sz="6600" b="1">
                <a:solidFill>
                  <a:schemeClr val="folHlink"/>
                </a:solidFill>
                <a:latin typeface="Arial" charset="0"/>
                <a:ea typeface="微软雅黑" charset="-122"/>
              </a:rPr>
              <a:t>谢谢聆听</a:t>
            </a:r>
            <a:endParaRPr lang="zh-CN" altLang="en-US" sz="6600" b="1">
              <a:solidFill>
                <a:schemeClr val="folHlink"/>
              </a:solidFill>
              <a:latin typeface="Arial" charset="0"/>
              <a:ea typeface="微软雅黑" charset="-122"/>
            </a:endParaRPr>
          </a:p>
        </p:txBody>
      </p:sp>
      <p:sp>
        <p:nvSpPr>
          <p:cNvPr id="10243" name="直接连接符 10242"/>
          <p:cNvSpPr/>
          <p:nvPr/>
        </p:nvSpPr>
        <p:spPr>
          <a:xfrm flipH="1">
            <a:off x="2154238" y="3870325"/>
            <a:ext cx="4913312" cy="0"/>
          </a:xfrm>
          <a:prstGeom prst="line">
            <a:avLst/>
          </a:prstGeom>
          <a:ln w="254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0244" name="组合 10243"/>
          <p:cNvGrpSpPr/>
          <p:nvPr/>
        </p:nvGrpSpPr>
        <p:grpSpPr>
          <a:xfrm>
            <a:off x="5827713" y="1849438"/>
            <a:ext cx="1239837" cy="2020887"/>
            <a:chOff x="0" y="0"/>
            <a:chExt cx="1952" cy="3182"/>
          </a:xfrm>
        </p:grpSpPr>
        <p:grpSp>
          <p:nvGrpSpPr>
            <p:cNvPr id="10245" name="组合 10244"/>
            <p:cNvGrpSpPr/>
            <p:nvPr/>
          </p:nvGrpSpPr>
          <p:grpSpPr>
            <a:xfrm>
              <a:off x="0" y="0"/>
              <a:ext cx="1952" cy="3182"/>
              <a:chOff x="0" y="0"/>
              <a:chExt cx="2398" cy="3904"/>
            </a:xfrm>
          </p:grpSpPr>
          <p:sp>
            <p:nvSpPr>
              <p:cNvPr id="10246" name="椭圆 10245"/>
              <p:cNvSpPr/>
              <p:nvPr/>
            </p:nvSpPr>
            <p:spPr>
              <a:xfrm>
                <a:off x="578" y="0"/>
                <a:ext cx="1247" cy="1247"/>
              </a:xfrm>
              <a:prstGeom prst="ellipse">
                <a:avLst/>
              </a:prstGeom>
              <a:solidFill>
                <a:srgbClr val="99CC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47" name="椭圆 10246"/>
              <p:cNvSpPr/>
              <p:nvPr/>
            </p:nvSpPr>
            <p:spPr>
              <a:xfrm>
                <a:off x="804" y="1021"/>
                <a:ext cx="793" cy="2155"/>
              </a:xfrm>
              <a:prstGeom prst="ellipse">
                <a:avLst/>
              </a:prstGeom>
              <a:solidFill>
                <a:srgbClr val="99CC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48" name="椭圆 10247"/>
              <p:cNvSpPr/>
              <p:nvPr/>
            </p:nvSpPr>
            <p:spPr>
              <a:xfrm>
                <a:off x="2058" y="1322"/>
                <a:ext cx="340" cy="340"/>
              </a:xfrm>
              <a:prstGeom prst="ellipse">
                <a:avLst/>
              </a:prstGeom>
              <a:solidFill>
                <a:srgbClr val="99CC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49" name="曲线 235"/>
              <p:cNvSpPr/>
              <p:nvPr/>
            </p:nvSpPr>
            <p:spPr>
              <a:xfrm rot="20520000">
                <a:off x="1330" y="1563"/>
                <a:ext cx="898" cy="737"/>
              </a:xfrm>
              <a:custGeom>
                <a:avLst/>
                <a:gdLst/>
                <a:ahLst/>
                <a:cxnLst/>
                <a:pathLst>
                  <a:path w="21600" h="21600">
                    <a:moveTo>
                      <a:pt x="0" y="21600"/>
                    </a:moveTo>
                    <a:cubicBezTo>
                      <a:pt x="1394" y="18084"/>
                      <a:pt x="3963" y="7704"/>
                      <a:pt x="8286" y="3852"/>
                    </a:cubicBezTo>
                    <a:cubicBezTo>
                      <a:pt x="12609" y="0"/>
                      <a:pt x="18975" y="1530"/>
                      <a:pt x="21600" y="2321"/>
                    </a:cubicBez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0" name="曲线 238"/>
              <p:cNvSpPr/>
              <p:nvPr/>
            </p:nvSpPr>
            <p:spPr>
              <a:xfrm rot="660000">
                <a:off x="170" y="1179"/>
                <a:ext cx="964" cy="613"/>
              </a:xfrm>
              <a:custGeom>
                <a:avLst/>
                <a:gdLst/>
                <a:ahLst/>
                <a:cxnLst/>
                <a:pathLst>
                  <a:path w="21600" h="21600">
                    <a:moveTo>
                      <a:pt x="0" y="0"/>
                    </a:moveTo>
                    <a:cubicBezTo>
                      <a:pt x="4212" y="3699"/>
                      <a:pt x="16289" y="11134"/>
                      <a:pt x="21600" y="21600"/>
                    </a:cubicBez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1" name="椭圆 10250"/>
              <p:cNvSpPr/>
              <p:nvPr/>
            </p:nvSpPr>
            <p:spPr>
              <a:xfrm>
                <a:off x="0" y="881"/>
                <a:ext cx="340" cy="340"/>
              </a:xfrm>
              <a:prstGeom prst="ellipse">
                <a:avLst/>
              </a:prstGeom>
              <a:solidFill>
                <a:srgbClr val="99CC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2" name="直接连接符 10251"/>
              <p:cNvSpPr/>
              <p:nvPr/>
            </p:nvSpPr>
            <p:spPr>
              <a:xfrm flipH="1">
                <a:off x="918" y="3150"/>
                <a:ext cx="216" cy="453"/>
              </a:xfrm>
              <a:prstGeom prst="line">
                <a:avLst/>
              </a:prstGeom>
              <a:ln w="508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3" name="直接连接符 10252"/>
              <p:cNvSpPr/>
              <p:nvPr/>
            </p:nvSpPr>
            <p:spPr>
              <a:xfrm>
                <a:off x="1304" y="3124"/>
                <a:ext cx="262" cy="453"/>
              </a:xfrm>
              <a:prstGeom prst="line">
                <a:avLst/>
              </a:prstGeom>
              <a:ln w="508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4" name="流程图: 延期 10253"/>
              <p:cNvSpPr/>
              <p:nvPr/>
            </p:nvSpPr>
            <p:spPr>
              <a:xfrm rot="6540000">
                <a:off x="709" y="3506"/>
                <a:ext cx="341" cy="453"/>
              </a:xfrm>
              <a:prstGeom prst="flowChartDelay">
                <a:avLst/>
              </a:prstGeom>
              <a:solidFill>
                <a:schemeClr val="folHlink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55" name="流程图: 延期 10254"/>
              <p:cNvSpPr/>
              <p:nvPr/>
            </p:nvSpPr>
            <p:spPr>
              <a:xfrm rot="4020000">
                <a:off x="1465" y="3493"/>
                <a:ext cx="341" cy="453"/>
              </a:xfrm>
              <a:prstGeom prst="flowChartDelay">
                <a:avLst/>
              </a:prstGeom>
              <a:solidFill>
                <a:schemeClr val="folHlink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256" name="流程图: 延期 10255"/>
            <p:cNvSpPr/>
            <p:nvPr/>
          </p:nvSpPr>
          <p:spPr>
            <a:xfrm rot="6300000">
              <a:off x="854" y="702"/>
              <a:ext cx="153" cy="150"/>
            </a:xfrm>
            <a:prstGeom prst="flowChartDelay">
              <a:avLst/>
            </a:pr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7" name="椭圆 10256"/>
            <p:cNvSpPr/>
            <p:nvPr/>
          </p:nvSpPr>
          <p:spPr>
            <a:xfrm>
              <a:off x="702" y="347"/>
              <a:ext cx="120" cy="118"/>
            </a:xfrm>
            <a:prstGeom prst="ellipse">
              <a:avLst/>
            </a:pr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8" name="椭圆 10257"/>
            <p:cNvSpPr/>
            <p:nvPr/>
          </p:nvSpPr>
          <p:spPr>
            <a:xfrm>
              <a:off x="1132" y="425"/>
              <a:ext cx="120" cy="117"/>
            </a:xfrm>
            <a:prstGeom prst="ellipse">
              <a:avLst/>
            </a:pr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 vert="horz" wrap="none" anchor="ctr"/>
            <a:p>
              <a:pPr lvl="0" algn="ctr" eaLnBrk="1" latinLnBrk="0" hangingPunct="1"/>
              <a:r>
                <a:rPr lang="en-US" altLang="zh-CN">
                  <a:latin typeface="Arial" charset="0"/>
                  <a:ea typeface="宋体" charset="-122"/>
                  <a:sym typeface="张海山锐线体2.0" charset="-122"/>
                </a:rPr>
                <a:t>·</a:t>
              </a:r>
              <a:endParaRPr lang="en-US" altLang="zh-CN">
                <a:latin typeface="Arial" charset="0"/>
                <a:ea typeface="宋体" charset="-122"/>
                <a:sym typeface="张海山锐线体2.0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3757</Words>
  <Application>WPS 演示</Application>
  <PresentationFormat>全屏显示(4:3)</PresentationFormat>
  <Paragraphs>293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默认设计模板</vt:lpstr>
      <vt:lpstr>自定义设计方案</vt:lpstr>
      <vt:lpstr>默认设计模板_2</vt:lpstr>
      <vt:lpstr>回文树 Palindromic Tree </vt:lpstr>
      <vt:lpstr>回文树的结构</vt:lpstr>
      <vt:lpstr>回文树的结构</vt:lpstr>
      <vt:lpstr>回文树的结构</vt:lpstr>
      <vt:lpstr>回文树的结构</vt:lpstr>
      <vt:lpstr>回文树的结构</vt:lpstr>
      <vt:lpstr>回文树的构造</vt:lpstr>
      <vt:lpstr>回文树的构造</vt:lpstr>
      <vt:lpstr>回文树的结构</vt:lpstr>
      <vt:lpstr>回文树的结构</vt:lpstr>
      <vt:lpstr>回文树的结构</vt:lpstr>
      <vt:lpstr>回文树的结构</vt:lpstr>
      <vt:lpstr>回文树的结构</vt:lpstr>
      <vt:lpstr>回文树的结构</vt:lpstr>
      <vt:lpstr>回文树的结构</vt:lpstr>
      <vt:lpstr>回文树的结构</vt:lpstr>
      <vt:lpstr>回文树的结构</vt:lpstr>
      <vt:lpstr>回文树的结构</vt:lpstr>
      <vt:lpstr>代码实现</vt:lpstr>
      <vt:lpstr>代码实现</vt:lpstr>
      <vt:lpstr>代码实现</vt:lpstr>
      <vt:lpstr>PowerPoint 演示文稿</vt:lpstr>
      <vt:lpstr>来搞道题</vt:lpstr>
      <vt:lpstr>一起来搞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yellownancy</dc:creator>
  <cp:lastModifiedBy>何浪</cp:lastModifiedBy>
  <cp:revision>77</cp:revision>
  <dcterms:created xsi:type="dcterms:W3CDTF">2013-01-25T01:44:00Z</dcterms:created>
  <dcterms:modified xsi:type="dcterms:W3CDTF">2016-07-18T17:19:33Z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